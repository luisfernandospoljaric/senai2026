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34"/>
  </p:notesMasterIdLst>
  <p:sldIdLst>
    <p:sldId id="278" r:id="rId5"/>
    <p:sldId id="1450" r:id="rId6"/>
    <p:sldId id="1351" r:id="rId7"/>
    <p:sldId id="1385" r:id="rId8"/>
    <p:sldId id="1436" r:id="rId9"/>
    <p:sldId id="1459" r:id="rId10"/>
    <p:sldId id="1460" r:id="rId11"/>
    <p:sldId id="1437" r:id="rId12"/>
    <p:sldId id="1439" r:id="rId13"/>
    <p:sldId id="1461" r:id="rId14"/>
    <p:sldId id="1462" r:id="rId15"/>
    <p:sldId id="1463" r:id="rId16"/>
    <p:sldId id="1464" r:id="rId17"/>
    <p:sldId id="1465" r:id="rId18"/>
    <p:sldId id="1466" r:id="rId19"/>
    <p:sldId id="1467" r:id="rId20"/>
    <p:sldId id="1468" r:id="rId21"/>
    <p:sldId id="1469" r:id="rId22"/>
    <p:sldId id="1470" r:id="rId23"/>
    <p:sldId id="1471" r:id="rId24"/>
    <p:sldId id="1472" r:id="rId25"/>
    <p:sldId id="1473" r:id="rId26"/>
    <p:sldId id="1474" r:id="rId27"/>
    <p:sldId id="1475" r:id="rId28"/>
    <p:sldId id="1476" r:id="rId29"/>
    <p:sldId id="1477" r:id="rId30"/>
    <p:sldId id="1478" r:id="rId31"/>
    <p:sldId id="1479" r:id="rId32"/>
    <p:sldId id="1383" r:id="rId33"/>
  </p:sldIdLst>
  <p:sldSz cx="20104100" cy="11309350"/>
  <p:notesSz cx="20104100" cy="1130935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Montserrat ExtraBold" panose="00000900000000000000" pitchFamily="2" charset="0"/>
      <p:bold r:id="rId39"/>
      <p:boldItalic r:id="rId40"/>
    </p:embeddedFont>
    <p:embeddedFont>
      <p:font typeface="Montserrat Light" panose="00000400000000000000" pitchFamily="2" charset="0"/>
      <p:regular r:id="rId41"/>
      <p:italic r:id="rId42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5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2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1.fntdata"/><Relationship Id="rId43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4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05/03/2026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1D07-2765-8329-78B1-2CE0C0DB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6CF7CBC-CC7B-46D4-723C-46AB677248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80D94C-7D8A-6B72-9D38-F287D9449F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BEAD41-C8D8-EE88-589C-DE8E9A20A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7814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4D6CB-DF9D-32ED-30C1-F790FB58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DE47213-B021-1DE3-D88B-6BA231D0D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090A5C-C4EA-7392-4BD3-B5884D170B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56E6BFF-4F39-2AB0-3152-CADD566BD8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6747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3B4677-1320-8BFC-7405-AF003BC30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E279AB-FCDA-0B0A-80D1-8820376A5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CBAF55C-D297-81B5-AD9E-C712C76B8D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12E1DD-73A5-1E4E-A02C-F4C5A72501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3700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DEEB4-AB18-B48B-C963-2A2C89101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C41A92E-0CE6-7CF5-3518-4A4ED7758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AF4FBE5-6992-68BC-D540-FA9F2C597D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69F97A-358A-8FD3-4747-1B85998869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85930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08A0F-3374-6ED7-1F11-3A2CEC738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FB4C956-0911-2C62-C3B3-2E783B064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EE17FD7-CAF9-B3DB-E573-2BFEDA3F47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380DCCD-94FE-57A1-78BA-6ACFF40D30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23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10717-76F2-B7F1-0E22-14A9BD1CF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DDC080-6F2F-8E91-D4A9-0675D03FB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F45AFF4-5589-A2FF-29CD-A90B394B94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95499A8-D0FA-545B-B221-4E1CD73D5B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47542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0B9C-688A-11EA-608D-BB9063D9C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8080CA-BDE8-6B09-0A1A-F966854DD3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5C8DE2-55B0-D85D-3979-D3E0090E2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45AFA30-EB72-CD19-22E5-68E62FA068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1191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0E1A-5E25-B06A-339C-071C7E5E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E3E2A49-E982-F738-D480-123A160C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41A2-C715-8DCC-A3EF-A6960F6A0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8C9A0DB-ECCF-20C6-688B-EC3A4780F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71174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E42BC-32BE-35C6-89C3-3B1DCC1C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135C692-C987-D5FF-179B-FE04A8A86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E298AC9-E168-9607-6077-5CC6F222E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396D8C3-0570-C162-3EEF-2A342A4F8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72344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BC9C-7C72-3142-BD0F-82B376AD0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59D1EF6-848C-2F16-9A2B-2A0388D504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5291018-93D9-0F56-EEF7-713BC29B6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09D5F4-682B-7A96-0AD2-EB76744CC3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31477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79DC1-C3EB-9C2E-D98C-103668021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556DF6-F484-79BA-3C3C-1AF0D5D83A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E67504-C6F8-363E-E01B-A6799503FB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EBA623-0E59-7D10-9587-CCCBC2D08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44516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40D11-4095-A056-9697-8E66D25FF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03DBFC-9118-1E57-E797-316E48F1C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7D62BC0-3BA1-E43D-161A-8376FC826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38CBD0C-7E62-BAA0-2FD2-BA60A8456A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1421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93CAA-A40F-30B9-F0F7-9B52EFC2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D888A2D-9872-0349-F0BF-88C318A74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F93ABA4-7F27-687F-865F-028472338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16508A-32CB-5EC0-EE48-4D9C2D7CAA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85966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49AA-6363-6795-5BB5-2CF4D08B3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C453B48-4685-0CE4-9A26-9D8ED67BC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17DCAE-793D-7B4A-CBB4-CA1829A7A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FB1E957-C2BA-8092-FBC1-D16865BA4E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620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93D15-3C29-244D-FDD0-C519C237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ECA3247-F092-6381-F0FB-D261D1ED4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A8E842A-C717-03BB-5FE9-8F3D94BF04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11F6AEF-B3CE-2F10-1409-92D433B0D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828018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D4063-E487-7AAB-8E0A-1D7DB76C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6BBC6C-0EC8-13C4-0BC2-4877ADA21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C1EFFA5-4F85-8070-AC15-FABB19739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7B42DED-4D84-A315-5BDD-C1F9294144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15302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48BDA-494F-197D-35A1-83B730C3E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DE3191C-8F99-3747-7C64-C94B482AE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325B2BA-F0CA-6056-6B4F-A1B3DAA1A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4780F32-DEB1-28F8-45FE-EFB4D3738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73987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8D40-7234-5F84-6B74-7AAFE3207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FC9DBE3-3C55-627C-C6C8-2CD70520C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90DCA7-C5F8-F94A-0C56-749C5E624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4C48419-E7E9-C4A3-355E-828BA7AED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309964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CA70-8DBB-BCEF-6130-E4A0C0D9B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05A27A8-5FC3-31C1-3101-C9FBD420C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B484B8-F90A-81C3-163A-AD6EDFF395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78C880-8F4B-649D-1C5E-7E24439A3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993555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ED9F-9A5C-0BBD-F06F-B11B51AE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29F0EB0-15B4-2D11-3F38-19132C902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3506B57-2244-DCD9-4422-E8B34D023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F64F26B-72A8-8A84-C63C-5BE004AD35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9732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F2BB5-3052-E05E-BB9C-B71C0CFEF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584EF31-A623-183C-E9F6-05A1C0B838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53762A7-AC9D-A84F-4ADC-034670D55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C65C62E-8850-4E38-DBF0-A897E2053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065167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Técnico em ADM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Marco Civil da Internet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8" name="Picture 4" descr="Audiência pública no STF vai discutir normativas do Marco Civil da Internet">
            <a:extLst>
              <a:ext uri="{FF2B5EF4-FFF2-40B4-BE49-F238E27FC236}">
                <a16:creationId xmlns:a16="http://schemas.microsoft.com/office/drawing/2014/main" id="{1B564D28-AF86-A90E-92B6-16F5FF97A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755" y="3124178"/>
            <a:ext cx="11348955" cy="6383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o Marco Civil da Internet?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</a:t>
            </a:r>
            <a:r>
              <a:rPr lang="pt-BR" sz="4000" b="1" dirty="0"/>
              <a:t>Marco Civil da Internet </a:t>
            </a:r>
            <a:r>
              <a:rPr lang="pt-BR" sz="4000" dirty="0"/>
              <a:t>é uma lei brasileira que </a:t>
            </a:r>
            <a:r>
              <a:rPr lang="pt-BR" sz="4000" b="1" dirty="0"/>
              <a:t>estabelece princípios, garantias, direitos e deveres para o uso da internet no Brasil.</a:t>
            </a:r>
          </a:p>
          <a:p>
            <a:endParaRPr lang="pt-BR" sz="4000" dirty="0"/>
          </a:p>
          <a:p>
            <a:r>
              <a:rPr lang="pt-BR" sz="4000" dirty="0"/>
              <a:t>Ele funciona como uma </a:t>
            </a:r>
            <a:r>
              <a:rPr lang="pt-BR" sz="4000" b="1" dirty="0"/>
              <a:t>“Constituição da Internet” </a:t>
            </a:r>
            <a:r>
              <a:rPr lang="pt-BR" sz="4000" dirty="0"/>
              <a:t>no país, definindo regras para usuários, empresas e governo.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Lei: Lei nº 12.965/2014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Nome popular: </a:t>
            </a:r>
            <a:r>
              <a:rPr lang="pt-BR" sz="4000" b="1" dirty="0"/>
              <a:t>Marco Civil da Internet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Sancionada em: </a:t>
            </a:r>
            <a:r>
              <a:rPr lang="pt-BR" sz="4000" b="1" dirty="0"/>
              <a:t>23 de abril de 2014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Presidente que sancionou: Dilma Rousseff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endParaRPr lang="pt-BR" sz="4000" dirty="0"/>
          </a:p>
          <a:p>
            <a:r>
              <a:rPr lang="pt-BR" sz="4000" dirty="0"/>
              <a:t>Essa lei foi criada para </a:t>
            </a:r>
            <a:r>
              <a:rPr lang="pt-BR" sz="4000" b="1" dirty="0"/>
              <a:t>proteger direitos dos usuários e regular o funcionamento da internet no Brasil.</a:t>
            </a:r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07EE59CE-64CD-A41F-7BE8-31B2B24979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0458" y="1362192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 que é o Marco Civil da Internet?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Antes de 2014, o Brasil </a:t>
            </a:r>
            <a:r>
              <a:rPr lang="pt-BR" sz="4000" b="1" dirty="0"/>
              <a:t>não possuía uma lei específica para internet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Alguns fatores motivaram sua criação:</a:t>
            </a:r>
          </a:p>
          <a:p>
            <a:endParaRPr lang="pt-BR" sz="4000" dirty="0"/>
          </a:p>
          <a:p>
            <a:r>
              <a:rPr lang="pt-BR" sz="4000" b="1" dirty="0"/>
              <a:t>1. Crescimento da internet</a:t>
            </a:r>
          </a:p>
          <a:p>
            <a:r>
              <a:rPr lang="pt-BR" sz="4000" dirty="0"/>
              <a:t>	</a:t>
            </a:r>
          </a:p>
          <a:p>
            <a:r>
              <a:rPr lang="pt-BR" sz="4000" dirty="0"/>
              <a:t>	A internet começou a ser utilizada por milhões de brasileiros sem regras claras.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F6FE8-3914-24FD-A95E-2693A427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5B9F6CC-E024-CF92-C2B6-31049BF083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EAF9493-0484-D0FE-BBFF-2161808EB9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537BBE96-5DA5-2F86-ACD8-39987B5FF42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E0D2F90-815D-DD65-58F9-383D8ED28FD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26F50D4-BC0F-6BDB-208F-36EE3A5730F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5E88F38-C850-7A03-2338-01C3E42ACA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0C0704-CFB4-7C6D-15B9-E187A9DC5C4D}"/>
              </a:ext>
            </a:extLst>
          </p:cNvPr>
          <p:cNvSpPr txBox="1"/>
          <p:nvPr/>
        </p:nvSpPr>
        <p:spPr>
          <a:xfrm>
            <a:off x="1526490" y="3063875"/>
            <a:ext cx="171361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2. Problemas jurídicos:</a:t>
            </a:r>
          </a:p>
          <a:p>
            <a:endParaRPr lang="pt-BR" sz="4000" b="1" dirty="0"/>
          </a:p>
          <a:p>
            <a:r>
              <a:rPr lang="pt-BR" sz="4000" dirty="0"/>
              <a:t>Havia dúvidas sobre: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privacidade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responsabilidade de 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retirada de conteúdo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neutralidade da rede</a:t>
            </a:r>
          </a:p>
          <a:p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29091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30C73-C299-202E-D987-A816D17B1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2E0EB3E-23B5-3E8D-A228-2D044A61704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AC321A5-6154-5DD7-7612-D89C17E0EC7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244EEE4-C719-40E4-D237-4DDC87E9FD2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BCA285F0-C900-91FF-920F-C20F0C289A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3F0578A-C473-2A48-278E-E59098D5FD4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949A307-9F93-036C-D291-12E7456F7D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Contexto histórico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0B90B90-D33A-627C-A834-2D9976F0ACD7}"/>
              </a:ext>
            </a:extLst>
          </p:cNvPr>
          <p:cNvSpPr txBox="1"/>
          <p:nvPr/>
        </p:nvSpPr>
        <p:spPr>
          <a:xfrm>
            <a:off x="1526490" y="3063875"/>
            <a:ext cx="1713615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3. Escândalo de espionagem</a:t>
            </a:r>
          </a:p>
          <a:p>
            <a:endParaRPr lang="pt-BR" sz="4000" dirty="0"/>
          </a:p>
          <a:p>
            <a:r>
              <a:rPr lang="pt-BR" sz="4000" dirty="0"/>
              <a:t>	Em 2013 surgiram denúncias feitas por Edward Snowden mostrando espionagem global realizada pela </a:t>
            </a:r>
            <a:r>
              <a:rPr lang="pt-BR" sz="4000" b="1" dirty="0" err="1"/>
              <a:t>National</a:t>
            </a:r>
            <a:r>
              <a:rPr lang="pt-BR" sz="4000" b="1" dirty="0"/>
              <a:t> Security </a:t>
            </a:r>
            <a:r>
              <a:rPr lang="pt-BR" sz="4000" b="1" dirty="0" err="1"/>
              <a:t>Agency</a:t>
            </a:r>
            <a:r>
              <a:rPr lang="pt-BR" sz="4000" b="1" dirty="0"/>
              <a:t> </a:t>
            </a:r>
            <a:r>
              <a:rPr lang="pt-BR" sz="4000" dirty="0"/>
              <a:t>(NSA), dos Estados Unidos.</a:t>
            </a:r>
          </a:p>
          <a:p>
            <a:endParaRPr lang="pt-BR" sz="4000" dirty="0"/>
          </a:p>
          <a:p>
            <a:r>
              <a:rPr lang="pt-BR" sz="4000" dirty="0"/>
              <a:t>Essas revelações aceleraram a criação de uma legislação de proteção digital.</a:t>
            </a:r>
          </a:p>
        </p:txBody>
      </p:sp>
    </p:spTree>
    <p:extLst>
      <p:ext uri="{BB962C8B-B14F-4D97-AF65-F5344CB8AC3E}">
        <p14:creationId xmlns:p14="http://schemas.microsoft.com/office/powerpoint/2010/main" val="4177743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Objetivos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1904386" y="3061589"/>
            <a:ext cx="15306197" cy="7140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Marco Civil busca:</a:t>
            </a:r>
          </a:p>
          <a:p>
            <a:endParaRPr lang="pt-BR" sz="4000" b="1" dirty="0"/>
          </a:p>
          <a:p>
            <a:r>
              <a:rPr lang="pt-BR" sz="4000" dirty="0"/>
              <a:t> 1. Garantir liberdade de expressão</a:t>
            </a:r>
          </a:p>
          <a:p>
            <a:endParaRPr lang="pt-BR" sz="4000" dirty="0"/>
          </a:p>
          <a:p>
            <a:r>
              <a:rPr lang="pt-BR" sz="4000" dirty="0"/>
              <a:t> 2. Proteger a privacidade do usuário</a:t>
            </a:r>
          </a:p>
          <a:p>
            <a:endParaRPr lang="pt-BR" sz="4000" dirty="0"/>
          </a:p>
          <a:p>
            <a:r>
              <a:rPr lang="pt-BR" sz="4000" dirty="0"/>
              <a:t> 3. Garantir neutralidade da rede</a:t>
            </a:r>
          </a:p>
          <a:p>
            <a:br>
              <a:rPr lang="pt-BR" sz="4000" dirty="0"/>
            </a:br>
            <a:r>
              <a:rPr lang="pt-BR" sz="4000" dirty="0"/>
              <a:t> 4. Estabelecer responsabilidades para empresas</a:t>
            </a:r>
          </a:p>
          <a:p>
            <a:br>
              <a:rPr lang="pt-BR" sz="4000" dirty="0"/>
            </a:br>
            <a:r>
              <a:rPr lang="pt-BR" sz="4000" dirty="0"/>
              <a:t> 5. Definir regras para guarda de dados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441450" y="2824321"/>
            <a:ext cx="1538355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possui princípios fundamentais.</a:t>
            </a:r>
          </a:p>
          <a:p>
            <a:endParaRPr lang="pt-BR" sz="4400" b="1" dirty="0"/>
          </a:p>
          <a:p>
            <a:r>
              <a:rPr lang="pt-BR" sz="4400" b="1" dirty="0"/>
              <a:t>1.Liberdade de expressão</a:t>
            </a:r>
          </a:p>
          <a:p>
            <a:endParaRPr lang="pt-BR" sz="4000" b="1" dirty="0"/>
          </a:p>
          <a:p>
            <a:r>
              <a:rPr lang="pt-BR" sz="4000" dirty="0"/>
              <a:t>A internet deve ser um ambiente de: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 livre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debate público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troca de informações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Isso garante que usuários possam se manifestar online.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A72E-EDB4-826E-3EEE-111A9493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55E04BD-32CD-A071-4355-55123A791EC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D513A1F-D41C-F716-8EFD-57AB1298F2D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E3D1BC6-A993-D492-604B-7D9C8447F79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1EE48071-40FB-62B8-13D0-422265BB16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76A3BB-0501-7249-1FFE-1478C7A59C8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AA2ACF6-3853-C6F7-B2A1-36F0F9986B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C9DCB7C-0F05-28BE-44A5-0E7D38C28383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 Proteção da privacidade</a:t>
            </a:r>
          </a:p>
          <a:p>
            <a:endParaRPr lang="pt-BR" sz="4400" b="1" dirty="0"/>
          </a:p>
          <a:p>
            <a:r>
              <a:rPr lang="pt-BR" sz="4400" dirty="0"/>
              <a:t>As </a:t>
            </a:r>
            <a:r>
              <a:rPr lang="pt-BR" sz="4400" b="1" dirty="0"/>
              <a:t>empresas devem respeitar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dados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comunicações privadas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histórico de navegação</a:t>
            </a:r>
          </a:p>
          <a:p>
            <a:endParaRPr lang="pt-BR" sz="4400" dirty="0"/>
          </a:p>
          <a:p>
            <a:r>
              <a:rPr lang="pt-BR" sz="4400" b="1" dirty="0"/>
              <a:t>Dados só podem ser acessados</a:t>
            </a:r>
            <a:r>
              <a:rPr lang="pt-BR" sz="44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 autorização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 ou por ordem judicial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379244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AB587-CC47-4D5D-D06A-12A05A78D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049DA36-169D-6873-5A21-58D1F77E168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D442199-7190-81BA-A762-6B89E3DF3D4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FAA6D1-3D58-3B05-9288-9D577278F11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A3AEBF0-7FC3-405E-75CE-DE826C7D141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CAFE190-A37B-F509-B772-D56B9192F03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D6F33FC4-92BA-FC57-4F18-6FD5283040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CC5ABD1-CBFF-EFDF-DDAC-69D9D44CC259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3"/>
            </a:pPr>
            <a:r>
              <a:rPr lang="pt-BR" sz="4400" b="1" dirty="0"/>
              <a:t>Proteção dos dados pessoais</a:t>
            </a:r>
          </a:p>
          <a:p>
            <a:endParaRPr lang="pt-BR" sz="4400" b="1" dirty="0"/>
          </a:p>
          <a:p>
            <a:r>
              <a:rPr lang="pt-BR" sz="4400" dirty="0"/>
              <a:t>O Marco Civil abriu caminho para a criação da: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b="1" dirty="0"/>
              <a:t>Lei Geral de Proteção de Dados (LGPD)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400" dirty="0"/>
          </a:p>
          <a:p>
            <a:r>
              <a:rPr lang="pt-BR" sz="4400" dirty="0"/>
              <a:t>Essa lei regula o uso de dados pessoais no Brasil.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543686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45B9C-ECAF-3ED9-BDCC-4A81846EB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C10AB82-A24D-8E74-A9D1-45E039499F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E27A60-440E-5864-677E-3E2CDB964B1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0475C73-2EC9-CE67-71CA-E4F57DFE8A9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267EAA6-86B0-7FC7-F1EA-45D6B30250E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6A79B10-2760-F590-E7AD-998EF990ED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9B1FCBB-8C93-90B7-761C-1B57E0AE36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3BBB17-AD7C-43E2-FFD3-8A397216230A}"/>
              </a:ext>
            </a:extLst>
          </p:cNvPr>
          <p:cNvSpPr txBox="1"/>
          <p:nvPr/>
        </p:nvSpPr>
        <p:spPr>
          <a:xfrm>
            <a:off x="1441450" y="2824321"/>
            <a:ext cx="1538355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 startAt="4"/>
            </a:pPr>
            <a:r>
              <a:rPr lang="pt-BR" sz="4400" b="1" dirty="0"/>
              <a:t>Neutralidade da rede</a:t>
            </a:r>
          </a:p>
          <a:p>
            <a:pPr marL="742950" indent="-742950">
              <a:buAutoNum type="arabicPeriod" startAt="4"/>
            </a:pPr>
            <a:endParaRPr lang="pt-BR" sz="4400" b="1" dirty="0"/>
          </a:p>
          <a:p>
            <a:r>
              <a:rPr lang="pt-BR" sz="4000" dirty="0"/>
              <a:t>O que significa?</a:t>
            </a:r>
          </a:p>
          <a:p>
            <a:endParaRPr lang="pt-BR" sz="4000" dirty="0"/>
          </a:p>
          <a:p>
            <a:r>
              <a:rPr lang="pt-BR" sz="4000" dirty="0"/>
              <a:t>Os provedores de internet </a:t>
            </a:r>
            <a:r>
              <a:rPr lang="pt-BR" sz="4000" b="1" dirty="0"/>
              <a:t>devem tratar todo o tráfego da internet da mesma forma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099242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6CC7-6D39-DDB7-4975-29831AA8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E82785D-0CEE-49E4-A8EE-CE198BA3A5D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B51E58F3-CDC8-679B-B054-E4CA825B5CD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444451B-6EF9-18D5-9304-EE8F8E2FDB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A719031-F1AB-B937-0602-C2FECA61C2DC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36A7DC5-4478-D9AF-2CF3-4AC30054C6D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368166D-9DDE-F4E7-BD92-0F4A847B3F4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Princípios do Marco Civil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C46EA1-A1E0-F084-FB18-6312FFF0CAB4}"/>
              </a:ext>
            </a:extLst>
          </p:cNvPr>
          <p:cNvSpPr txBox="1"/>
          <p:nvPr/>
        </p:nvSpPr>
        <p:spPr>
          <a:xfrm>
            <a:off x="1441450" y="2824321"/>
            <a:ext cx="15383559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Isso significa que a operadora </a:t>
            </a:r>
            <a:r>
              <a:rPr lang="pt-BR" sz="4400" b="1" dirty="0"/>
              <a:t>não pode</a:t>
            </a:r>
            <a:r>
              <a:rPr lang="pt-BR" sz="4400" dirty="0"/>
              <a:t>:</a:t>
            </a:r>
          </a:p>
          <a:p>
            <a:endParaRPr lang="pt-BR" sz="4000" dirty="0"/>
          </a:p>
          <a:p>
            <a:r>
              <a:rPr lang="pt-BR" sz="4000" dirty="0"/>
              <a:t>1. bloquear sites</a:t>
            </a:r>
            <a:br>
              <a:rPr lang="pt-BR" sz="4000" dirty="0"/>
            </a:br>
            <a:r>
              <a:rPr lang="pt-BR" sz="4000" dirty="0"/>
              <a:t>2. diminuir velocidade de certos aplicativos</a:t>
            </a:r>
            <a:br>
              <a:rPr lang="pt-BR" sz="4000" dirty="0"/>
            </a:br>
            <a:r>
              <a:rPr lang="pt-BR" sz="4000" dirty="0"/>
              <a:t>3. priorizar serviços pagos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Uma operadora </a:t>
            </a:r>
            <a:r>
              <a:rPr lang="pt-BR" sz="4000" b="1" dirty="0"/>
              <a:t>não pode deixar o streaming de uma empresa mais rápido que outro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02910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F4F90-7113-78C9-8C27-B5CB6ACD1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A866597-1A86-6104-F50F-462B1753586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FA37C47-FD51-F2FF-71E7-9730060D283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304A8C-5797-D744-A7AD-08D2215A0F3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BC594E5-0305-509D-ED28-FD469C4C344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4DD08B13-1EA5-2C7F-0F32-4524CFD399E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EE059FB-EC02-6DA2-E62A-34EB2ED0E0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8E301F-75D3-153C-2261-E817031040DB}"/>
              </a:ext>
            </a:extLst>
          </p:cNvPr>
          <p:cNvSpPr txBox="1"/>
          <p:nvPr/>
        </p:nvSpPr>
        <p:spPr>
          <a:xfrm>
            <a:off x="1441450" y="2824321"/>
            <a:ext cx="15383559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O Marco Civil garante vários direitos.</a:t>
            </a:r>
          </a:p>
          <a:p>
            <a:endParaRPr lang="pt-BR" sz="4400" b="1" dirty="0"/>
          </a:p>
          <a:p>
            <a:r>
              <a:rPr lang="pt-BR" sz="4400" b="1" dirty="0"/>
              <a:t>1. Privacidade</a:t>
            </a:r>
          </a:p>
          <a:p>
            <a:endParaRPr lang="pt-BR" sz="4400" dirty="0"/>
          </a:p>
          <a:p>
            <a:r>
              <a:rPr lang="pt-BR" sz="4400" dirty="0"/>
              <a:t>Usuários têm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sigilo das comunicações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proteção dos dados pessoais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812747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5386-295D-D676-8D68-86110BCEB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0B72EFD-BFAA-3FCD-59B5-02632E79E87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EFEF5F2-424D-5DE9-D809-7FB36CC4DBF4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8AECA66-8E94-CEF9-1AA9-45EF09EA2E5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C5F16F3-5438-0651-AE82-97988F71F9D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6458057-56D2-1B0C-27CD-EC04D9B4A53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96192E9-8BC6-8F28-5E35-BFEC88CCF3CC}"/>
              </a:ext>
            </a:extLst>
          </p:cNvPr>
          <p:cNvSpPr txBox="1"/>
          <p:nvPr/>
        </p:nvSpPr>
        <p:spPr>
          <a:xfrm>
            <a:off x="1441450" y="2824321"/>
            <a:ext cx="15383559" cy="815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2.	Qualidade da conexão</a:t>
            </a:r>
          </a:p>
          <a:p>
            <a:r>
              <a:rPr lang="pt-BR" sz="4400" dirty="0"/>
              <a:t>O usuário tem direito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conexão estável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qualidade contratada</a:t>
            </a:r>
          </a:p>
          <a:p>
            <a:br>
              <a:rPr lang="pt-BR" sz="4400" dirty="0"/>
            </a:br>
            <a:endParaRPr lang="pt-BR" sz="4400" dirty="0"/>
          </a:p>
          <a:p>
            <a:r>
              <a:rPr lang="pt-BR" sz="4400" b="1" dirty="0"/>
              <a:t>3.	Informações claras</a:t>
            </a:r>
          </a:p>
          <a:p>
            <a:r>
              <a:rPr lang="pt-BR" sz="4400" dirty="0"/>
              <a:t>Empresas devem informar: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os dados são coletados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como são usados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tempo de armazenamento</a:t>
            </a:r>
          </a:p>
          <a:p>
            <a:endParaRPr lang="pt-BR" sz="4000" dirty="0"/>
          </a:p>
        </p:txBody>
      </p:sp>
      <p:sp>
        <p:nvSpPr>
          <p:cNvPr id="9" name="object 15">
            <a:extLst>
              <a:ext uri="{FF2B5EF4-FFF2-40B4-BE49-F238E27FC236}">
                <a16:creationId xmlns:a16="http://schemas.microsoft.com/office/drawing/2014/main" id="{21DED315-60F3-8969-E87C-00F33A769A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413"/>
            <a:ext cx="12411075" cy="769937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Direitos dos usuários</a:t>
            </a:r>
          </a:p>
        </p:txBody>
      </p:sp>
    </p:spTree>
    <p:extLst>
      <p:ext uri="{BB962C8B-B14F-4D97-AF65-F5344CB8AC3E}">
        <p14:creationId xmlns:p14="http://schemas.microsoft.com/office/powerpoint/2010/main" val="4276317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8185D-22DE-F13A-8410-9BEF29EBC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A6DC3B6-6603-F4FA-C608-3004ED89168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7B45F4-6F0F-0DC7-5BFA-7CD3518B07A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52EFE8F-DF17-E205-FEC5-71F190F91E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FA59687-5CBC-B0A3-D471-908FD207B73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86F576D-84AE-264B-5EBF-E60CF7BBE48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70A6EB-FCD1-DB79-3E51-E1E06BC79348}"/>
              </a:ext>
            </a:extLst>
          </p:cNvPr>
          <p:cNvSpPr txBox="1"/>
          <p:nvPr/>
        </p:nvSpPr>
        <p:spPr>
          <a:xfrm>
            <a:off x="1441450" y="2824321"/>
            <a:ext cx="1538355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4.	Exclusão de dados</a:t>
            </a:r>
          </a:p>
          <a:p>
            <a:endParaRPr lang="pt-BR" sz="4400" b="1" dirty="0"/>
          </a:p>
          <a:p>
            <a:r>
              <a:rPr lang="pt-BR" sz="4400" dirty="0"/>
              <a:t>O usuário pode solicitar:</a:t>
            </a:r>
          </a:p>
          <a:p>
            <a:endParaRPr lang="pt-BR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remoção de informações pessoais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exclusão de dados após cancelamento do serviço</a:t>
            </a:r>
          </a:p>
          <a:p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E7203A7D-A04E-F49C-EAF4-20C0F5BDCA7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>
                <a:latin typeface="Montserrat ExtraBold"/>
                <a:cs typeface="Montserrat ExtraBold"/>
              </a:rPr>
              <a:t>Direitos dos usuários</a:t>
            </a:r>
            <a:endParaRPr lang="pt-BR" sz="4950" b="1" kern="0" spc="-15" dirty="0">
              <a:latin typeface="Montserrat ExtraBold"/>
              <a:cs typeface="Montserrat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32108165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B85CE-7334-A4F6-2827-A464B3C8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BE8F7B1E-5B20-C7FD-044A-38954A0519B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3100B8E-C747-1AB8-2C3C-1D707F3D5AD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A7178C3-5134-BAF4-A2B5-77E3BCD3638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390C87E-074C-8850-FFFC-3843B6A4A32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FD15BFB-04D2-244F-F22D-6AECF030A2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DBA666F-C272-AC0F-9CAD-2E3754B39B41}"/>
              </a:ext>
            </a:extLst>
          </p:cNvPr>
          <p:cNvSpPr txBox="1"/>
          <p:nvPr/>
        </p:nvSpPr>
        <p:spPr>
          <a:xfrm>
            <a:off x="1441450" y="2824321"/>
            <a:ext cx="153835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/>
              <a:t>Empresas que fornecem internet devem:</a:t>
            </a:r>
          </a:p>
          <a:p>
            <a:endParaRPr lang="pt-BR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manter registros de conexão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garantir segurança dos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cumprir decisões judiciais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respeitar neutralidade da rede</a:t>
            </a:r>
            <a:endParaRPr lang="pt-BR" sz="4000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A339CDC-E918-BDAA-5779-A84B30402A28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Deveres dos provedores de internet</a:t>
            </a:r>
          </a:p>
        </p:txBody>
      </p:sp>
    </p:spTree>
    <p:extLst>
      <p:ext uri="{BB962C8B-B14F-4D97-AF65-F5344CB8AC3E}">
        <p14:creationId xmlns:p14="http://schemas.microsoft.com/office/powerpoint/2010/main" val="41956401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BCD9-756D-CE97-836E-4CB8F13DE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08F0A05-4AE6-5A77-AE41-0E9067AB42F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EFB0D2E-992A-3A4B-72CA-CA6553923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5A5DE1-B2F1-B83A-0B8A-F5C8F33C8B8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619CDA1-391D-B6F4-7961-2ADE3BFEF517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499E226-76DB-FC39-FAF5-5F857B84747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D1411498-C1D9-735B-FF83-7AE5CB5F7660}"/>
              </a:ext>
            </a:extLst>
          </p:cNvPr>
          <p:cNvSpPr txBox="1"/>
          <p:nvPr/>
        </p:nvSpPr>
        <p:spPr>
          <a:xfrm>
            <a:off x="1441450" y="2824321"/>
            <a:ext cx="15383559" cy="7540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/>
              <a:t>A lei define dois tipos de registros.</a:t>
            </a:r>
          </a:p>
          <a:p>
            <a:endParaRPr lang="pt-BR" sz="4400" b="1" dirty="0"/>
          </a:p>
          <a:p>
            <a:r>
              <a:rPr lang="pt-BR" sz="4400" b="1" dirty="0"/>
              <a:t>Registro de conexão</a:t>
            </a:r>
          </a:p>
          <a:p>
            <a:r>
              <a:rPr lang="pt-BR" sz="4400" dirty="0"/>
              <a:t>São informações sobre: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IP utilizado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data e hora da conexão</a:t>
            </a:r>
          </a:p>
          <a:p>
            <a:endParaRPr lang="pt-BR" sz="4400" dirty="0"/>
          </a:p>
          <a:p>
            <a:r>
              <a:rPr lang="pt-BR" sz="4400" b="1" dirty="0"/>
              <a:t>Quem guarda: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provedores de internet</a:t>
            </a:r>
          </a:p>
          <a:p>
            <a:endParaRPr lang="pt-BR" sz="4400" dirty="0"/>
          </a:p>
          <a:p>
            <a:r>
              <a:rPr lang="pt-BR" sz="4400" dirty="0"/>
              <a:t>Tempo de armazenamento: </a:t>
            </a:r>
            <a:r>
              <a:rPr lang="pt-BR" sz="4400" b="1" dirty="0"/>
              <a:t>1 ANO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9F8CD599-E7BD-D5C7-A08E-C8268B4F286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3664547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7769-3042-C33F-9449-BFA6EEFC5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2AFBF5A-EC16-E582-0ABB-7683589160E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A3B9AA8-391C-A0E2-00D5-D1064F66717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D565D9C7-5C2B-8C9D-1C07-4F095274C7CC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21527A9-5BDC-67A9-681D-A88703DD112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97607A5-4092-B528-366D-0E0AEF2D3FA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B46BE62-370D-DB5D-47FF-59F0B7286F76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Registro de acesso a aplicações</a:t>
            </a:r>
          </a:p>
          <a:p>
            <a:r>
              <a:rPr lang="pt-BR" sz="4000" dirty="0"/>
              <a:t>São registros de acesso a: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Instagram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Facebook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YouTube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Quem guarda:</a:t>
            </a:r>
          </a:p>
          <a:p>
            <a:r>
              <a:rPr lang="pt-BR" sz="4000" dirty="0"/>
              <a:t>provedores de aplicações, tempo de armazenamento: </a:t>
            </a:r>
            <a:r>
              <a:rPr lang="pt-BR" sz="4000" b="1" dirty="0"/>
              <a:t>6 MESES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1277B25B-222D-01EC-A227-FA88660B80DE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Registros de conexão e acesso</a:t>
            </a:r>
          </a:p>
        </p:txBody>
      </p:sp>
    </p:spTree>
    <p:extLst>
      <p:ext uri="{BB962C8B-B14F-4D97-AF65-F5344CB8AC3E}">
        <p14:creationId xmlns:p14="http://schemas.microsoft.com/office/powerpoint/2010/main" val="737549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B5C16-795B-30DA-20BF-4D6C5604C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9A6669FB-F2BA-95F6-AA5D-9CA93DEFAC4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C5E5624-5967-07BD-58E1-9B56E6E13FF8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277334E-4D9B-0CF0-4D9B-6449C0F2E0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FEA4EA4-6BEC-C9AB-3224-51491716D23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8BDEA8F-8FC3-B7D0-F76D-C125C60E738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611AFF2-ECC5-14B9-0DA0-0795CCAEC126}"/>
              </a:ext>
            </a:extLst>
          </p:cNvPr>
          <p:cNvSpPr txBox="1"/>
          <p:nvPr/>
        </p:nvSpPr>
        <p:spPr>
          <a:xfrm>
            <a:off x="1441450" y="2824321"/>
            <a:ext cx="15383559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Antes do Marco Civil havia dúvidas sobre </a:t>
            </a:r>
            <a:r>
              <a:rPr lang="pt-BR" sz="4000" b="1" dirty="0"/>
              <a:t>quem era responsável por conteúdos publicados.</a:t>
            </a:r>
          </a:p>
          <a:p>
            <a:endParaRPr lang="pt-BR" sz="4000" dirty="0"/>
          </a:p>
          <a:p>
            <a:r>
              <a:rPr lang="pt-BR" sz="4000" dirty="0"/>
              <a:t>A lei define: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plataformas </a:t>
            </a:r>
            <a:r>
              <a:rPr lang="pt-BR" sz="4000" b="1" dirty="0"/>
              <a:t>não são responsáveis automaticamente </a:t>
            </a:r>
            <a:r>
              <a:rPr lang="pt-BR" sz="4000" dirty="0"/>
              <a:t>pelo conteúdo dos usuários.</a:t>
            </a:r>
          </a:p>
          <a:p>
            <a:endParaRPr lang="pt-BR" sz="4000" dirty="0"/>
          </a:p>
          <a:p>
            <a:r>
              <a:rPr lang="pt-BR" sz="4000" dirty="0"/>
              <a:t>Elas só são obrigadas a remover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houver </a:t>
            </a:r>
            <a:r>
              <a:rPr lang="pt-BR" sz="4000" b="1" dirty="0"/>
              <a:t>ordem judicial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3F4EFE53-8F04-C735-13E0-A495A8DE6990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2555430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121BE-F5B4-74B6-96E4-3042875B5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84F0785C-751D-B0F8-6567-8E0CDCF106DB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BAB8436-2A88-57EA-E804-38630662B9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4A16EBC-6BB5-9E51-BD49-A02CA3C1486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983AAC6-ACAE-1485-28FE-FB03459EC46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72CFF79-30E3-98CB-B4C2-A9186DF86B9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49321CD-E58A-C2DB-554F-2055D3E0101A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Exemplo:</a:t>
            </a:r>
          </a:p>
          <a:p>
            <a:endParaRPr lang="pt-BR" sz="4000" dirty="0"/>
          </a:p>
          <a:p>
            <a:r>
              <a:rPr lang="pt-BR" sz="4000" dirty="0"/>
              <a:t>	Se alguém publica algo ilegal em uma rede social, a plataforma só precisa remover o conteúdo quando: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um juiz determinar.</a:t>
            </a:r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47BA3DE-DBD0-92D9-0B59-310A047BCEA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233094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C7D5A-C65B-5BE4-1BE3-722FB78F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673F38B-49ED-4079-4866-C68A54AE02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5171133-9D84-94A9-6C0F-6551D973ED4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30419967-6B2F-F8A8-DC00-791CF8AD8548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9ECF9F9F-F4AF-2911-84C2-573C95CD39D1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421C094-00A7-777C-497F-B0BFD765A68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F1A56AE-10FC-D803-166F-21F2A8E8A3BE}"/>
              </a:ext>
            </a:extLst>
          </p:cNvPr>
          <p:cNvSpPr txBox="1"/>
          <p:nvPr/>
        </p:nvSpPr>
        <p:spPr>
          <a:xfrm>
            <a:off x="1441450" y="2824321"/>
            <a:ext cx="153835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Exceção: conteúdo íntimo</a:t>
            </a:r>
          </a:p>
          <a:p>
            <a:endParaRPr lang="pt-BR" sz="4000" dirty="0"/>
          </a:p>
          <a:p>
            <a:r>
              <a:rPr lang="pt-BR" sz="4000" dirty="0"/>
              <a:t>Existe uma exceção importante.</a:t>
            </a:r>
          </a:p>
          <a:p>
            <a:endParaRPr lang="pt-BR" sz="4000" dirty="0"/>
          </a:p>
          <a:p>
            <a:r>
              <a:rPr lang="pt-BR" sz="4000" dirty="0"/>
              <a:t>Quando ocorre divulgação de: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fotos íntimas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vídeos íntimos</a:t>
            </a:r>
          </a:p>
          <a:p>
            <a:endParaRPr lang="pt-BR" sz="4000" dirty="0"/>
          </a:p>
          <a:p>
            <a:r>
              <a:rPr lang="pt-BR" sz="4000" dirty="0"/>
              <a:t>A plataforma </a:t>
            </a:r>
            <a:r>
              <a:rPr lang="pt-BR" sz="4000" b="1" dirty="0"/>
              <a:t>deve remover mesmo sem ordem judicial</a:t>
            </a:r>
            <a:r>
              <a:rPr lang="pt-BR" sz="4000" dirty="0"/>
              <a:t>, se a vítima solicitar.</a:t>
            </a:r>
          </a:p>
          <a:p>
            <a:endParaRPr lang="pt-BR" sz="4000" dirty="0"/>
          </a:p>
          <a:p>
            <a:r>
              <a:rPr lang="pt-BR" sz="4000" dirty="0"/>
              <a:t>Isso combate o chamado:</a:t>
            </a:r>
          </a:p>
          <a:p>
            <a:r>
              <a:rPr lang="pt-BR" sz="4000" b="1" dirty="0"/>
              <a:t>Exposição de vingança.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77213E0D-E40B-67BF-4D37-C514137C5325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Responsabilidade de sites e redes sociais</a:t>
            </a:r>
          </a:p>
        </p:txBody>
      </p:sp>
    </p:spTree>
    <p:extLst>
      <p:ext uri="{BB962C8B-B14F-4D97-AF65-F5344CB8AC3E}">
        <p14:creationId xmlns:p14="http://schemas.microsoft.com/office/powerpoint/2010/main" val="1916873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8E6A8-97AD-1E37-7130-733732088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2F85AF46-5160-F03C-EEC7-3BAFF7E79E0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4BBE374-EBD2-DF45-BE85-57033E3BEE8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D388164-00B0-071E-5475-BCF3DB421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8DC75E3-4454-88AF-85BC-CDABB3E0934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4FDF2D8-5D7D-2C3B-C68F-10CC2774858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8E3241-D519-F121-7ED0-5DF5AA1B2D05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é considerado uma das legislações </a:t>
            </a:r>
            <a:r>
              <a:rPr lang="pt-BR" sz="4000" b="1" dirty="0"/>
              <a:t>mais avançadas do mundo sobre internet</a:t>
            </a:r>
            <a:r>
              <a:rPr lang="pt-BR" sz="4000" dirty="0"/>
              <a:t>.</a:t>
            </a:r>
          </a:p>
          <a:p>
            <a:endParaRPr lang="pt-BR" sz="4000" b="1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direitos digitais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proteção ao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regras para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governança da internet</a:t>
            </a:r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5EFC1A32-8833-52E3-7B75-CD43A3E32384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29056693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32CA9-F3BD-A27D-CA9E-9C9A2E382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976F92B-268E-0383-37B2-C0124B9317D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DF14CA7-E194-9E69-BC77-2A4F7536D05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EB68C84-02AB-D3EB-18D1-40A117612E81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39E1733-091E-F444-1795-9757A19F20F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8DC91CA3-30E5-1ABC-67A7-DD5A03A9BED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90FF9A1-CC8D-5275-175B-4B08498AF5C6}"/>
              </a:ext>
            </a:extLst>
          </p:cNvPr>
          <p:cNvSpPr txBox="1"/>
          <p:nvPr/>
        </p:nvSpPr>
        <p:spPr>
          <a:xfrm>
            <a:off x="1441450" y="2824321"/>
            <a:ext cx="15383559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se conecta com outras legislações importantes.</a:t>
            </a:r>
          </a:p>
          <a:p>
            <a:endParaRPr lang="pt-BR" sz="4000" b="1" dirty="0"/>
          </a:p>
          <a:p>
            <a:r>
              <a:rPr lang="pt-BR" sz="4000" b="1" dirty="0"/>
              <a:t>Lei Carolina Dieckmann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nº 12.737/2012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Define crimes informáticos como invasão de dispositivos e violação de mecanismo de segurança.</a:t>
            </a:r>
          </a:p>
          <a:p>
            <a:endParaRPr lang="pt-BR" sz="4000" dirty="0"/>
          </a:p>
          <a:p>
            <a:r>
              <a:rPr lang="pt-BR" sz="4000" b="1" dirty="0"/>
              <a:t>LGPD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Lei Geral de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dirty="0"/>
              <a:t>Regula coleta e tratamento de dados pessoais.</a:t>
            </a:r>
          </a:p>
          <a:p>
            <a:endParaRPr lang="pt-BR" sz="4000" dirty="0"/>
          </a:p>
          <a:p>
            <a:endParaRPr lang="pt-BR" sz="40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4299D8D-A63E-B79C-F940-D5C53DA069B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Importância do Marco Civil</a:t>
            </a:r>
          </a:p>
        </p:txBody>
      </p:sp>
    </p:spTree>
    <p:extLst>
      <p:ext uri="{BB962C8B-B14F-4D97-AF65-F5344CB8AC3E}">
        <p14:creationId xmlns:p14="http://schemas.microsoft.com/office/powerpoint/2010/main" val="39614110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5F3F-E1E3-5D16-5D6E-5CC9605F8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3ADE79-F050-021A-8B14-763CD2C090B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D0BBE78-9405-93AC-0146-17D920908E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7A93BC5-46D4-CFB9-C169-F4A21E62EA2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1B8979A-ADDF-0A43-13C2-0EA3D0710B9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AFEABA7E-BFBA-E6F4-9797-C90342AEFBE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BBDE9B0-3E27-514A-0F03-37FF0F99FF69}"/>
              </a:ext>
            </a:extLst>
          </p:cNvPr>
          <p:cNvSpPr txBox="1"/>
          <p:nvPr/>
        </p:nvSpPr>
        <p:spPr>
          <a:xfrm>
            <a:off x="1441450" y="2824321"/>
            <a:ext cx="15383559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Exemplo 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Uma operadora bloqueia acesso ao WhatsApp.</a:t>
            </a:r>
          </a:p>
          <a:p>
            <a:endParaRPr lang="pt-BR" sz="3600" dirty="0"/>
          </a:p>
          <a:p>
            <a:r>
              <a:rPr lang="pt-BR" sz="3600" dirty="0"/>
              <a:t> </a:t>
            </a:r>
            <a:r>
              <a:rPr lang="pt-BR" sz="3600" dirty="0">
                <a:solidFill>
                  <a:srgbClr val="FF0000"/>
                </a:solidFill>
              </a:rPr>
              <a:t>Isso viola o princípio da neutralidade da rede.</a:t>
            </a:r>
          </a:p>
          <a:p>
            <a:endParaRPr lang="pt-BR" sz="3600" b="1" dirty="0"/>
          </a:p>
          <a:p>
            <a:r>
              <a:rPr lang="pt-BR" sz="3600" b="1" dirty="0"/>
              <a:t>Exemplo 2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site publica dados pessoais sem autorização.</a:t>
            </a:r>
          </a:p>
          <a:p>
            <a:endParaRPr lang="pt-BR" sz="3600" dirty="0"/>
          </a:p>
          <a:p>
            <a:r>
              <a:rPr lang="pt-BR" sz="3600" dirty="0">
                <a:solidFill>
                  <a:srgbClr val="FF0000"/>
                </a:solidFill>
              </a:rPr>
              <a:t>Viola o direito à privacidade.</a:t>
            </a:r>
          </a:p>
          <a:p>
            <a:endParaRPr lang="pt-BR" sz="3600" dirty="0"/>
          </a:p>
          <a:p>
            <a:r>
              <a:rPr lang="pt-BR" sz="3600" b="1" dirty="0"/>
              <a:t>Exemplo 3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600" dirty="0"/>
              <a:t>Um juiz pede identificação de um usuário.</a:t>
            </a:r>
          </a:p>
          <a:p>
            <a:endParaRPr lang="pt-BR" sz="3600" dirty="0">
              <a:solidFill>
                <a:srgbClr val="FF0000"/>
              </a:solidFill>
            </a:endParaRPr>
          </a:p>
          <a:p>
            <a:r>
              <a:rPr lang="pt-BR" sz="3600" dirty="0">
                <a:solidFill>
                  <a:srgbClr val="FF0000"/>
                </a:solidFill>
              </a:rPr>
              <a:t>O provedor pode fornecer registro de IP.</a:t>
            </a:r>
          </a:p>
          <a:p>
            <a:endParaRPr lang="pt-BR" sz="3600" b="1" dirty="0"/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981B9E1-71FB-9D12-5D9D-75EAFAC130D2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Exemplos práticos:</a:t>
            </a:r>
          </a:p>
        </p:txBody>
      </p:sp>
    </p:spTree>
    <p:extLst>
      <p:ext uri="{BB962C8B-B14F-4D97-AF65-F5344CB8AC3E}">
        <p14:creationId xmlns:p14="http://schemas.microsoft.com/office/powerpoint/2010/main" val="435027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879C9-A5C3-D4CD-54C6-428503531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5DA42-6083-9ED3-F7BF-85BAD73587E2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C8329B-166D-0E8B-CAD9-9C9676CFEB1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1202032C-6803-FA95-15D6-F3709D2E7B7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FF6C3985-9F70-6A97-DB5F-CFEB37DA5F9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563C01E-7326-5FF7-4424-39F01040FD0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26042AB-51A0-4A52-0C60-E432FA741559}"/>
              </a:ext>
            </a:extLst>
          </p:cNvPr>
          <p:cNvSpPr txBox="1"/>
          <p:nvPr/>
        </p:nvSpPr>
        <p:spPr>
          <a:xfrm>
            <a:off x="1441450" y="2824321"/>
            <a:ext cx="15383559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Apesar de avançado, existem críticas.</a:t>
            </a:r>
          </a:p>
          <a:p>
            <a:endParaRPr lang="pt-BR" sz="4000" b="1" dirty="0"/>
          </a:p>
          <a:p>
            <a:r>
              <a:rPr lang="pt-BR" sz="4000" b="1" dirty="0"/>
              <a:t>Demora em remoções</a:t>
            </a:r>
          </a:p>
          <a:p>
            <a:endParaRPr lang="pt-BR" sz="4000" b="1" dirty="0"/>
          </a:p>
          <a:p>
            <a:r>
              <a:rPr lang="pt-BR" sz="4000" dirty="0"/>
              <a:t>	Como depende de ordem judicial, conteúdos ilegais podem permanecer online por mais tempo.</a:t>
            </a:r>
          </a:p>
          <a:p>
            <a:endParaRPr lang="pt-BR" sz="4000" b="1" dirty="0"/>
          </a:p>
          <a:p>
            <a:r>
              <a:rPr lang="pt-BR" sz="4000" b="1" dirty="0"/>
              <a:t>Dificuldade em identificar usuários</a:t>
            </a:r>
          </a:p>
          <a:p>
            <a:endParaRPr lang="pt-BR" sz="4000" b="1" dirty="0"/>
          </a:p>
          <a:p>
            <a:r>
              <a:rPr lang="pt-BR" sz="4000" dirty="0"/>
              <a:t>	Alguns crimes virtuais são difíceis de rastrear</a:t>
            </a:r>
            <a:r>
              <a:rPr lang="pt-BR" sz="4000" b="1" dirty="0"/>
              <a:t>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0E7BCB61-6607-5647-0FC9-B0469F9191C6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Críticas ao Marco Civil</a:t>
            </a:r>
          </a:p>
        </p:txBody>
      </p:sp>
    </p:spTree>
    <p:extLst>
      <p:ext uri="{BB962C8B-B14F-4D97-AF65-F5344CB8AC3E}">
        <p14:creationId xmlns:p14="http://schemas.microsoft.com/office/powerpoint/2010/main" val="32610445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6393C-B0BB-B15D-352E-74BD04037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DAAFD1E-16A2-F748-D2B7-79AA1D42156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7DA5119-9771-8C70-2C52-33C27997E6E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4DAF9F1-CE1A-6E07-E753-AB4ED5CFD58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E04542A-81E2-8711-F08B-82EF6CEE81A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B1AE6C7-5EE2-E10B-6F64-9F8F933F503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E280585-85AC-C65A-976F-98E7FDC042A9}"/>
              </a:ext>
            </a:extLst>
          </p:cNvPr>
          <p:cNvSpPr txBox="1"/>
          <p:nvPr/>
        </p:nvSpPr>
        <p:spPr>
          <a:xfrm>
            <a:off x="1441450" y="2824321"/>
            <a:ext cx="153835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possui </a:t>
            </a:r>
            <a:r>
              <a:rPr lang="pt-BR" sz="4000" b="1" dirty="0"/>
              <a:t>32 artigos</a:t>
            </a:r>
            <a:r>
              <a:rPr lang="pt-BR" sz="4000" dirty="0"/>
              <a:t>, divididos em: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Disposições preliminares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Direitos e garantias dos usuários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Provisão de conexão e aplicações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 Atuação do poder público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2712E713-E585-9E78-831C-21A8833318E3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Estrutura da Lei</a:t>
            </a:r>
          </a:p>
        </p:txBody>
      </p:sp>
    </p:spTree>
    <p:extLst>
      <p:ext uri="{BB962C8B-B14F-4D97-AF65-F5344CB8AC3E}">
        <p14:creationId xmlns:p14="http://schemas.microsoft.com/office/powerpoint/2010/main" val="2836960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E78F0-38FB-7231-E22A-4373EFD98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1BF7B5A-5E19-7D74-94B8-C9CCACCA7AE9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C45BE43-FA50-3622-C74B-E5D90D2CD2C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11FF65D-79C6-88CD-AA40-FF0EEA394FA9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82F9FEC-E822-F59B-0761-6589BA002A8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F87F5B4-AE3C-4AE5-5400-B257B0DE6A0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83E01D9-6DE6-C70D-5C4C-B875D3360A1B}"/>
              </a:ext>
            </a:extLst>
          </p:cNvPr>
          <p:cNvSpPr txBox="1"/>
          <p:nvPr/>
        </p:nvSpPr>
        <p:spPr>
          <a:xfrm>
            <a:off x="1441450" y="2824321"/>
            <a:ext cx="1538355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Marco Civil da Internet representa um </a:t>
            </a:r>
            <a:r>
              <a:rPr lang="pt-BR" sz="4000" b="1" dirty="0"/>
              <a:t>marco jurídico importante para a internet no Brasil.</a:t>
            </a:r>
          </a:p>
          <a:p>
            <a:endParaRPr lang="pt-BR" sz="4000" dirty="0"/>
          </a:p>
          <a:p>
            <a:r>
              <a:rPr lang="pt-BR" sz="4000" dirty="0"/>
              <a:t>Ele garante:</a:t>
            </a:r>
          </a:p>
          <a:p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liberdade digital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proteção de dados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neutralidade da rede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 responsabilidade equilibrada entre usuários e empresas</a:t>
            </a:r>
          </a:p>
          <a:p>
            <a:endParaRPr lang="pt-BR" sz="4000" dirty="0"/>
          </a:p>
          <a:p>
            <a:r>
              <a:rPr lang="pt-BR" sz="4000" dirty="0"/>
              <a:t>Com ele, a internet brasileira passou a ter </a:t>
            </a:r>
            <a:r>
              <a:rPr lang="pt-BR" sz="4000" b="1" dirty="0"/>
              <a:t>regras claras de funcionamento.</a:t>
            </a:r>
          </a:p>
        </p:txBody>
      </p:sp>
      <p:sp>
        <p:nvSpPr>
          <p:cNvPr id="13" name="object 15">
            <a:extLst>
              <a:ext uri="{FF2B5EF4-FFF2-40B4-BE49-F238E27FC236}">
                <a16:creationId xmlns:a16="http://schemas.microsoft.com/office/drawing/2014/main" id="{C6029FE2-C1AE-9FD5-40FC-65751F39542A}"/>
              </a:ext>
            </a:extLst>
          </p:cNvPr>
          <p:cNvSpPr txBox="1">
            <a:spLocks/>
          </p:cNvSpPr>
          <p:nvPr/>
        </p:nvSpPr>
        <p:spPr>
          <a:xfrm>
            <a:off x="1441450" y="1395795"/>
            <a:ext cx="1392249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32283010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4396</TotalTime>
  <Words>5874</Words>
  <Application>Microsoft Office PowerPoint</Application>
  <PresentationFormat>Personalizar</PresentationFormat>
  <Paragraphs>369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5" baseType="lpstr">
      <vt:lpstr>Montserrat ExtraBold</vt:lpstr>
      <vt:lpstr>Calibri</vt:lpstr>
      <vt:lpstr>Arial</vt:lpstr>
      <vt:lpstr>Montserrat</vt:lpstr>
      <vt:lpstr>Montserrat Light</vt:lpstr>
      <vt:lpstr>Office Theme</vt:lpstr>
      <vt:lpstr>Apresentação do PowerPoint</vt:lpstr>
      <vt:lpstr>Marco Civil da Internet </vt:lpstr>
      <vt:lpstr>O que é o Marco Civil da Internet?</vt:lpstr>
      <vt:lpstr>O que é o Marco Civil da Internet?</vt:lpstr>
      <vt:lpstr>Contexto histórico</vt:lpstr>
      <vt:lpstr>Contexto histórico</vt:lpstr>
      <vt:lpstr>Contexto histórico</vt:lpstr>
      <vt:lpstr>Objetivos do Marco Civil</vt:lpstr>
      <vt:lpstr>Princípios do Marco Civil</vt:lpstr>
      <vt:lpstr>Princípios do Marco Civil</vt:lpstr>
      <vt:lpstr>Princípios do Marco Civil</vt:lpstr>
      <vt:lpstr>Princípios do Marco Civil</vt:lpstr>
      <vt:lpstr>Princípios do Marco Civil</vt:lpstr>
      <vt:lpstr>Direitos dos usuários</vt:lpstr>
      <vt:lpstr>Direitos dos usuários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544</cp:revision>
  <cp:lastPrinted>2025-02-13T13:17:19Z</cp:lastPrinted>
  <dcterms:created xsi:type="dcterms:W3CDTF">2021-08-24T16:20:14Z</dcterms:created>
  <dcterms:modified xsi:type="dcterms:W3CDTF">2026-03-05T12:29:05Z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