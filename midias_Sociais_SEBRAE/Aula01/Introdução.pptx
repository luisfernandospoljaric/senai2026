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7" r:id="rId4"/>
  </p:sldMasterIdLst>
  <p:notesMasterIdLst>
    <p:notesMasterId r:id="rId35"/>
  </p:notesMasterIdLst>
  <p:sldIdLst>
    <p:sldId id="278" r:id="rId5"/>
    <p:sldId id="1450" r:id="rId6"/>
    <p:sldId id="1351" r:id="rId7"/>
    <p:sldId id="1385" r:id="rId8"/>
    <p:sldId id="1480" r:id="rId9"/>
    <p:sldId id="1436" r:id="rId10"/>
    <p:sldId id="1459" r:id="rId11"/>
    <p:sldId id="1460" r:id="rId12"/>
    <p:sldId id="1437" r:id="rId13"/>
    <p:sldId id="1439" r:id="rId14"/>
    <p:sldId id="1461" r:id="rId15"/>
    <p:sldId id="1462" r:id="rId16"/>
    <p:sldId id="1463" r:id="rId17"/>
    <p:sldId id="1464" r:id="rId18"/>
    <p:sldId id="1465" r:id="rId19"/>
    <p:sldId id="1466" r:id="rId20"/>
    <p:sldId id="1467" r:id="rId21"/>
    <p:sldId id="1468" r:id="rId22"/>
    <p:sldId id="1469" r:id="rId23"/>
    <p:sldId id="1470" r:id="rId24"/>
    <p:sldId id="1471" r:id="rId25"/>
    <p:sldId id="1472" r:id="rId26"/>
    <p:sldId id="1473" r:id="rId27"/>
    <p:sldId id="1474" r:id="rId28"/>
    <p:sldId id="1475" r:id="rId29"/>
    <p:sldId id="1476" r:id="rId30"/>
    <p:sldId id="1477" r:id="rId31"/>
    <p:sldId id="1478" r:id="rId32"/>
    <p:sldId id="1479" r:id="rId33"/>
    <p:sldId id="1383" r:id="rId34"/>
  </p:sldIdLst>
  <p:sldSz cx="20104100" cy="11309350"/>
  <p:notesSz cx="20104100" cy="11309350"/>
  <p:embeddedFontLst>
    <p:embeddedFont>
      <p:font typeface="Montserrat" panose="00000500000000000000" pitchFamily="2" charset="0"/>
      <p:regular r:id="rId36"/>
      <p:bold r:id="rId37"/>
      <p:italic r:id="rId38"/>
      <p:boldItalic r:id="rId39"/>
    </p:embeddedFont>
    <p:embeddedFont>
      <p:font typeface="Montserrat ExtraBold" panose="00000900000000000000" pitchFamily="2" charset="0"/>
      <p:bold r:id="rId40"/>
      <p:boldItalic r:id="rId41"/>
    </p:embeddedFont>
    <p:embeddedFont>
      <p:font typeface="Montserrat Light" panose="00000400000000000000" pitchFamily="2" charset="0"/>
      <p:regular r:id="rId42"/>
      <p:italic r:id="rId4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verton Fernando Souza Ribeiro" initials="WFSR [2]" lastIdx="5" clrIdx="0">
    <p:extLst>
      <p:ext uri="{19B8F6BF-5375-455C-9EA6-DF929625EA0E}">
        <p15:presenceInfo xmlns:p15="http://schemas.microsoft.com/office/powerpoint/2012/main" userId="S::weverton.ribeiro@sp.senai.br::98c758d7-d0b8-461f-a4ce-ab5e52e2556b" providerId="AD"/>
      </p:ext>
    </p:extLst>
  </p:cmAuthor>
  <p:cmAuthor id="2" name="Weverton Fernando Souza Ribeiro" initials="WFSR" lastIdx="21" clrIdx="1">
    <p:extLst>
      <p:ext uri="{19B8F6BF-5375-455C-9EA6-DF929625EA0E}">
        <p15:presenceInfo xmlns:p15="http://schemas.microsoft.com/office/powerpoint/2012/main" userId="S-1-5-21-3467313907-1213806960-2174068774-2498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94" autoAdjust="0"/>
  </p:normalViewPr>
  <p:slideViewPr>
    <p:cSldViewPr>
      <p:cViewPr varScale="1">
        <p:scale>
          <a:sx n="38" d="100"/>
          <a:sy n="38" d="100"/>
        </p:scale>
        <p:origin x="80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7.fntdata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11300-05A8-42F5-84F5-2A0388843EF7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25586-B76B-45BD-812B-997E365A37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26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Agradecimentos paroquiais:</a:t>
            </a:r>
          </a:p>
          <a:p>
            <a:pPr marL="171450" indent="-171450">
              <a:buFontTx/>
              <a:buChar char="-"/>
            </a:pPr>
            <a:r>
              <a:rPr lang="pt-BR" dirty="0"/>
              <a:t>Ao publico</a:t>
            </a:r>
          </a:p>
          <a:p>
            <a:pPr marL="171450" indent="-171450">
              <a:buFontTx/>
              <a:buChar char="-"/>
            </a:pPr>
            <a:r>
              <a:rPr lang="pt-BR" dirty="0"/>
              <a:t>A organização da </a:t>
            </a:r>
            <a:r>
              <a:rPr lang="pt-BR" dirty="0" err="1"/>
              <a:t>Fenasucro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42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0C93-8C4D-D342-0751-DFAFFC3A0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D4DA30-F33C-A2F7-F92A-DB0DDF479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FC1E1E-52E2-0E7D-856E-315F556A6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2ECF61-001D-548A-6B73-EF7A0CE53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902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EB18-D916-058E-EADA-B6D3EB09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85CCC1-3AA3-B2D8-B9FF-8D4924C3E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0EC8CE-4C3C-10AB-AC05-D5D96FB6B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32404A-876F-B4CD-9738-58FBA1E8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530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C70D5-D78B-2AE9-8D97-551E75B4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9F964E-AC07-B5D0-53A5-3E49E8167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1D073F-637C-67B3-18F2-9BD68E5CF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DE46CA-E8C4-78B3-6C95-FD0CCE109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865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E1AF3-C03F-BD0A-D851-6BD238659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5294CB-6A1A-FC44-3CEB-6D8EC78D6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C2A419D-CF2C-0278-4B22-1BB3F108A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0B5E73-BC7A-8D5E-27BD-35C11E553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4808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7B97-2F35-C755-9483-FA93C8477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5DEDE7-5C61-CB66-ED8B-153E3D37D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A7E664-2E11-EC62-4BAB-8E2FE557B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73EE7A-14B3-98BC-1EC8-00183FB20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166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91D07-2765-8329-78B1-2CE0C0DB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6CF7CBC-CC7B-46D4-723C-46AB67724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E80D94C-7D8A-6B72-9D38-F287D9449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BEAD41-C8D8-EE88-589C-DE8E9A20A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781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4D6CB-DF9D-32ED-30C1-F790FB58E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DE47213-B021-1DE3-D88B-6BA231D0D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7090A5C-C4EA-7392-4BD3-B5884D170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6E6BFF-4F39-2AB0-3152-CADD566BD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674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8489D-FB49-F7A2-E302-075988D44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B15743-B70A-1B50-EEA3-4106C0DE6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0A0550-2792-D41E-72AB-97F3C1C71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74D301-64B1-0A06-D040-65EBDAC06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303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8B1D-366B-4175-CC1F-70BF8E6A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B9F202-D839-13D8-09F0-CBDC550F7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343D9D-4788-8D75-56EA-D4CCD1441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3CD274-26A0-5F4F-1484-BF58BA109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41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B4677-1320-8BFC-7405-AF003BC30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CE279AB-FCDA-0B0A-80D1-8820376A5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CBAF55C-D297-81B5-AD9E-C712C76B8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12E1DD-73A5-1E4E-A02C-F4C5A7250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370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DEEB4-AB18-B48B-C963-2A2C89101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C41A92E-0CE6-7CF5-3518-4A4ED7758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AF4FBE5-6992-68BC-D540-FA9F2C597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69F97A-358A-8FD3-4747-1B8599886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5930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08A0F-3374-6ED7-1F11-3A2CEC73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B4C956-0911-2C62-C3B3-2E783B064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EE17FD7-CAF9-B3DB-E573-2BFEDA3F4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80DCCD-94FE-57A1-78BA-6ACFF40D3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23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10717-76F2-B7F1-0E22-14A9BD1C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DDC080-6F2F-8E91-D4A9-0675D03FB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45AFF4-5589-A2FF-29CD-A90B394B9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5499A8-D0FA-545B-B221-4E1CD73D5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4754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B0B9C-688A-11EA-608D-BB9063D9C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8080CA-BDE8-6B09-0A1A-F966854DD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5C8DE2-55B0-D85D-3979-D3E0090E2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5AFA30-EB72-CD19-22E5-68E62FA06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11915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E0E1A-5E25-B06A-339C-071C7E5E5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3E2A49-E982-F738-D480-123A160C0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3441A2-C715-8DCC-A3EF-A6960F6A0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C9A0DB-ECCF-20C6-688B-EC3A4780F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1174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E42BC-32BE-35C6-89C3-3B1DCC1C3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135C692-C987-D5FF-179B-FE04A8A86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E298AC9-E168-9607-6077-5CC6F222E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96D8C3-0570-C162-3EEF-2A342A4F8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72344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BC9C-7C72-3142-BD0F-82B376AD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9D1EF6-848C-2F16-9A2B-2A0388D50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5291018-93D9-0F56-EEF7-713BC29B6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09D5F4-682B-7A96-0AD2-EB76744CC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1477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79DC1-C3EB-9C2E-D98C-103668021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7556DF6-F484-79BA-3C3C-1AF0D5D83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E67504-C6F8-363E-E01B-A6799503F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EBA623-0E59-7D10-9587-CCCBC2D08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44516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40D11-4095-A056-9697-8E66D25FF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203DBFC-9118-1E57-E797-316E48F1C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7D62BC0-3BA1-E43D-161A-8376FC826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8CBD0C-7E62-BAA0-2FD2-BA60A8456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4213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93CAA-A40F-30B9-F0F7-9B52EFC2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D888A2D-9872-0349-F0BF-88C318A74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93ABA4-7F27-687F-865F-028472338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16508A-32CB-5EC0-EE48-4D9C2D7CA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85966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849AA-6363-6795-5BB5-2CF4D08B3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C453B48-4685-0CE4-9A26-9D8ED67BC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217DCAE-793D-7B4A-CBB4-CA1829A7A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B1E957-C2BA-8092-FBC1-D16865BA4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6204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93D15-3C29-244D-FDD0-C519C237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ECA3247-F092-6381-F0FB-D261D1ED4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8E842A-C717-03BB-5FE9-8F3D94BF0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1F6AEF-B3CE-2F10-1409-92D433B0D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2801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D4063-E487-7AAB-8E0A-1D7DB76CA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36BBC6C-0EC8-13C4-0BC2-4877ADA21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1EFFA5-4F85-8070-AC15-FABB19739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B42DED-4D84-A315-5BDD-C1F929414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15302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48BDA-494F-197D-35A1-83B730C3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DE3191C-8F99-3747-7C64-C94B482AE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325B2BA-F0CA-6056-6B4F-A1B3DAA1A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780F32-DEB1-28F8-45FE-EFB4D3738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73987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08D40-7234-5F84-6B74-7AAFE3207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FC9DBE3-3C55-627C-C6C8-2CD70520C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390DCA7-C5F8-F94A-0C56-749C5E624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C48419-E7E9-C4A3-355E-828BA7AED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09964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6CA70-8DBB-BCEF-6130-E4A0C0D9B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05A27A8-5FC3-31C1-3101-C9FBD420C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FB484B8-F90A-81C3-163A-AD6EDFF39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78C880-8F4B-649D-1C5E-7E24439A3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99355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3ED9F-9A5C-0BBD-F06F-B11B51AEB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29F0EB0-15B4-2D11-3F38-19132C902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3506B57-2244-DCD9-4422-E8B34D023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64F26B-72A8-8A84-C63C-5BE004AD3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9732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F2BB5-3052-E05E-BB9C-B71C0CFEF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584EF31-A623-183C-E9F6-05A1C0B83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53762A7-AC9D-A84F-4ADC-034670D55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65C62E-8850-4E38-DBF0-A897E2053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6516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2EFB-EDEE-3B16-E36E-574FD694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A819D2-E95F-C169-504B-27710A7F8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43577B-6B26-D3E0-57EF-BD0B7EF2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6045AF-A5AB-3CC4-7E80-4E881D1B1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16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sp>
        <p:nvSpPr>
          <p:cNvPr id="6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5099" y="448220"/>
            <a:ext cx="15513191" cy="11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56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5277"/>
            </a:lvl2pPr>
            <a:lvl3pPr>
              <a:defRPr sz="4617"/>
            </a:lvl3pPr>
            <a:lvl4pPr>
              <a:defRPr sz="3958"/>
            </a:lvl4pPr>
            <a:lvl5pPr>
              <a:defRPr sz="3958"/>
            </a:lvl5pPr>
          </a:lstStyle>
          <a:p>
            <a:pPr lvl="0"/>
            <a:r>
              <a:rPr lang="pt-BR"/>
              <a:t>Digitar seu título aqui</a:t>
            </a:r>
          </a:p>
        </p:txBody>
      </p:sp>
      <p:sp>
        <p:nvSpPr>
          <p:cNvPr id="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3929" y="2063797"/>
            <a:ext cx="15514360" cy="507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98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Digitar seu subtítulo aqui</a:t>
            </a:r>
          </a:p>
        </p:txBody>
      </p:sp>
      <p:sp>
        <p:nvSpPr>
          <p:cNvPr id="8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930" y="3105603"/>
            <a:ext cx="14341622" cy="1872116"/>
          </a:xfrm>
          <a:prstGeom prst="rect">
            <a:avLst/>
          </a:prstGeom>
        </p:spPr>
        <p:txBody>
          <a:bodyPr/>
          <a:lstStyle>
            <a:lvl1pPr marL="0" marR="0" indent="0" algn="l" defTabSz="1507846" rtl="0" eaLnBrk="1" fontAlgn="auto" latinLnBrk="0" hangingPunct="1">
              <a:lnSpc>
                <a:spcPct val="90000"/>
              </a:lnSpc>
              <a:spcBef>
                <a:spcPts val="16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958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3298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290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" y="398"/>
            <a:ext cx="20102688" cy="11307763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4D48E881-58D3-4B18-B397-6971EA7E7E23}"/>
              </a:ext>
            </a:extLst>
          </p:cNvPr>
          <p:cNvSpPr/>
          <p:nvPr/>
        </p:nvSpPr>
        <p:spPr>
          <a:xfrm>
            <a:off x="706" y="11131431"/>
            <a:ext cx="20102688" cy="16204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299A9214-8828-4B4B-9941-B4CFBF09BDD0}"/>
              </a:ext>
            </a:extLst>
          </p:cNvPr>
          <p:cNvSpPr txBox="1">
            <a:spLocks/>
          </p:cNvSpPr>
          <p:nvPr/>
        </p:nvSpPr>
        <p:spPr>
          <a:xfrm>
            <a:off x="8884870" y="2759075"/>
            <a:ext cx="9994802" cy="3059811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699" defTabSz="1507846">
              <a:spcBef>
                <a:spcPts val="101"/>
              </a:spcBef>
            </a:pPr>
            <a:r>
              <a:rPr lang="pt-BR" sz="6600" b="1" i="1" kern="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Criação e Edição de imagens para Mídias Digitais - SEBRAE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DB5E0E8-CC40-4125-A2AE-B830D0D73C7D}"/>
              </a:ext>
            </a:extLst>
          </p:cNvPr>
          <p:cNvSpPr/>
          <p:nvPr/>
        </p:nvSpPr>
        <p:spPr>
          <a:xfrm>
            <a:off x="8017902" y="2454275"/>
            <a:ext cx="0" cy="3087979"/>
          </a:xfrm>
          <a:custGeom>
            <a:avLst/>
            <a:gdLst/>
            <a:ahLst/>
            <a:cxnLst/>
            <a:rect l="l" t="t" r="r" b="b"/>
            <a:pathLst>
              <a:path h="3001009">
                <a:moveTo>
                  <a:pt x="0" y="3000400"/>
                </a:moveTo>
                <a:lnTo>
                  <a:pt x="0" y="0"/>
                </a:lnTo>
              </a:path>
            </a:pathLst>
          </a:custGeom>
          <a:ln w="2783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F6A5027A-E215-4339-A81A-70A4E1B2C71F}"/>
              </a:ext>
            </a:extLst>
          </p:cNvPr>
          <p:cNvGrpSpPr/>
          <p:nvPr/>
        </p:nvGrpSpPr>
        <p:grpSpPr>
          <a:xfrm>
            <a:off x="2243795" y="3261247"/>
            <a:ext cx="4357813" cy="1145007"/>
            <a:chOff x="15364003" y="1047088"/>
            <a:chExt cx="3693160" cy="94297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35C6579F-DD30-4CD7-8A2C-1FFFDBA4E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CD579FB6-1ED6-4812-81D3-EB30E18FC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A258380-2930-47F4-ACEA-A6BA1F6CA553}"/>
              </a:ext>
            </a:extLst>
          </p:cNvPr>
          <p:cNvGrpSpPr/>
          <p:nvPr/>
        </p:nvGrpSpPr>
        <p:grpSpPr>
          <a:xfrm>
            <a:off x="9201247" y="6873875"/>
            <a:ext cx="9994803" cy="2033890"/>
            <a:chOff x="9201247" y="6873875"/>
            <a:chExt cx="9994803" cy="203389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2F76E57F-4516-44C1-B269-693C768D9ADE}"/>
                </a:ext>
              </a:extLst>
            </p:cNvPr>
            <p:cNvSpPr txBox="1">
              <a:spLocks/>
            </p:cNvSpPr>
            <p:nvPr/>
          </p:nvSpPr>
          <p:spPr>
            <a:xfrm>
              <a:off x="9201247" y="6873875"/>
              <a:ext cx="9994803" cy="2033890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600" b="1" kern="0" spc="-25" dirty="0">
                <a:solidFill>
                  <a:srgbClr val="C00000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FENASUCRO 2022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Auditório ...</a:t>
              </a:r>
            </a:p>
            <a:p>
              <a:pPr marL="12700" algn="r">
                <a:spcBef>
                  <a:spcPts val="100"/>
                </a:spcBef>
              </a:pPr>
              <a:endParaRPr lang="pt-BR" sz="2400" i="1" kern="0" spc="-25" dirty="0">
                <a:solidFill>
                  <a:srgbClr val="C00000"/>
                </a:solidFill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2400" kern="0" spc="-25" dirty="0">
                  <a:solidFill>
                    <a:srgbClr val="C00000"/>
                  </a:solidFill>
                </a:rPr>
                <a:t>Sertãozinho/SP 19 de ago. de 2022</a:t>
              </a:r>
              <a:endParaRPr lang="pt-BR" sz="2800" kern="0" dirty="0">
                <a:solidFill>
                  <a:srgbClr val="C00000"/>
                </a:solidFill>
              </a:endParaRPr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7A133603-A712-4ECF-9A36-36E433CC4C03}"/>
                </a:ext>
              </a:extLst>
            </p:cNvPr>
            <p:cNvSpPr txBox="1">
              <a:spLocks/>
            </p:cNvSpPr>
            <p:nvPr/>
          </p:nvSpPr>
          <p:spPr>
            <a:xfrm>
              <a:off x="10270078" y="7360398"/>
              <a:ext cx="6857992" cy="1084912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4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FFFFFF"/>
                  </a:solidFill>
                  <a:latin typeface="Montserrat ExtraBold" panose="020B0604020202020204" charset="0"/>
                </a:rPr>
                <a:t>SENAI 5.13 - Jaguariúna</a:t>
              </a:r>
              <a:endParaRPr lang="pt-BR" sz="28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endParaRPr lang="pt-BR" sz="1800" i="1" kern="0" spc="-25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B79C395-5E26-4C89-A9E4-FA649F6D8416}"/>
              </a:ext>
            </a:extLst>
          </p:cNvPr>
          <p:cNvGrpSpPr/>
          <p:nvPr/>
        </p:nvGrpSpPr>
        <p:grpSpPr>
          <a:xfrm>
            <a:off x="12871450" y="9118387"/>
            <a:ext cx="6254754" cy="825868"/>
            <a:chOff x="12871450" y="9118387"/>
            <a:chExt cx="6254754" cy="825868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6CF72D63-5AAF-4BE9-AFFC-BCAFEEB76FB9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8"/>
              <a:ext cx="6254754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chemeClr val="bg2">
                      <a:lumMod val="25000"/>
                    </a:schemeClr>
                  </a:solidFill>
                </a:rPr>
                <a:t>Paulo Rogério Ferreira Tescaro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chemeClr val="bg2">
                      <a:lumMod val="25000"/>
                    </a:schemeClr>
                  </a:solidFill>
                </a:rPr>
                <a:t>Especialista em Tecnologia</a:t>
              </a:r>
              <a:endParaRPr lang="pt-BR" sz="2800" kern="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C0F3FD7B-98E7-4252-8F7C-5224E77E0354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7"/>
              <a:ext cx="6019800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rgbClr val="FFFFFF"/>
                  </a:solidFill>
                </a:rPr>
                <a:t>Luis Fernando Spoljaric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rgbClr val="FFFFFF"/>
                  </a:solidFill>
                </a:rPr>
                <a:t>Instrutor de formação profissional III</a:t>
              </a:r>
              <a:endParaRPr lang="pt-BR" sz="2800" kern="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EE7E-4B9E-84FC-A879-3D23CF0B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1EAD97-7E48-D804-DF8E-E8432D9ABDDD}"/>
              </a:ext>
            </a:extLst>
          </p:cNvPr>
          <p:cNvSpPr/>
          <p:nvPr/>
        </p:nvSpPr>
        <p:spPr>
          <a:xfrm>
            <a:off x="-14817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E147C2A-AEFD-A4B1-12B7-EAE2931EBD1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0C93F40-920B-99B6-DD14-BF409634303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3AB46CB-D7AF-F4FB-625E-DB63B2FD6A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8847225-EA29-B263-4AAB-7A6A07F4A72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BC0A9A9-0832-B2FC-B348-49820B93E2C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F5C4AF6-1144-D15E-8D31-C4DDA4EDC3D4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4A75463-75D1-30ED-7BE3-9BB6D9872C01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6A9B463-D921-6C9C-78FA-4B9CFED140CB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6B2C8C6-D565-5BB4-2118-BDD5919A82C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9B9CD50-41A5-5E01-1AA2-EFE2065620E1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D8A778E-9BD6-1B80-64AE-178F9B6F541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ECCEAFB-96A9-BD83-94C2-01C46CAD6E23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EEC3AB2-45CC-0515-2441-B58A9C0C49F1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7F582F1-4263-BA22-A0B1-44D65A249821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2D0E1A2-61B9-5B7B-58EE-144587213048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3D22A34-9985-75DF-59C3-17A4E46B3C53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2D0A9A9-C7C7-B9C7-B43D-C26633AC6E4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E6C24C5-1FB4-FBE7-6736-799FF197A484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8B91537-915C-F06D-D199-40F9E667C15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205ADDA-6173-9F10-61D9-0BCC19981C48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D9A6A54-E90D-456E-B44F-D59E94516943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EB6CDA5-54BC-4390-E511-2DB1615DCDF1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7025E88-C48C-4425-662F-F79E8B30A770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F39FE87-4E26-E884-821C-ADA9886E2FA1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737AFA5-D653-DA93-FA86-6933893E9F59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C846E0B-0519-7B71-8716-1AD780537D2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8E58707-6519-9AB1-CA20-740792B93FF9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CDC35C44-6054-6C3D-2450-C770EC1668D8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A5C7764-3DEA-35F5-AD84-D31BAE58BC66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0F3849E0-35F5-8B5D-31AE-2CD2CF724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87475"/>
            <a:ext cx="1258157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Objetivo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3" name="object 36">
            <a:extLst>
              <a:ext uri="{FF2B5EF4-FFF2-40B4-BE49-F238E27FC236}">
                <a16:creationId xmlns:a16="http://schemas.microsoft.com/office/drawing/2014/main" id="{0B1A10B6-48C8-6D6D-72A3-EEBAA9BC972F}"/>
              </a:ext>
            </a:extLst>
          </p:cNvPr>
          <p:cNvSpPr txBox="1">
            <a:spLocks/>
          </p:cNvSpPr>
          <p:nvPr/>
        </p:nvSpPr>
        <p:spPr>
          <a:xfrm>
            <a:off x="1621367" y="3887675"/>
            <a:ext cx="17410807" cy="379527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000" kern="0" spc="-15" dirty="0">
                <a:solidFill>
                  <a:srgbClr val="F1F1F1"/>
                </a:solidFill>
                <a:latin typeface="Montserrat ExtraBold"/>
              </a:rPr>
              <a:t>O objetivo deste curso é apresentar técnicas de criação e edição de efeitos imagens para divulgação em mídias sociais. O aluno vai aprender os passos de como criar uma imagem, formatação e exportação de arquivos.</a:t>
            </a:r>
            <a:br>
              <a:rPr lang="pt-BR" sz="4950" b="1" kern="0" spc="-15" dirty="0">
                <a:solidFill>
                  <a:srgbClr val="F1F1F1"/>
                </a:solidFill>
                <a:latin typeface="Montserrat ExtraBold"/>
              </a:rPr>
            </a:br>
            <a:endParaRPr lang="pt-BR" sz="4950" kern="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9988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3C8F-B663-0463-E887-B4CAFB6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BB05AB8-E681-D36B-C2D6-65F979C00D9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4B1B6C-6FD2-C4BD-4934-1D43C1B34C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7678B0-47B8-9FEA-CDAA-AD777BE4475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4E5F8F3-9610-6FE9-2AD2-C5BC8496E5E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519059-48BB-77C4-E999-9DE30F423B7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823E162-8BED-FF78-C48A-780A25D8E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0458" y="1362192"/>
            <a:ext cx="1384173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O que é uma imagem digital?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2CE79D-FBBD-1F15-A0C0-4C1623434A09}"/>
              </a:ext>
            </a:extLst>
          </p:cNvPr>
          <p:cNvSpPr txBox="1"/>
          <p:nvPr/>
        </p:nvSpPr>
        <p:spPr>
          <a:xfrm>
            <a:off x="1526491" y="3063875"/>
            <a:ext cx="169118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Uma imagem digital é uma representação visual criada por computadores utilizando informações digitais.</a:t>
            </a:r>
          </a:p>
          <a:p>
            <a:endParaRPr lang="pt-BR" sz="4000" dirty="0"/>
          </a:p>
          <a:p>
            <a:r>
              <a:rPr lang="pt-BR" sz="4000" dirty="0"/>
              <a:t>Ela pode ser obtida através de: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Câmeras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Celulares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Softwares de edição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Inteligência Artificial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Scanner</a:t>
            </a:r>
          </a:p>
        </p:txBody>
      </p:sp>
    </p:spTree>
    <p:extLst>
      <p:ext uri="{BB962C8B-B14F-4D97-AF65-F5344CB8AC3E}">
        <p14:creationId xmlns:p14="http://schemas.microsoft.com/office/powerpoint/2010/main" val="123161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FC6B-4A73-3666-DFCF-E153B3E7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0FCC871-585E-CBE6-5F4C-0DEF290EC00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5CEFCF-BB14-7A6F-CCF9-8D65540216A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3CDEF7E-A9DF-223A-6717-BD6E880A22A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4A4961C-7C03-F84F-5795-8A5F4E11D75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2A5131-5932-902F-779D-252A6B81276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9925B0-592C-2216-07C5-699A06B41D38}"/>
              </a:ext>
            </a:extLst>
          </p:cNvPr>
          <p:cNvSpPr txBox="1"/>
          <p:nvPr/>
        </p:nvSpPr>
        <p:spPr>
          <a:xfrm>
            <a:off x="1526491" y="3063875"/>
            <a:ext cx="169118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Um </a:t>
            </a:r>
            <a:r>
              <a:rPr lang="pt-BR" sz="4000" b="1" dirty="0"/>
              <a:t>pixel</a:t>
            </a:r>
            <a:r>
              <a:rPr lang="pt-BR" sz="4000" dirty="0"/>
              <a:t> é o menor ponto que forma uma imagem digital.</a:t>
            </a:r>
          </a:p>
          <a:p>
            <a:endParaRPr lang="pt-BR" sz="4000" dirty="0"/>
          </a:p>
          <a:p>
            <a:r>
              <a:rPr lang="pt-BR" sz="4000" dirty="0"/>
              <a:t>Imagine uma parede feita de pequenos azulejos.</a:t>
            </a:r>
          </a:p>
          <a:p>
            <a:endParaRPr lang="pt-BR" sz="4000" dirty="0"/>
          </a:p>
          <a:p>
            <a:r>
              <a:rPr lang="pt-BR" sz="4000" dirty="0"/>
              <a:t>Cada azulejo representa um pixel.</a:t>
            </a:r>
          </a:p>
          <a:p>
            <a:endParaRPr lang="pt-BR" sz="4000" dirty="0"/>
          </a:p>
          <a:p>
            <a:r>
              <a:rPr lang="pt-BR" sz="4000" dirty="0"/>
              <a:t>Quanto maior a quantidade de pixels: </a:t>
            </a:r>
            <a:r>
              <a:rPr lang="pt-BR" sz="4000" b="1" dirty="0"/>
              <a:t>Mais detalhes</a:t>
            </a:r>
          </a:p>
          <a:p>
            <a:endParaRPr lang="pt-BR" sz="4000" b="1" dirty="0"/>
          </a:p>
          <a:p>
            <a:r>
              <a:rPr lang="pt-BR" sz="4000" dirty="0"/>
              <a:t>Quanto menor: </a:t>
            </a:r>
            <a:r>
              <a:rPr lang="pt-BR" sz="4000" b="1" dirty="0"/>
              <a:t>Menos qualidade</a:t>
            </a:r>
          </a:p>
        </p:txBody>
      </p:sp>
      <p:sp>
        <p:nvSpPr>
          <p:cNvPr id="2" name="object 15">
            <a:extLst>
              <a:ext uri="{FF2B5EF4-FFF2-40B4-BE49-F238E27FC236}">
                <a16:creationId xmlns:a16="http://schemas.microsoft.com/office/drawing/2014/main" id="{07EE59CE-64CD-A41F-7BE8-31B2B24979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0458" y="1362192"/>
            <a:ext cx="1384173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dirty="0">
                <a:latin typeface="Montserrat ExtraBold" panose="00000900000000000000" pitchFamily="2" charset="0"/>
              </a:rPr>
              <a:t>O que é um Pixel?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686446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EE569-0DDC-3737-EE81-3DA053E3D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9D13B1E-9451-61DD-A223-43728594D1C0}"/>
              </a:ext>
            </a:extLst>
          </p:cNvPr>
          <p:cNvSpPr/>
          <p:nvPr/>
        </p:nvSpPr>
        <p:spPr>
          <a:xfrm>
            <a:off x="-14817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EF49F07-4226-E82A-7C94-0EB647BD685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129664F-9605-5955-9126-18B741A4198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CE4C4F-7E13-AEDC-7021-801D4351ADC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8ECA996-90E6-B31F-BC90-B7D7BE06320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35F89E9-7475-99D2-1DB0-1A6D2050227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E328C0E-F7E9-3351-A9E9-78CF56E8A023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4F6C979-E920-5C90-674B-9BDE394E9FF5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64A42B0-AC10-CA9D-2139-B4ED7DCA2FAB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3A99953-920D-52C8-9FBB-ED854145C9FA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DB55FE9-14D6-E3A3-6B04-FF8E866B523F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3C4EA4F-A27B-60BC-369F-7438103F79DE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47D67CF2-305F-14F9-7720-9A6927CBD50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2CBB38D-8121-A849-4150-25BD34A38F8E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70AEB4A-3112-4832-0279-ABF7AD65744F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9D632726-A6B6-EC5D-FB01-9734EB3D951B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8C56DEFF-E869-E8B6-0EDF-F605760EEF3E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B3D124EE-FC74-B4A9-5309-262C8393617A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8F49A504-E5AC-B323-F4E7-252607F102FB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9B6EAA9A-373F-BEA2-4310-3DEAE05A6F26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2143F86F-DB2C-C763-B0A2-F1AC96D1EAD8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2CE35FD8-9F3B-8B1A-8328-AB8C549F9DC2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46F36384-F1A1-BF72-F867-C06BADAC1ED5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BDEA221A-C417-3B0D-AA9B-4704B56711B7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182303F0-020D-BF19-89C8-9E93E9706D9D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6F286E6B-CE0B-6BCA-CC35-2CF29ADA963C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062DE0FD-8D45-D303-5AEF-CD57F1796FC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87BF152-81E8-76B9-2308-A230AF503865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951AF5E4-EA85-DC08-DA9F-FB2A29BE804D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EC34E2D3-226F-DE57-1403-8AB250A303B2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A916194B-30AB-D141-ED78-CCD26804B3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87475"/>
            <a:ext cx="1258157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Exemplos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32" name="Imagem 31" descr="Cómo iniciar una estrategia de marketing visual en dispositivos móviles.">
            <a:extLst>
              <a:ext uri="{FF2B5EF4-FFF2-40B4-BE49-F238E27FC236}">
                <a16:creationId xmlns:a16="http://schemas.microsoft.com/office/drawing/2014/main" id="{341476F7-CAAF-2613-AC7B-B0CAB5EDE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338" y="2912893"/>
            <a:ext cx="6096000" cy="4972050"/>
          </a:xfrm>
          <a:prstGeom prst="rect">
            <a:avLst/>
          </a:prstGeom>
        </p:spPr>
      </p:pic>
      <p:pic>
        <p:nvPicPr>
          <p:cNvPr id="34" name="Imagem 33" descr="Decoding the divide: what’s the difference between ‘high-resolution’ and ‘low-resolution’? - V-one">
            <a:extLst>
              <a:ext uri="{FF2B5EF4-FFF2-40B4-BE49-F238E27FC236}">
                <a16:creationId xmlns:a16="http://schemas.microsoft.com/office/drawing/2014/main" id="{1EA4A359-F388-7F98-DC93-368A3C48A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6154" y="2692896"/>
            <a:ext cx="9772650" cy="741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273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8FEE-1638-5E9E-73E1-031C1E54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EFB6DC2-0C47-D4C7-716D-D41C4BC56FB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A2AAD6E-D5BF-44AD-5411-8BBE8D6A1BD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FA91FA0-B669-EAF4-9502-620F2D3EF2D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631F33D-AB25-7CD9-3965-A52A93BDEC1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69D8B77-840C-6C5E-2C13-0F038F47572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3D9B4A4-08F7-F5C8-9EAC-7639EFFA4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Resolução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322D1F-32A3-FB69-5EF3-F5F88BD6B8DD}"/>
              </a:ext>
            </a:extLst>
          </p:cNvPr>
          <p:cNvSpPr txBox="1"/>
          <p:nvPr/>
        </p:nvSpPr>
        <p:spPr>
          <a:xfrm>
            <a:off x="1526490" y="3063875"/>
            <a:ext cx="171361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4000" dirty="0"/>
          </a:p>
          <a:p>
            <a:endParaRPr lang="pt-BR" sz="40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DB1A765-CF92-A479-6237-33C78F5BD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574" y="3063875"/>
            <a:ext cx="16921990" cy="464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714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6FE8-3914-24FD-A95E-2693A427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5B9F6CC-E024-CF92-C2B6-31049BF0837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EAF9493-0484-D0FE-BBFF-2161808EB9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37BBE96-5DA5-2F86-ACD8-39987B5FF42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E0D2F90-815D-DD65-58F9-383D8ED28FD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26F50D4-BC0F-6BDB-208F-36EE3A5730F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5E88F38-C850-7A03-2338-01C3E42ACA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Resolução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0C0704-CFB4-7C6D-15B9-E187A9DC5C4D}"/>
              </a:ext>
            </a:extLst>
          </p:cNvPr>
          <p:cNvSpPr txBox="1"/>
          <p:nvPr/>
        </p:nvSpPr>
        <p:spPr>
          <a:xfrm>
            <a:off x="1526490" y="2631703"/>
            <a:ext cx="17136159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Resolução é a quantidade de pixels presentes em uma imagem.</a:t>
            </a:r>
          </a:p>
          <a:p>
            <a:endParaRPr lang="pt-BR" sz="4000" dirty="0"/>
          </a:p>
          <a:p>
            <a:r>
              <a:rPr lang="pt-BR" sz="4000" dirty="0"/>
              <a:t>Exemplo:</a:t>
            </a:r>
          </a:p>
          <a:p>
            <a:endParaRPr lang="pt-BR" sz="4000" dirty="0"/>
          </a:p>
          <a:p>
            <a:r>
              <a:rPr lang="pt-BR" sz="4000" dirty="0"/>
              <a:t>1920 × 1080</a:t>
            </a:r>
          </a:p>
          <a:p>
            <a:endParaRPr lang="pt-BR" sz="4000" dirty="0"/>
          </a:p>
          <a:p>
            <a:r>
              <a:rPr lang="pt-BR" sz="4000" dirty="0"/>
              <a:t>largura = 1920 pixels</a:t>
            </a:r>
          </a:p>
          <a:p>
            <a:r>
              <a:rPr lang="pt-BR" sz="4000" dirty="0"/>
              <a:t>altura = 1080 pixels</a:t>
            </a:r>
          </a:p>
          <a:p>
            <a:endParaRPr lang="pt-BR" sz="4000" dirty="0"/>
          </a:p>
          <a:p>
            <a:r>
              <a:rPr lang="pt-BR" sz="4000" dirty="0"/>
              <a:t>Quanto maior a resolução:</a:t>
            </a:r>
          </a:p>
          <a:p>
            <a:endParaRPr lang="pt-BR" sz="4000" dirty="0"/>
          </a:p>
          <a:p>
            <a:r>
              <a:rPr lang="pt-BR" sz="4000" dirty="0"/>
              <a:t>maior qualidade</a:t>
            </a:r>
          </a:p>
          <a:p>
            <a:r>
              <a:rPr lang="pt-BR" sz="4000" dirty="0"/>
              <a:t>maior tamanho do arquivo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729091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30C73-C299-202E-D987-A816D17B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2E0EB3E-23B5-3E8D-A228-2D044A61704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AC321A5-6154-5DD7-7612-D89C17E0EC7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244EEE4-C719-40E4-D237-4DDC87E9FD2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CA285F0-C900-91FF-920F-C20F0C289A5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3F0578A-C473-2A48-278E-E59098D5FD4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949A307-9F93-036C-D291-12E7456F7D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Comparação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0B90B90-D33A-627C-A834-2D9976F0ACD7}"/>
              </a:ext>
            </a:extLst>
          </p:cNvPr>
          <p:cNvSpPr txBox="1"/>
          <p:nvPr/>
        </p:nvSpPr>
        <p:spPr>
          <a:xfrm>
            <a:off x="1526490" y="3063875"/>
            <a:ext cx="1713615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Comparação</a:t>
            </a:r>
          </a:p>
          <a:p>
            <a:endParaRPr lang="pt-BR" sz="4000" b="1" dirty="0"/>
          </a:p>
          <a:p>
            <a:r>
              <a:rPr lang="pt-BR" sz="4000" dirty="0"/>
              <a:t>Imagine duas TVs.</a:t>
            </a:r>
          </a:p>
          <a:p>
            <a:endParaRPr lang="pt-BR" sz="4000" dirty="0"/>
          </a:p>
          <a:p>
            <a:r>
              <a:rPr lang="pt-BR" sz="4000" dirty="0"/>
              <a:t>TV pequena:</a:t>
            </a:r>
          </a:p>
          <a:p>
            <a:r>
              <a:rPr lang="pt-BR" sz="4000" dirty="0"/>
              <a:t>50 quadradinhos formando a imagem.</a:t>
            </a:r>
          </a:p>
          <a:p>
            <a:endParaRPr lang="pt-BR" sz="4000" dirty="0"/>
          </a:p>
          <a:p>
            <a:r>
              <a:rPr lang="pt-BR" sz="4000" dirty="0"/>
              <a:t>TV grande:</a:t>
            </a:r>
          </a:p>
          <a:p>
            <a:r>
              <a:rPr lang="pt-BR" sz="4000" dirty="0"/>
              <a:t>5 milhões de quadradinhos.</a:t>
            </a:r>
          </a:p>
          <a:p>
            <a:endParaRPr lang="pt-BR" sz="4000" dirty="0"/>
          </a:p>
          <a:p>
            <a:r>
              <a:rPr lang="pt-BR" sz="4000" dirty="0"/>
              <a:t>Qual terá mais detalhes?</a:t>
            </a:r>
          </a:p>
          <a:p>
            <a:r>
              <a:rPr lang="pt-BR" sz="4000" dirty="0"/>
              <a:t>A segunda.</a:t>
            </a:r>
          </a:p>
        </p:txBody>
      </p:sp>
    </p:spTree>
    <p:extLst>
      <p:ext uri="{BB962C8B-B14F-4D97-AF65-F5344CB8AC3E}">
        <p14:creationId xmlns:p14="http://schemas.microsoft.com/office/powerpoint/2010/main" val="4177743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7C53-729D-F4BE-15CC-ADA2C441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C3F61A4-0FC9-BD0F-48C1-FEB1E076EDC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8AC48CF-B0D1-21DB-865F-648657E9BC4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489227-2007-9DAC-850E-840E66DA7F5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786C3D0-A94D-4384-18FB-A4DCD857C52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2AD92FF-1B7B-3AA3-BBBA-A98A0650A22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A8D6344-D3FF-B10C-19AF-C4B879558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417339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Objetivos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B184AD-C041-F4CC-F3E2-CB4FC1A4D0D3}"/>
              </a:ext>
            </a:extLst>
          </p:cNvPr>
          <p:cNvSpPr txBox="1"/>
          <p:nvPr/>
        </p:nvSpPr>
        <p:spPr>
          <a:xfrm>
            <a:off x="1904386" y="3061589"/>
            <a:ext cx="15306197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O Marco Civil busca:</a:t>
            </a:r>
          </a:p>
          <a:p>
            <a:endParaRPr lang="pt-BR" sz="4000" b="1" dirty="0"/>
          </a:p>
          <a:p>
            <a:r>
              <a:rPr lang="pt-BR" sz="4000" dirty="0"/>
              <a:t> 1. Garantir liberdade de expressão</a:t>
            </a:r>
          </a:p>
          <a:p>
            <a:endParaRPr lang="pt-BR" sz="4000" dirty="0"/>
          </a:p>
          <a:p>
            <a:r>
              <a:rPr lang="pt-BR" sz="4000" dirty="0"/>
              <a:t> 2. Proteger a privacidade do usuário</a:t>
            </a:r>
          </a:p>
          <a:p>
            <a:endParaRPr lang="pt-BR" sz="4000" dirty="0"/>
          </a:p>
          <a:p>
            <a:r>
              <a:rPr lang="pt-BR" sz="4000" dirty="0"/>
              <a:t> 3. Garantir neutralidade da rede</a:t>
            </a:r>
          </a:p>
          <a:p>
            <a:br>
              <a:rPr lang="pt-BR" sz="4000" dirty="0"/>
            </a:br>
            <a:r>
              <a:rPr lang="pt-BR" sz="4000" dirty="0"/>
              <a:t> 4. Estabelecer responsabilidades para empresas</a:t>
            </a:r>
          </a:p>
          <a:p>
            <a:br>
              <a:rPr lang="pt-BR" sz="4000" dirty="0"/>
            </a:br>
            <a:r>
              <a:rPr lang="pt-BR" sz="4000" dirty="0"/>
              <a:t> 5. Definir regras para guarda de dados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967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8163-78B1-0566-A2BB-E496019C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B4A8737-9039-D33A-048B-4995CE5EDED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2F26487-C564-2C81-C32C-0F35D5511E6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8B9E85-E9CD-41C9-D942-0DB61B67A2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4112E9B-BADE-910A-D15A-2C774B03BE1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65DCCD0-6B11-510B-6A10-2AD84D7D191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785AC3E-B791-07C6-8D63-4783A72456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Princípios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746D7C4-38F3-1B1E-5D3A-822FE5CA1F49}"/>
              </a:ext>
            </a:extLst>
          </p:cNvPr>
          <p:cNvSpPr txBox="1"/>
          <p:nvPr/>
        </p:nvSpPr>
        <p:spPr>
          <a:xfrm>
            <a:off x="1441450" y="2824321"/>
            <a:ext cx="15383559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A lei possui princípios fundamentais.</a:t>
            </a:r>
          </a:p>
          <a:p>
            <a:endParaRPr lang="pt-BR" sz="4400" b="1" dirty="0"/>
          </a:p>
          <a:p>
            <a:r>
              <a:rPr lang="pt-BR" sz="4400" b="1" dirty="0"/>
              <a:t>1.Liberdade de expressão</a:t>
            </a:r>
          </a:p>
          <a:p>
            <a:endParaRPr lang="pt-BR" sz="4000" b="1" dirty="0"/>
          </a:p>
          <a:p>
            <a:r>
              <a:rPr lang="pt-BR" sz="4000" dirty="0"/>
              <a:t>A internet deve ser um ambiente de: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comunicação livre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debate público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troca de informações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Isso garante que usuários possam se manifestar online.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77133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BA72E-EDB4-826E-3EEE-111A9493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55E04BD-32CD-A071-4355-55123A791EC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D513A1F-D41C-F716-8EFD-57AB1298F2D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E3D1BC6-A993-D492-604B-7D9C8447F79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EE48071-40FB-62B8-13D0-422265BB166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676A3BB-0501-7249-1FFE-1478C7A59C8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AA2ACF6-3853-C6F7-B2A1-36F0F9986B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Princípios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C9DCB7C-0F05-28BE-44A5-0E7D38C28383}"/>
              </a:ext>
            </a:extLst>
          </p:cNvPr>
          <p:cNvSpPr txBox="1"/>
          <p:nvPr/>
        </p:nvSpPr>
        <p:spPr>
          <a:xfrm>
            <a:off x="1441450" y="2824321"/>
            <a:ext cx="1538355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2. Proteção da privacidade</a:t>
            </a:r>
          </a:p>
          <a:p>
            <a:endParaRPr lang="pt-BR" sz="4400" b="1" dirty="0"/>
          </a:p>
          <a:p>
            <a:r>
              <a:rPr lang="pt-BR" sz="4400" dirty="0"/>
              <a:t>As </a:t>
            </a:r>
            <a:r>
              <a:rPr lang="pt-BR" sz="4400" b="1" dirty="0"/>
              <a:t>empresas devem respeitar</a:t>
            </a:r>
            <a:r>
              <a:rPr lang="pt-BR" sz="44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dados pessoais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comunicações privadas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histórico de navegação</a:t>
            </a:r>
          </a:p>
          <a:p>
            <a:endParaRPr lang="pt-BR" sz="4400" dirty="0"/>
          </a:p>
          <a:p>
            <a:r>
              <a:rPr lang="pt-BR" sz="4400" b="1" dirty="0"/>
              <a:t>Dados só podem ser acessados</a:t>
            </a:r>
            <a:r>
              <a:rPr lang="pt-BR" sz="44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com autorização do usuário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 ou por ordem judicial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379244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AB587-CC47-4D5D-D06A-12A05A78D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049DA36-169D-6873-5A21-58D1F77E168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D442199-7190-81BA-A762-6B89E3DF3D4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1FAA6D1-3D58-3B05-9288-9D577278F11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A3AEBF0-7FC3-405E-75CE-DE826C7D141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CAFE190-A37B-F509-B772-D56B9192F03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6F33FC4-92BA-FC57-4F18-6FD528304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Princípios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CC5ABD1-CBFF-EFDF-DDAC-69D9D44CC259}"/>
              </a:ext>
            </a:extLst>
          </p:cNvPr>
          <p:cNvSpPr txBox="1"/>
          <p:nvPr/>
        </p:nvSpPr>
        <p:spPr>
          <a:xfrm>
            <a:off x="1441450" y="2824321"/>
            <a:ext cx="1538355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 startAt="3"/>
            </a:pPr>
            <a:r>
              <a:rPr lang="pt-BR" sz="4400" b="1" dirty="0"/>
              <a:t>Proteção dos dados pessoais</a:t>
            </a:r>
          </a:p>
          <a:p>
            <a:endParaRPr lang="pt-BR" sz="4400" b="1" dirty="0"/>
          </a:p>
          <a:p>
            <a:r>
              <a:rPr lang="pt-BR" sz="4400" dirty="0"/>
              <a:t>O Marco Civil abriu caminho para a criação da:</a:t>
            </a:r>
          </a:p>
          <a:p>
            <a:endParaRPr lang="pt-BR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b="1" dirty="0"/>
              <a:t>Lei Geral de Proteção de Dados (LGPD)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400" dirty="0"/>
          </a:p>
          <a:p>
            <a:r>
              <a:rPr lang="pt-BR" sz="4400" dirty="0"/>
              <a:t>Essa lei regula o uso de dados pessoais no Brasil.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543686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45B9C-ECAF-3ED9-BDCC-4A81846EB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C10AB82-A24D-8E74-A9D1-45E039499FD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AE27A60-440E-5864-677E-3E2CDB964B1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0475C73-2EC9-CE67-71CA-E4F57DFE8A9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267EAA6-86B0-7FC7-F1EA-45D6B30250E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6A79B10-2760-F590-E7AD-998EF990ED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9B1FCBB-8C93-90B7-761C-1B57E0AE36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Princípios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63BBB17-AD7C-43E2-FFD3-8A397216230A}"/>
              </a:ext>
            </a:extLst>
          </p:cNvPr>
          <p:cNvSpPr txBox="1"/>
          <p:nvPr/>
        </p:nvSpPr>
        <p:spPr>
          <a:xfrm>
            <a:off x="1441450" y="2824321"/>
            <a:ext cx="153835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 startAt="4"/>
            </a:pPr>
            <a:r>
              <a:rPr lang="pt-BR" sz="4400" b="1" dirty="0"/>
              <a:t>Neutralidade da rede</a:t>
            </a:r>
          </a:p>
          <a:p>
            <a:pPr marL="742950" indent="-742950">
              <a:buAutoNum type="arabicPeriod" startAt="4"/>
            </a:pPr>
            <a:endParaRPr lang="pt-BR" sz="4400" b="1" dirty="0"/>
          </a:p>
          <a:p>
            <a:r>
              <a:rPr lang="pt-BR" sz="4000" dirty="0"/>
              <a:t>O que significa?</a:t>
            </a:r>
          </a:p>
          <a:p>
            <a:endParaRPr lang="pt-BR" sz="4000" dirty="0"/>
          </a:p>
          <a:p>
            <a:r>
              <a:rPr lang="pt-BR" sz="4000" dirty="0"/>
              <a:t>Os provedores de internet </a:t>
            </a:r>
            <a:r>
              <a:rPr lang="pt-BR" sz="4000" b="1" dirty="0"/>
              <a:t>devem tratar todo o tráfego da internet da mesma forma</a:t>
            </a:r>
            <a:r>
              <a:rPr lang="pt-BR" sz="4000" dirty="0"/>
              <a:t>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099242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16CC7-6D39-DDB7-4975-29831AA8B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E82785D-0CEE-49E4-A8EE-CE198BA3A5D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51E58F3-CDC8-679B-B054-E4CA825B5CD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444451B-6EF9-18D5-9304-EE8F8E2FDB8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A719031-F1AB-B937-0602-C2FECA61C2D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36A7DC5-4478-D9AF-2CF3-4AC30054C6D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368166D-9DDE-F4E7-BD92-0F4A847B3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Princípios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8C46EA1-A1E0-F084-FB18-6312FFF0CAB4}"/>
              </a:ext>
            </a:extLst>
          </p:cNvPr>
          <p:cNvSpPr txBox="1"/>
          <p:nvPr/>
        </p:nvSpPr>
        <p:spPr>
          <a:xfrm>
            <a:off x="1441450" y="2824321"/>
            <a:ext cx="15383559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Isso significa que a operadora </a:t>
            </a:r>
            <a:r>
              <a:rPr lang="pt-BR" sz="4400" b="1" dirty="0"/>
              <a:t>não pode</a:t>
            </a:r>
            <a:r>
              <a:rPr lang="pt-BR" sz="4400" dirty="0"/>
              <a:t>:</a:t>
            </a:r>
          </a:p>
          <a:p>
            <a:endParaRPr lang="pt-BR" sz="4000" dirty="0"/>
          </a:p>
          <a:p>
            <a:r>
              <a:rPr lang="pt-BR" sz="4000" dirty="0"/>
              <a:t>1. bloquear sites</a:t>
            </a:r>
            <a:br>
              <a:rPr lang="pt-BR" sz="4000" dirty="0"/>
            </a:br>
            <a:r>
              <a:rPr lang="pt-BR" sz="4000" dirty="0"/>
              <a:t>2. diminuir velocidade de certos aplicativos</a:t>
            </a:r>
            <a:br>
              <a:rPr lang="pt-BR" sz="4000" dirty="0"/>
            </a:br>
            <a:r>
              <a:rPr lang="pt-BR" sz="4000" dirty="0"/>
              <a:t>3. priorizar serviços pagos</a:t>
            </a:r>
          </a:p>
          <a:p>
            <a:endParaRPr lang="pt-BR" sz="4000" dirty="0"/>
          </a:p>
          <a:p>
            <a:r>
              <a:rPr lang="pt-BR" sz="4000" b="1" dirty="0"/>
              <a:t>Exemplo:</a:t>
            </a:r>
          </a:p>
          <a:p>
            <a:endParaRPr lang="pt-BR" sz="4000" dirty="0"/>
          </a:p>
          <a:p>
            <a:r>
              <a:rPr lang="pt-BR" sz="4000" dirty="0"/>
              <a:t>Uma operadora </a:t>
            </a:r>
            <a:r>
              <a:rPr lang="pt-BR" sz="4000" b="1" dirty="0"/>
              <a:t>não pode deixar o streaming de uma empresa mais rápido que outro</a:t>
            </a:r>
            <a:r>
              <a:rPr lang="pt-BR" sz="4000" dirty="0"/>
              <a:t>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802910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F4F90-7113-78C9-8C27-B5CB6ACD1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A866597-1A86-6104-F50F-462B1753586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FA37C47-FD51-F2FF-71E7-9730060D283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2304A8C-5797-D744-A7AD-08D2215A0F3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BC594E5-0305-509D-ED28-FD469C4C344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DD08B13-1EA5-2C7F-0F32-4524CFD399E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EE059FB-EC02-6DA2-E62A-34EB2ED0E0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Direitos dos usuários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88E301F-75D3-153C-2261-E817031040DB}"/>
              </a:ext>
            </a:extLst>
          </p:cNvPr>
          <p:cNvSpPr txBox="1"/>
          <p:nvPr/>
        </p:nvSpPr>
        <p:spPr>
          <a:xfrm>
            <a:off x="1441450" y="2824321"/>
            <a:ext cx="1538355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O Marco Civil garante vários direitos.</a:t>
            </a:r>
          </a:p>
          <a:p>
            <a:endParaRPr lang="pt-BR" sz="4400" b="1" dirty="0"/>
          </a:p>
          <a:p>
            <a:r>
              <a:rPr lang="pt-BR" sz="4400" b="1" dirty="0"/>
              <a:t>1. Privacidade</a:t>
            </a:r>
          </a:p>
          <a:p>
            <a:endParaRPr lang="pt-BR" sz="4400" dirty="0"/>
          </a:p>
          <a:p>
            <a:r>
              <a:rPr lang="pt-BR" sz="4400" dirty="0"/>
              <a:t>Usuários têm direito 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sigilo das comunicações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proteção dos dados pessoais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812747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5386-295D-D676-8D68-86110BCEB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0B72EFD-BFAA-3FCD-59B5-02632E79E87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EFEF5F2-424D-5DE9-D809-7FB36CC4DBF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8AECA66-8E94-CEF9-1AA9-45EF09EA2E5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C5F16F3-5438-0651-AE82-97988F71F9D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6458057-56D2-1B0C-27CD-EC04D9B4A53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6192E9-8BC6-8F28-5E35-BFEC88CCF3CC}"/>
              </a:ext>
            </a:extLst>
          </p:cNvPr>
          <p:cNvSpPr txBox="1"/>
          <p:nvPr/>
        </p:nvSpPr>
        <p:spPr>
          <a:xfrm>
            <a:off x="1441450" y="2824321"/>
            <a:ext cx="15383559" cy="815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2.	Qualidade da conexão</a:t>
            </a:r>
          </a:p>
          <a:p>
            <a:r>
              <a:rPr lang="pt-BR" sz="4400" dirty="0"/>
              <a:t>O usuário tem direito 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conexão estável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qualidade contratada</a:t>
            </a:r>
          </a:p>
          <a:p>
            <a:br>
              <a:rPr lang="pt-BR" sz="4400" dirty="0"/>
            </a:br>
            <a:endParaRPr lang="pt-BR" sz="4400" dirty="0"/>
          </a:p>
          <a:p>
            <a:r>
              <a:rPr lang="pt-BR" sz="4400" b="1" dirty="0"/>
              <a:t>3.	Informações claras</a:t>
            </a:r>
          </a:p>
          <a:p>
            <a:r>
              <a:rPr lang="pt-BR" sz="4400" dirty="0"/>
              <a:t>Empresas devem informar: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como os dados são coletados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como são usados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tempo de armazenamento</a:t>
            </a:r>
          </a:p>
          <a:p>
            <a:endParaRPr lang="pt-BR" sz="4000" dirty="0"/>
          </a:p>
        </p:txBody>
      </p:sp>
      <p:sp>
        <p:nvSpPr>
          <p:cNvPr id="9" name="object 15">
            <a:extLst>
              <a:ext uri="{FF2B5EF4-FFF2-40B4-BE49-F238E27FC236}">
                <a16:creationId xmlns:a16="http://schemas.microsoft.com/office/drawing/2014/main" id="{21DED315-60F3-8969-E87C-00F33A769A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413"/>
            <a:ext cx="12411075" cy="769937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Direitos dos usuários</a:t>
            </a:r>
          </a:p>
        </p:txBody>
      </p:sp>
    </p:spTree>
    <p:extLst>
      <p:ext uri="{BB962C8B-B14F-4D97-AF65-F5344CB8AC3E}">
        <p14:creationId xmlns:p14="http://schemas.microsoft.com/office/powerpoint/2010/main" val="4276317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8185D-22DE-F13A-8410-9BEF29EBC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A6DC3B6-6603-F4FA-C608-3004ED89168F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A7B45F4-6F0F-0DC7-5BFA-7CD3518B07A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52EFE8F-DF17-E205-FEC5-71F190F91E8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FA59687-5CBC-B0A3-D471-908FD207B73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86F576D-84AE-264B-5EBF-E60CF7BBE48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70A6EB-FCD1-DB79-3E51-E1E06BC79348}"/>
              </a:ext>
            </a:extLst>
          </p:cNvPr>
          <p:cNvSpPr txBox="1"/>
          <p:nvPr/>
        </p:nvSpPr>
        <p:spPr>
          <a:xfrm>
            <a:off x="1441450" y="2824321"/>
            <a:ext cx="1538355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4.	Exclusão de dados</a:t>
            </a:r>
          </a:p>
          <a:p>
            <a:endParaRPr lang="pt-BR" sz="4400" b="1" dirty="0"/>
          </a:p>
          <a:p>
            <a:r>
              <a:rPr lang="pt-BR" sz="4400" dirty="0"/>
              <a:t>O usuário pode solicitar:</a:t>
            </a:r>
          </a:p>
          <a:p>
            <a:endParaRPr lang="pt-BR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remoção de informações pessoais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exclusão de dados após cancelamento do serviço</a:t>
            </a:r>
          </a:p>
          <a:p>
            <a:endParaRPr lang="pt-BR" sz="4000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E7203A7D-A04E-F49C-EAF4-20C0F5BDCA73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>
                <a:latin typeface="Montserrat ExtraBold"/>
                <a:cs typeface="Montserrat ExtraBold"/>
              </a:rPr>
              <a:t>Direitos dos usuários</a:t>
            </a:r>
            <a:endParaRPr lang="pt-BR" sz="4950" b="1" kern="0" spc="-15" dirty="0">
              <a:latin typeface="Montserrat ExtraBold"/>
              <a:cs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210816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B85CE-7334-A4F6-2827-A464B3C8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E8F7B1E-5B20-C7FD-044A-38954A0519B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3100B8E-C747-1AB8-2C3C-1D707F3D5AD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A7178C3-5134-BAF4-A2B5-77E3BCD3638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390C87E-074C-8850-FFFC-3843B6A4A32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FD15BFB-04D2-244F-F22D-6AECF030A22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DBA666F-C272-AC0F-9CAD-2E3754B39B41}"/>
              </a:ext>
            </a:extLst>
          </p:cNvPr>
          <p:cNvSpPr txBox="1"/>
          <p:nvPr/>
        </p:nvSpPr>
        <p:spPr>
          <a:xfrm>
            <a:off x="1441450" y="2824321"/>
            <a:ext cx="1538355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Empresas que fornecem internet devem:</a:t>
            </a:r>
          </a:p>
          <a:p>
            <a:endParaRPr lang="pt-BR" sz="44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manter registros de conexão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garantir segurança dos dados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cumprir decisões judiciais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respeitar neutralidade da rede</a:t>
            </a:r>
            <a:endParaRPr lang="pt-BR" sz="4000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0A339CDC-E918-BDAA-5779-A84B30402A28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Deveres dos provedores de internet</a:t>
            </a:r>
          </a:p>
        </p:txBody>
      </p:sp>
    </p:spTree>
    <p:extLst>
      <p:ext uri="{BB962C8B-B14F-4D97-AF65-F5344CB8AC3E}">
        <p14:creationId xmlns:p14="http://schemas.microsoft.com/office/powerpoint/2010/main" val="4195640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6BCD9-756D-CE97-836E-4CB8F13DE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08F0A05-4AE6-5A77-AE41-0E9067AB42F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EFB0D2E-992A-3A4B-72CA-CA6553923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05A5DE1-B2F1-B83A-0B8A-F5C8F33C8B8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619CDA1-391D-B6F4-7961-2ADE3BFEF51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499E226-76DB-FC39-FAF5-5F857B84747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411498-C1D9-735B-FF83-7AE5CB5F7660}"/>
              </a:ext>
            </a:extLst>
          </p:cNvPr>
          <p:cNvSpPr txBox="1"/>
          <p:nvPr/>
        </p:nvSpPr>
        <p:spPr>
          <a:xfrm>
            <a:off x="1441450" y="2824321"/>
            <a:ext cx="15383559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A lei define dois tipos de registros.</a:t>
            </a:r>
          </a:p>
          <a:p>
            <a:endParaRPr lang="pt-BR" sz="4400" b="1" dirty="0"/>
          </a:p>
          <a:p>
            <a:r>
              <a:rPr lang="pt-BR" sz="4400" b="1" dirty="0"/>
              <a:t>Registro de conexão</a:t>
            </a:r>
          </a:p>
          <a:p>
            <a:r>
              <a:rPr lang="pt-BR" sz="4400" dirty="0"/>
              <a:t>São informações sobre: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IP utilizado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data e hora da conexão</a:t>
            </a:r>
          </a:p>
          <a:p>
            <a:endParaRPr lang="pt-BR" sz="4400" dirty="0"/>
          </a:p>
          <a:p>
            <a:r>
              <a:rPr lang="pt-BR" sz="4400" b="1" dirty="0"/>
              <a:t>Quem guarda: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provedores de internet</a:t>
            </a:r>
          </a:p>
          <a:p>
            <a:endParaRPr lang="pt-BR" sz="4400" dirty="0"/>
          </a:p>
          <a:p>
            <a:r>
              <a:rPr lang="pt-BR" sz="4400" dirty="0"/>
              <a:t>Tempo de armazenamento: </a:t>
            </a:r>
            <a:r>
              <a:rPr lang="pt-BR" sz="4400" b="1" dirty="0"/>
              <a:t>1 ANO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9F8CD599-E7BD-D5C7-A08E-C8268B4F2865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Registros de conexão e acesso</a:t>
            </a:r>
          </a:p>
        </p:txBody>
      </p:sp>
    </p:spTree>
    <p:extLst>
      <p:ext uri="{BB962C8B-B14F-4D97-AF65-F5344CB8AC3E}">
        <p14:creationId xmlns:p14="http://schemas.microsoft.com/office/powerpoint/2010/main" val="3664547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77769-3042-C33F-9449-BFA6EEFC5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2AFBF5A-EC16-E582-0ABB-7683589160E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A3B9AA8-391C-A0E2-00D5-D1064F66717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565D9C7-5C2B-8C9D-1C07-4F095274C7C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21527A9-5BDC-67A9-681D-A88703DD112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97607A5-4092-B528-366D-0E0AEF2D3FA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B46BE62-370D-DB5D-47FF-59F0B7286F76}"/>
              </a:ext>
            </a:extLst>
          </p:cNvPr>
          <p:cNvSpPr txBox="1"/>
          <p:nvPr/>
        </p:nvSpPr>
        <p:spPr>
          <a:xfrm>
            <a:off x="1441450" y="2824321"/>
            <a:ext cx="15383559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Registro de acesso a aplicações</a:t>
            </a:r>
          </a:p>
          <a:p>
            <a:r>
              <a:rPr lang="pt-BR" sz="4000" dirty="0"/>
              <a:t>São registros de acesso 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sites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plataformas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aplicativos</a:t>
            </a:r>
          </a:p>
          <a:p>
            <a:endParaRPr lang="pt-BR" sz="4000" dirty="0"/>
          </a:p>
          <a:p>
            <a:r>
              <a:rPr lang="pt-BR" sz="4000" b="1" dirty="0"/>
              <a:t>Exemplos: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Instagram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Facebook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YouTube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b="1" dirty="0"/>
              <a:t>Quem guarda:</a:t>
            </a:r>
          </a:p>
          <a:p>
            <a:r>
              <a:rPr lang="pt-BR" sz="4000" dirty="0"/>
              <a:t>provedores de aplicações, tempo de armazenamento: </a:t>
            </a:r>
            <a:r>
              <a:rPr lang="pt-BR" sz="4000" b="1" dirty="0"/>
              <a:t>6 MESES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1277B25B-222D-01EC-A227-FA88660B80DE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Registros de conexão e acesso</a:t>
            </a:r>
          </a:p>
        </p:txBody>
      </p:sp>
    </p:spTree>
    <p:extLst>
      <p:ext uri="{BB962C8B-B14F-4D97-AF65-F5344CB8AC3E}">
        <p14:creationId xmlns:p14="http://schemas.microsoft.com/office/powerpoint/2010/main" val="737549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B5C16-795B-30DA-20BF-4D6C5604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A6669FB-F2BA-95F6-AA5D-9CA93DEFAC4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C5E5624-5967-07BD-58E1-9B56E6E13FF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277334E-4D9B-0CF0-4D9B-6449C0F2E02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FEA4EA4-6BEC-C9AB-3224-51491716D23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8BDEA8F-8FC3-B7D0-F76D-C125C60E738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611AFF2-ECC5-14B9-0DA0-0795CCAEC126}"/>
              </a:ext>
            </a:extLst>
          </p:cNvPr>
          <p:cNvSpPr txBox="1"/>
          <p:nvPr/>
        </p:nvSpPr>
        <p:spPr>
          <a:xfrm>
            <a:off x="1441450" y="2824321"/>
            <a:ext cx="15383559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Antes do Marco Civil havia dúvidas sobre </a:t>
            </a:r>
            <a:r>
              <a:rPr lang="pt-BR" sz="4000" b="1" dirty="0"/>
              <a:t>quem era responsável por conteúdos publicados.</a:t>
            </a:r>
          </a:p>
          <a:p>
            <a:endParaRPr lang="pt-BR" sz="4000" dirty="0"/>
          </a:p>
          <a:p>
            <a:r>
              <a:rPr lang="pt-BR" sz="4000" dirty="0"/>
              <a:t>A lei define: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plataformas </a:t>
            </a:r>
            <a:r>
              <a:rPr lang="pt-BR" sz="4000" b="1" dirty="0"/>
              <a:t>não são responsáveis automaticamente </a:t>
            </a:r>
            <a:r>
              <a:rPr lang="pt-BR" sz="4000" dirty="0"/>
              <a:t>pelo conteúdo dos usuários.</a:t>
            </a:r>
          </a:p>
          <a:p>
            <a:endParaRPr lang="pt-BR" sz="4000" dirty="0"/>
          </a:p>
          <a:p>
            <a:r>
              <a:rPr lang="pt-BR" sz="4000" dirty="0"/>
              <a:t>Elas só são obrigadas a remover conteúdo quando: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houver </a:t>
            </a:r>
            <a:r>
              <a:rPr lang="pt-BR" sz="4000" b="1" dirty="0"/>
              <a:t>ordem judicial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3F4EFE53-8F04-C735-13E0-A495A8DE6990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Responsabilidade de sites e redes sociais</a:t>
            </a:r>
          </a:p>
        </p:txBody>
      </p:sp>
    </p:spTree>
    <p:extLst>
      <p:ext uri="{BB962C8B-B14F-4D97-AF65-F5344CB8AC3E}">
        <p14:creationId xmlns:p14="http://schemas.microsoft.com/office/powerpoint/2010/main" val="2555430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121BE-F5B4-74B6-96E4-3042875B5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4F0785C-751D-B0F8-6567-8E0CDCF106D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BAB8436-2A88-57EA-E804-38630662B9D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A16EBC-6BB5-9E51-BD49-A02CA3C1486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983AAC6-ACAE-1485-28FE-FB03459EC46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72CFF79-30E3-98CB-B4C2-A9186DF86B9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49321CD-E58A-C2DB-554F-2055D3E0101A}"/>
              </a:ext>
            </a:extLst>
          </p:cNvPr>
          <p:cNvSpPr txBox="1"/>
          <p:nvPr/>
        </p:nvSpPr>
        <p:spPr>
          <a:xfrm>
            <a:off x="1441450" y="2824321"/>
            <a:ext cx="1538355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Exemplo:</a:t>
            </a:r>
          </a:p>
          <a:p>
            <a:endParaRPr lang="pt-BR" sz="4000" dirty="0"/>
          </a:p>
          <a:p>
            <a:r>
              <a:rPr lang="pt-BR" sz="4000" dirty="0"/>
              <a:t>	Se alguém publica algo ilegal em uma rede social, a plataforma só precisa remover o conteúdo quando: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um juiz determinar.</a:t>
            </a:r>
            <a:endParaRPr lang="pt-BR" sz="4000" b="1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C47BA3DE-DBD0-92D9-0B59-310A047BCEA5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Responsabilidade de sites e redes sociais</a:t>
            </a:r>
          </a:p>
        </p:txBody>
      </p:sp>
    </p:spTree>
    <p:extLst>
      <p:ext uri="{BB962C8B-B14F-4D97-AF65-F5344CB8AC3E}">
        <p14:creationId xmlns:p14="http://schemas.microsoft.com/office/powerpoint/2010/main" val="1233094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C7D5A-C65B-5BE4-1BE3-722FB78F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673F38B-49ED-4079-4866-C68A54AE02C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5171133-9D84-94A9-6C0F-6551D973ED4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0419967-6B2F-F8A8-DC00-791CF8AD854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ECF9F9F-F4AF-2911-84C2-573C95CD39D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421C094-00A7-777C-497F-B0BFD765A68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1A56AE-10FC-D803-166F-21F2A8E8A3BE}"/>
              </a:ext>
            </a:extLst>
          </p:cNvPr>
          <p:cNvSpPr txBox="1"/>
          <p:nvPr/>
        </p:nvSpPr>
        <p:spPr>
          <a:xfrm>
            <a:off x="1441450" y="2824321"/>
            <a:ext cx="15383559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Exceção: conteúdo íntimo</a:t>
            </a:r>
          </a:p>
          <a:p>
            <a:endParaRPr lang="pt-BR" sz="4000" dirty="0"/>
          </a:p>
          <a:p>
            <a:r>
              <a:rPr lang="pt-BR" sz="4000" dirty="0"/>
              <a:t>Existe uma exceção importante.</a:t>
            </a:r>
          </a:p>
          <a:p>
            <a:endParaRPr lang="pt-BR" sz="4000" dirty="0"/>
          </a:p>
          <a:p>
            <a:r>
              <a:rPr lang="pt-BR" sz="4000" dirty="0"/>
              <a:t>Quando ocorre divulgação de: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fotos íntimas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vídeos íntimos</a:t>
            </a:r>
          </a:p>
          <a:p>
            <a:endParaRPr lang="pt-BR" sz="4000" dirty="0"/>
          </a:p>
          <a:p>
            <a:r>
              <a:rPr lang="pt-BR" sz="4000" dirty="0"/>
              <a:t>A plataforma </a:t>
            </a:r>
            <a:r>
              <a:rPr lang="pt-BR" sz="4000" b="1" dirty="0"/>
              <a:t>deve remover mesmo sem ordem judicial</a:t>
            </a:r>
            <a:r>
              <a:rPr lang="pt-BR" sz="4000" dirty="0"/>
              <a:t>, se a vítima solicitar.</a:t>
            </a:r>
          </a:p>
          <a:p>
            <a:endParaRPr lang="pt-BR" sz="4000" dirty="0"/>
          </a:p>
          <a:p>
            <a:r>
              <a:rPr lang="pt-BR" sz="4000" dirty="0"/>
              <a:t>Isso combate o chamado:</a:t>
            </a:r>
          </a:p>
          <a:p>
            <a:r>
              <a:rPr lang="pt-BR" sz="4000" b="1" dirty="0"/>
              <a:t>Exposição de vingança.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77213E0D-E40B-67BF-4D37-C514137C5325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Responsabilidade de sites e redes sociais</a:t>
            </a:r>
          </a:p>
        </p:txBody>
      </p:sp>
    </p:spTree>
    <p:extLst>
      <p:ext uri="{BB962C8B-B14F-4D97-AF65-F5344CB8AC3E}">
        <p14:creationId xmlns:p14="http://schemas.microsoft.com/office/powerpoint/2010/main" val="1916873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8E6A8-97AD-1E37-7130-733732088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F85AF46-5160-F03C-EEC7-3BAFF7E79E0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4BBE374-EBD2-DF45-BE85-57033E3BEE8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D388164-00B0-071E-5475-BCF3DB421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8DC75E3-4454-88AF-85BC-CDABB3E0934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4FDF2D8-5D7D-2C3B-C68F-10CC2774858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8E3241-D519-F121-7ED0-5DF5AA1B2D05}"/>
              </a:ext>
            </a:extLst>
          </p:cNvPr>
          <p:cNvSpPr txBox="1"/>
          <p:nvPr/>
        </p:nvSpPr>
        <p:spPr>
          <a:xfrm>
            <a:off x="1441450" y="2824321"/>
            <a:ext cx="153835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Marco Civil é considerado uma das legislações </a:t>
            </a:r>
            <a:r>
              <a:rPr lang="pt-BR" sz="4000" b="1" dirty="0"/>
              <a:t>mais avançadas do mundo sobre internet</a:t>
            </a:r>
            <a:r>
              <a:rPr lang="pt-BR" sz="4000" dirty="0"/>
              <a:t>.</a:t>
            </a:r>
          </a:p>
          <a:p>
            <a:endParaRPr lang="pt-BR" sz="4000" b="1" dirty="0"/>
          </a:p>
          <a:p>
            <a:r>
              <a:rPr lang="pt-BR" sz="4000" dirty="0"/>
              <a:t>Ele garante: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direitos digitais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proteção ao usuário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regras para empresas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governança da internet</a:t>
            </a:r>
          </a:p>
          <a:p>
            <a:endParaRPr lang="pt-BR" sz="4000" b="1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5EFC1A32-8833-52E3-7B75-CD43A3E32384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Importância do Marco Civil</a:t>
            </a:r>
          </a:p>
        </p:txBody>
      </p:sp>
    </p:spTree>
    <p:extLst>
      <p:ext uri="{BB962C8B-B14F-4D97-AF65-F5344CB8AC3E}">
        <p14:creationId xmlns:p14="http://schemas.microsoft.com/office/powerpoint/2010/main" val="29056693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32CA9-F3BD-A27D-CA9E-9C9A2E382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976F92B-268E-0383-37B2-C0124B9317D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DF14CA7-E194-9E69-BC77-2A4F7536D05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EB68C84-02AB-D3EB-18D1-40A117612E8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39E1733-091E-F444-1795-9757A19F20F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DC91CA3-30E5-1ABC-67A7-DD5A03A9BED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90FF9A1-CC8D-5275-175B-4B08498AF5C6}"/>
              </a:ext>
            </a:extLst>
          </p:cNvPr>
          <p:cNvSpPr txBox="1"/>
          <p:nvPr/>
        </p:nvSpPr>
        <p:spPr>
          <a:xfrm>
            <a:off x="1441450" y="2824321"/>
            <a:ext cx="15383559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Marco Civil se conecta com outras legislações importantes.</a:t>
            </a:r>
          </a:p>
          <a:p>
            <a:endParaRPr lang="pt-BR" sz="4000" b="1" dirty="0"/>
          </a:p>
          <a:p>
            <a:r>
              <a:rPr lang="pt-BR" sz="4000" b="1" dirty="0"/>
              <a:t>Lei Carolina Dieckmann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Lei nº 12.737/2012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Define crimes informáticos como invasão de dispositivos e violação de mecanismo de segurança.</a:t>
            </a:r>
          </a:p>
          <a:p>
            <a:endParaRPr lang="pt-BR" sz="4000" dirty="0"/>
          </a:p>
          <a:p>
            <a:r>
              <a:rPr lang="pt-BR" sz="4000" b="1" dirty="0"/>
              <a:t>LGPD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Lei Geral de Proteção de Dados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Regula coleta e tratamento de dados pessoais.</a:t>
            </a:r>
          </a:p>
          <a:p>
            <a:endParaRPr lang="pt-BR" sz="4000" dirty="0"/>
          </a:p>
          <a:p>
            <a:endParaRPr lang="pt-BR" sz="4000" b="1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24299D8D-A63E-B79C-F940-D5C53DA069B3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Importância do Marco Civil</a:t>
            </a:r>
          </a:p>
        </p:txBody>
      </p:sp>
    </p:spTree>
    <p:extLst>
      <p:ext uri="{BB962C8B-B14F-4D97-AF65-F5344CB8AC3E}">
        <p14:creationId xmlns:p14="http://schemas.microsoft.com/office/powerpoint/2010/main" val="3961411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85F3F-E1E3-5D16-5D6E-5CC9605F8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43ADE79-F050-021A-8B14-763CD2C090B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D0BBE78-9405-93AC-0146-17D920908E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7A93BC5-46D4-CFB9-C169-F4A21E62EA2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1B8979A-ADDF-0A43-13C2-0EA3D0710B9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FEABA7E-BFBA-E6F4-9797-C90342AEFBE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BBDE9B0-3E27-514A-0F03-37FF0F99FF69}"/>
              </a:ext>
            </a:extLst>
          </p:cNvPr>
          <p:cNvSpPr txBox="1"/>
          <p:nvPr/>
        </p:nvSpPr>
        <p:spPr>
          <a:xfrm>
            <a:off x="1441450" y="2824321"/>
            <a:ext cx="15383559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Exemplo 1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/>
              <a:t>Uma operadora bloqueia acesso ao WhatsApp.</a:t>
            </a:r>
          </a:p>
          <a:p>
            <a:endParaRPr lang="pt-BR" sz="3600" dirty="0"/>
          </a:p>
          <a:p>
            <a:r>
              <a:rPr lang="pt-BR" sz="3600" dirty="0"/>
              <a:t> </a:t>
            </a:r>
            <a:r>
              <a:rPr lang="pt-BR" sz="3600" dirty="0">
                <a:solidFill>
                  <a:srgbClr val="FF0000"/>
                </a:solidFill>
              </a:rPr>
              <a:t>Isso viola o princípio da neutralidade da rede.</a:t>
            </a:r>
          </a:p>
          <a:p>
            <a:endParaRPr lang="pt-BR" sz="3600" b="1" dirty="0"/>
          </a:p>
          <a:p>
            <a:r>
              <a:rPr lang="pt-BR" sz="3600" b="1" dirty="0"/>
              <a:t>Exemplo 2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/>
              <a:t>Um site publica dados pessoais sem autorização.</a:t>
            </a:r>
          </a:p>
          <a:p>
            <a:endParaRPr lang="pt-BR" sz="3600" dirty="0"/>
          </a:p>
          <a:p>
            <a:r>
              <a:rPr lang="pt-BR" sz="3600" dirty="0">
                <a:solidFill>
                  <a:srgbClr val="FF0000"/>
                </a:solidFill>
              </a:rPr>
              <a:t>Viola o direito à privacidade.</a:t>
            </a:r>
          </a:p>
          <a:p>
            <a:endParaRPr lang="pt-BR" sz="3600" dirty="0"/>
          </a:p>
          <a:p>
            <a:r>
              <a:rPr lang="pt-BR" sz="3600" b="1" dirty="0"/>
              <a:t>Exemplo 3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/>
              <a:t>Um juiz pede identificação de um usuário.</a:t>
            </a:r>
          </a:p>
          <a:p>
            <a:endParaRPr lang="pt-BR" sz="3600" dirty="0">
              <a:solidFill>
                <a:srgbClr val="FF0000"/>
              </a:solidFill>
            </a:endParaRPr>
          </a:p>
          <a:p>
            <a:r>
              <a:rPr lang="pt-BR" sz="3600" dirty="0">
                <a:solidFill>
                  <a:srgbClr val="FF0000"/>
                </a:solidFill>
              </a:rPr>
              <a:t>O provedor pode fornecer registro de IP.</a:t>
            </a:r>
          </a:p>
          <a:p>
            <a:endParaRPr lang="pt-BR" sz="3600" b="1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2981B9E1-71FB-9D12-5D9D-75EAFAC130D2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Exemplos práticos:</a:t>
            </a:r>
          </a:p>
        </p:txBody>
      </p:sp>
    </p:spTree>
    <p:extLst>
      <p:ext uri="{BB962C8B-B14F-4D97-AF65-F5344CB8AC3E}">
        <p14:creationId xmlns:p14="http://schemas.microsoft.com/office/powerpoint/2010/main" val="435027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879C9-A5C3-D4CD-54C6-428503531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4A5DA42-6083-9ED3-F7BF-85BAD73587E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FC8329B-166D-0E8B-CAD9-9C9676CFEB1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202032C-6803-FA95-15D6-F3709D2E7B7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F6C3985-9F70-6A97-DB5F-CFEB37DA5F9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563C01E-7326-5FF7-4424-39F01040FD0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26042AB-51A0-4A52-0C60-E432FA741559}"/>
              </a:ext>
            </a:extLst>
          </p:cNvPr>
          <p:cNvSpPr txBox="1"/>
          <p:nvPr/>
        </p:nvSpPr>
        <p:spPr>
          <a:xfrm>
            <a:off x="1441450" y="2824321"/>
            <a:ext cx="153835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Apesar de avançado, existem críticas.</a:t>
            </a:r>
          </a:p>
          <a:p>
            <a:endParaRPr lang="pt-BR" sz="4000" b="1" dirty="0"/>
          </a:p>
          <a:p>
            <a:r>
              <a:rPr lang="pt-BR" sz="4000" b="1" dirty="0"/>
              <a:t>Demora em remoções</a:t>
            </a:r>
          </a:p>
          <a:p>
            <a:endParaRPr lang="pt-BR" sz="4000" b="1" dirty="0"/>
          </a:p>
          <a:p>
            <a:r>
              <a:rPr lang="pt-BR" sz="4000" dirty="0"/>
              <a:t>	Como depende de ordem judicial, conteúdos ilegais podem permanecer online por mais tempo.</a:t>
            </a:r>
          </a:p>
          <a:p>
            <a:endParaRPr lang="pt-BR" sz="4000" b="1" dirty="0"/>
          </a:p>
          <a:p>
            <a:r>
              <a:rPr lang="pt-BR" sz="4000" b="1" dirty="0"/>
              <a:t>Dificuldade em identificar usuários</a:t>
            </a:r>
          </a:p>
          <a:p>
            <a:endParaRPr lang="pt-BR" sz="4000" b="1" dirty="0"/>
          </a:p>
          <a:p>
            <a:r>
              <a:rPr lang="pt-BR" sz="4000" dirty="0"/>
              <a:t>	Alguns crimes virtuais são difíceis de rastrear</a:t>
            </a:r>
            <a:r>
              <a:rPr lang="pt-BR" sz="4000" b="1" dirty="0"/>
              <a:t>.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0E7BCB61-6607-5647-0FC9-B0469F9191C6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Críticas ao Marco Civil</a:t>
            </a:r>
          </a:p>
        </p:txBody>
      </p:sp>
    </p:spTree>
    <p:extLst>
      <p:ext uri="{BB962C8B-B14F-4D97-AF65-F5344CB8AC3E}">
        <p14:creationId xmlns:p14="http://schemas.microsoft.com/office/powerpoint/2010/main" val="32610445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6393C-B0BB-B15D-352E-74BD04037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0DAAFD1E-16A2-F748-D2B7-79AA1D42156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7DA5119-9771-8C70-2C52-33C27997E6E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4DAF9F1-CE1A-6E07-E753-AB4ED5CFD58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E04542A-81E2-8711-F08B-82EF6CEE81A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B1AE6C7-5EE2-E10B-6F64-9F8F933F503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E280585-85AC-C65A-976F-98E7FDC042A9}"/>
              </a:ext>
            </a:extLst>
          </p:cNvPr>
          <p:cNvSpPr txBox="1"/>
          <p:nvPr/>
        </p:nvSpPr>
        <p:spPr>
          <a:xfrm>
            <a:off x="1441450" y="2824321"/>
            <a:ext cx="1538355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Marco Civil possui </a:t>
            </a:r>
            <a:r>
              <a:rPr lang="pt-BR" sz="4000" b="1" dirty="0"/>
              <a:t>32 artigos</a:t>
            </a:r>
            <a:r>
              <a:rPr lang="pt-BR" sz="4000" dirty="0"/>
              <a:t>, divididos em:</a:t>
            </a:r>
          </a:p>
          <a:p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 Disposições preliminares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 Direitos e garantias dos usuários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 Provisão de conexão e aplicações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 Atuação do poder público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2712E713-E585-9E78-831C-21A8833318E3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Estrutura da Lei</a:t>
            </a:r>
          </a:p>
        </p:txBody>
      </p:sp>
    </p:spTree>
    <p:extLst>
      <p:ext uri="{BB962C8B-B14F-4D97-AF65-F5344CB8AC3E}">
        <p14:creationId xmlns:p14="http://schemas.microsoft.com/office/powerpoint/2010/main" val="28369606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78F0-38FB-7231-E22A-4373EFD98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1BF7B5A-5E19-7D74-94B8-C9CCACCA7AE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C45BE43-FA50-3622-C74B-E5D90D2CD2C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11FF65D-79C6-88CD-AA40-FF0EEA394FA9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82F9FEC-E822-F59B-0761-6589BA002A8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F87F5B4-AE3C-4AE5-5400-B257B0DE6A0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83E01D9-6DE6-C70D-5C4C-B875D3360A1B}"/>
              </a:ext>
            </a:extLst>
          </p:cNvPr>
          <p:cNvSpPr txBox="1"/>
          <p:nvPr/>
        </p:nvSpPr>
        <p:spPr>
          <a:xfrm>
            <a:off x="1441450" y="2824321"/>
            <a:ext cx="1538355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Marco Civil da Internet representa um </a:t>
            </a:r>
            <a:r>
              <a:rPr lang="pt-BR" sz="4000" b="1" dirty="0"/>
              <a:t>marco jurídico importante para a internet no Brasil.</a:t>
            </a:r>
          </a:p>
          <a:p>
            <a:endParaRPr lang="pt-BR" sz="4000" dirty="0"/>
          </a:p>
          <a:p>
            <a:r>
              <a:rPr lang="pt-BR" sz="4000" dirty="0"/>
              <a:t>Ele garante: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liberdade digital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proteção de dados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neutralidade da rede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responsabilidade equilibrada entre usuários e empresas</a:t>
            </a:r>
          </a:p>
          <a:p>
            <a:endParaRPr lang="pt-BR" sz="4000" dirty="0"/>
          </a:p>
          <a:p>
            <a:r>
              <a:rPr lang="pt-BR" sz="4000" dirty="0"/>
              <a:t>Com ele, a internet brasileira passou a ter </a:t>
            </a:r>
            <a:r>
              <a:rPr lang="pt-BR" sz="4000" b="1" dirty="0"/>
              <a:t>regras claras de funcionamento.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C6029FE2-C1AE-9FD5-40FC-65751F39542A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32283010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2C79-876F-8BCA-8D12-D4F2BB5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6EDED2-0AD8-D73E-BC33-370CE9C79306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39B7059-B4B7-9ECD-2145-F7DFA1EA78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ABEB08A-CD28-43C9-F728-778EA0AABA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0737E5-88E5-8F78-242C-022CD77A1A1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F994BF1-8081-4507-FD5B-0E9BB55D8CB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9E71D00-A664-C3A1-DA05-4B69D01118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9EFEC6E-DDF2-7E10-1169-9F07853EAE6B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719C9A4-E42E-69F2-D740-79E7D7ADBD8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A164F6C-03AF-82A0-4C7B-26442C3A01F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9D6A4D-9ED2-966D-3FD1-B1B805747483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9F371D6-36D1-3827-583E-CBD46FEDFB93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2F8A60A-F880-F79B-755A-EB3916E6E3E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9F4AF6B-F234-2BEF-E2B2-B5F70D04D28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9042008-CE9E-E81A-36F6-BDC7772B615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4688A5F-9ED1-9D6D-21F4-25FFDFC9B303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66C110C-C67B-CFE0-EC27-6CCED0C9DD9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A8FB3BC-B7E2-5B39-1DA2-C46B7ED68467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B0EEDBD-B5DD-BAA2-8D78-6036AA1F45A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9087C3B-E86B-C77E-2FF5-036BBB0BCF7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AEF9E9A-09D0-1C78-9449-DFB0E474D1D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254855F-55DD-DB07-69CC-56914308DBB2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567B985-9066-3F15-080A-9147D2EE62D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399721C-0FD9-EF7D-A065-A2B7003B775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1DA38DD-6CE2-DE52-ED39-B8F197E5464B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41B397A-B5A8-7F96-A82A-3933C02F6CA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6EF9F64-01FD-1D6C-90DA-D0703DEB01C1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8D5B3B6-92A0-14F5-CD14-58213C224CC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0C933A4-FBDB-BBEA-952C-F431EC0685BE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E30F71D-003E-8A31-2CAC-C1B290C3B8BA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110D9E37-6F63-5769-0ADC-03A5570B1F19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CD99148-6146-CDF9-7BCD-118E4B068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Dúvidas?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42" name="Picture 2" descr="Pulp Fiction Travolta GIFs - Find &amp; Share on GIPHY">
            <a:extLst>
              <a:ext uri="{FF2B5EF4-FFF2-40B4-BE49-F238E27FC236}">
                <a16:creationId xmlns:a16="http://schemas.microsoft.com/office/drawing/2014/main" id="{0F93ECCB-FC30-C590-CEF8-40F96FEB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396" y="3766122"/>
            <a:ext cx="11513308" cy="575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66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D1E2450D2CCF4B94B30D13213EC305" ma:contentTypeVersion="14" ma:contentTypeDescription="Crie um novo documento." ma:contentTypeScope="" ma:versionID="80af2ae99a390bb8f99db6a6f71dbd11">
  <xsd:schema xmlns:xsd="http://www.w3.org/2001/XMLSchema" xmlns:xs="http://www.w3.org/2001/XMLSchema" xmlns:p="http://schemas.microsoft.com/office/2006/metadata/properties" xmlns:ns3="e2750cde-43d6-4eda-a582-fdf0d091b109" xmlns:ns4="b37a9e9f-dabd-4ec4-96f1-5ea18684f50e" targetNamespace="http://schemas.microsoft.com/office/2006/metadata/properties" ma:root="true" ma:fieldsID="2dc6d4c45140fd29241634ff7e109878" ns3:_="" ns4:_="">
    <xsd:import namespace="e2750cde-43d6-4eda-a582-fdf0d091b109"/>
    <xsd:import namespace="b37a9e9f-dabd-4ec4-96f1-5ea18684f5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50cde-43d6-4eda-a582-fdf0d091b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a9e9f-dabd-4ec4-96f1-5ea18684f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A42D19-56A1-4D0B-AB84-67451006DC5A}">
  <ds:schemaRefs>
    <ds:schemaRef ds:uri="http://purl.org/dc/elements/1.1/"/>
    <ds:schemaRef ds:uri="http://schemas.microsoft.com/office/2006/metadata/properties"/>
    <ds:schemaRef ds:uri="b37a9e9f-dabd-4ec4-96f1-5ea18684f50e"/>
    <ds:schemaRef ds:uri="http://purl.org/dc/terms/"/>
    <ds:schemaRef ds:uri="http://schemas.openxmlformats.org/package/2006/metadata/core-properties"/>
    <ds:schemaRef ds:uri="e2750cde-43d6-4eda-a582-fdf0d091b10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1169B78-FDA6-4A96-82D9-CDF50108C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750cde-43d6-4eda-a582-fdf0d091b109"/>
    <ds:schemaRef ds:uri="b37a9e9f-dabd-4ec4-96f1-5ea18684f5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4426</TotalTime>
  <Words>5859</Words>
  <Application>Microsoft Office PowerPoint</Application>
  <PresentationFormat>Personalizar</PresentationFormat>
  <Paragraphs>382</Paragraphs>
  <Slides>30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6" baseType="lpstr">
      <vt:lpstr>Montserrat Light</vt:lpstr>
      <vt:lpstr>Montserrat</vt:lpstr>
      <vt:lpstr>Montserrat ExtraBold</vt:lpstr>
      <vt:lpstr>Calibri</vt:lpstr>
      <vt:lpstr>Arial</vt:lpstr>
      <vt:lpstr>Office Theme</vt:lpstr>
      <vt:lpstr>Apresentação do PowerPoint</vt:lpstr>
      <vt:lpstr>Objetivo </vt:lpstr>
      <vt:lpstr>O que é uma imagem digital?</vt:lpstr>
      <vt:lpstr>O que é um Pixel?</vt:lpstr>
      <vt:lpstr>Exemplos </vt:lpstr>
      <vt:lpstr>Resolução</vt:lpstr>
      <vt:lpstr>Resolução</vt:lpstr>
      <vt:lpstr>Comparação</vt:lpstr>
      <vt:lpstr>Objetivos do Marco Civil</vt:lpstr>
      <vt:lpstr>Princípios do Marco Civil</vt:lpstr>
      <vt:lpstr>Princípios do Marco Civil</vt:lpstr>
      <vt:lpstr>Princípios do Marco Civil</vt:lpstr>
      <vt:lpstr>Princípios do Marco Civil</vt:lpstr>
      <vt:lpstr>Princípios do Marco Civil</vt:lpstr>
      <vt:lpstr>Direitos dos usuários</vt:lpstr>
      <vt:lpstr>Direitos dos usuários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Dúvidas?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Luis Fernando Spoljaric</cp:lastModifiedBy>
  <cp:revision>546</cp:revision>
  <cp:lastPrinted>2025-02-13T13:17:19Z</cp:lastPrinted>
  <dcterms:created xsi:type="dcterms:W3CDTF">2021-08-24T16:20:14Z</dcterms:created>
  <dcterms:modified xsi:type="dcterms:W3CDTF">2026-08-05T19:57:21Z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0x010100A0D1E2450D2CCF4B94B30D13213EC305</vt:lpwstr>
  </property>
</Properties>
</file>