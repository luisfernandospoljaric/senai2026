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30"/>
  </p:notesMasterIdLst>
  <p:sldIdLst>
    <p:sldId id="278" r:id="rId5"/>
    <p:sldId id="282" r:id="rId6"/>
    <p:sldId id="1351" r:id="rId7"/>
    <p:sldId id="1385" r:id="rId8"/>
    <p:sldId id="1386" r:id="rId9"/>
    <p:sldId id="1387" r:id="rId10"/>
    <p:sldId id="1436" r:id="rId11"/>
    <p:sldId id="1437" r:id="rId12"/>
    <p:sldId id="1438" r:id="rId13"/>
    <p:sldId id="1439" r:id="rId14"/>
    <p:sldId id="1440" r:id="rId15"/>
    <p:sldId id="1441" r:id="rId16"/>
    <p:sldId id="1442" r:id="rId17"/>
    <p:sldId id="1443" r:id="rId18"/>
    <p:sldId id="1444" r:id="rId19"/>
    <p:sldId id="1445" r:id="rId20"/>
    <p:sldId id="1446" r:id="rId21"/>
    <p:sldId id="1447" r:id="rId22"/>
    <p:sldId id="1448" r:id="rId23"/>
    <p:sldId id="1449" r:id="rId24"/>
    <p:sldId id="1450" r:id="rId25"/>
    <p:sldId id="1451" r:id="rId26"/>
    <p:sldId id="1376" r:id="rId27"/>
    <p:sldId id="1452" r:id="rId28"/>
    <p:sldId id="1383" r:id="rId29"/>
  </p:sldIdLst>
  <p:sldSz cx="20104100" cy="11309350"/>
  <p:notesSz cx="20104100" cy="11309350"/>
  <p:embeddedFontLs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ExtraBold" panose="00000900000000000000" pitchFamily="2" charset="0"/>
      <p:bold r:id="rId35"/>
      <p:boldItalic r:id="rId36"/>
    </p:embeddedFont>
    <p:embeddedFont>
      <p:font typeface="Montserrat Light" panose="00000400000000000000" pitchFamily="2" charset="0"/>
      <p:regular r:id="rId37"/>
      <p:italic r:id="rId3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EF6FA-BA70-1369-FF09-F81A4B97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C157BA-1826-F2AB-4DAF-6E71AE769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C62E8A-199B-85D0-2E55-28106D1BD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D709C3-A5FD-7656-6888-63D3B11E6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816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BDC16-50D5-210D-325A-82917B54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F4468E-9FA7-29E0-ADCE-25065E5E7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314F1AD-7844-E7A3-DB1E-2C67E1A73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DC9432-B102-E7F8-9A34-E7447C641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082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4EB3-BCD9-DCD9-BF92-9DA95591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321A38-59C8-1260-F1BD-82DAE6FFE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A950A0-65F6-D3EF-1193-09A18CAAA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01CB73-96F8-4FF3-7EC3-F88447EB1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855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EBC33-23A2-184C-D228-BD3FD748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C3FA84-ED0B-7230-67D6-5242C37AC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A39162-979A-AE01-7872-2056C8A2D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921B64-6D60-023E-E2BD-60448E66B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996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26FF-722D-DA27-CBB5-5CEEF0AA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5C636A-E650-E98C-E8E3-57471F44B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B83C17-66B2-C4C8-EE1F-5D6848D55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96309F-DB05-AB7E-93B5-5C154CBC5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830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DC65-7C02-C28D-38DD-3DE0EAD8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2662CE-1A97-DE38-A1D7-37BC1D846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02B9C8-7ED9-3EB4-1890-E78105BB1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099CA3-105C-0386-1D6E-3D8AA2DF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332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6525-1B39-546F-F7CF-6C81484B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2BE9C0-D070-D207-F0DF-30F58A207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04E477-7930-F0CA-3177-6C8764673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11DF1E-1DC1-3985-9F4B-93E25A908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543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7B09-8424-F128-D481-EC22B1E7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AC5C7D-1F6D-9E7A-CEFF-26B6F6434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FFC02B-CB9F-9141-30B6-EC610850D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2195E6-903E-A96A-6E65-4A3FE0E73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649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2A7A6-66E7-3E71-7A93-D0E04B7E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8241F9-E534-FB58-4D30-AEB9D559B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773ED2-E001-2014-10A5-31231106B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21F9FC-3F84-39E7-A740-B06AC2823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115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6E14-C264-9298-9107-15A0A58C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2E6EE0-83E6-C45C-33B0-A604E4F1E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FECCE9D-9CA8-7183-AF81-57D76C6CC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962028-72AB-40AA-D9A6-EB335C0EB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7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6ADA-AEB8-4AD9-1DED-8CBA8B9C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E41829-1CFA-DB7A-D44C-2A9A8AFF2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ECFA84-D1F1-AC5A-FCDF-838902DB5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362645-7F06-C088-1BC4-F8FC8D8AC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105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A3176-B07A-04BC-F40F-F5B4EF26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F1B96E-12CD-C636-C306-F4C0DC186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B3AFA6-393C-F0CE-31F0-5466B9886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14C8CB-F4ED-FF1F-CEC9-9EBF5BD7C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80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8CF6-2C1A-DCDA-E871-78F086C8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757F0D-57BE-2DFB-7F39-7A9165C01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465B2F-0085-8D7F-FE51-3B41DD93D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28A015-90D2-619C-82D2-54A27A615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454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9968E-B34F-AF71-5634-D0E742A1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5630F1-EF06-585D-E976-DAEC3EAE4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FFDDB2-E3A5-B575-93CD-14667AAEE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40A5E5-8F7D-F429-2742-8FEC6B50F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004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1FB9-9073-C6A4-EE24-0F287A34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647DA27-FF6D-2ADC-8B68-8FBD831F3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325BC4-909E-B41B-8324-DE9645BCF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3F2F4-6816-E8DD-205B-104D4785E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310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54B14-A955-9CFF-1175-610E70E8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5F6734-83AC-FEDB-DBA6-36B78BCB5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BE2EF8-98F6-1388-4EA9-CD1B28022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9CFFA6-F678-8420-F286-F95CBAD7C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354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6822-FAB8-E4AA-8465-9A611360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F51170-EA8D-A850-B675-D6C6B7E96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B4DDC0-1F00-5DB7-7A02-B1974ED3B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5081A2-6A2D-981B-944B-66E0BA65E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497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4B6A-7437-9C06-EB35-9C7F2A20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C238A8-1280-C866-34A4-6023FC243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71CE0F-7BC2-C805-4477-4D96360A0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9853EA-D3A4-08E3-9A0B-868C74F96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8146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09B5-A575-F5E0-C628-AA90FCEE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990B22-8B77-3DAC-1E1E-8EB4460CF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27050B-6A91-9A8C-2BA6-4919A6F42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2E6AAC-373B-6083-8451-7F9617BBD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66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10692178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Services - </a:t>
            </a:r>
            <a:r>
              <a:rPr lang="pt-BR" sz="6600" b="1" i="1" kern="0" spc="-25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</a:t>
            </a:r>
            <a:endParaRPr lang="pt-BR" sz="6600" b="1" i="1" kern="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 err="1">
                <a:solidFill>
                  <a:srgbClr val="F1F1F1"/>
                </a:solidFill>
                <a:latin typeface="Montserrat ExtraBold"/>
              </a:rPr>
              <a:t>WebServices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3" name="Imagem 32" descr="Web Services: Minutos de Desenvolvimento de Sistemas.">
            <a:extLst>
              <a:ext uri="{FF2B5EF4-FFF2-40B4-BE49-F238E27FC236}">
                <a16:creationId xmlns:a16="http://schemas.microsoft.com/office/drawing/2014/main" id="{2B46762D-865D-35A6-8ABC-21E5FCE7A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172" y="2170699"/>
            <a:ext cx="9901755" cy="848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2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são Web Services?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 Web Service é uma forma de permitir que diferentes sistemas se comuniquem através de uma rede, geralmente pela internet.</a:t>
            </a:r>
          </a:p>
          <a:p>
            <a:endParaRPr lang="pt-BR" sz="4000" dirty="0"/>
          </a:p>
          <a:p>
            <a:r>
              <a:rPr lang="pt-BR" sz="4000" dirty="0"/>
              <a:t>Imagine um sistema de loja: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CCD0573-FCE8-1822-8FD3-8EDA1F21E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842" y="4721176"/>
            <a:ext cx="4143408" cy="606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1CA753-A932-BF82-1E17-D7A6DDBF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são </a:t>
            </a:r>
            <a:r>
              <a:rPr lang="pt-BR" sz="4950" b="1" spc="-15" dirty="0" err="1">
                <a:latin typeface="Montserrat ExtraBold"/>
                <a:cs typeface="Montserrat ExtraBold"/>
              </a:rPr>
              <a:t>WevServices</a:t>
            </a:r>
            <a:r>
              <a:rPr lang="pt-BR" sz="4950" b="1" spc="-15" dirty="0">
                <a:latin typeface="Montserrat ExtraBold"/>
                <a:cs typeface="Montserrat ExtraBold"/>
              </a:rPr>
              <a:t>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0" y="2402163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frontend</a:t>
            </a:r>
            <a:r>
              <a:rPr lang="pt-BR" sz="4000" dirty="0"/>
              <a:t> pode pedir:</a:t>
            </a:r>
          </a:p>
          <a:p>
            <a:endParaRPr lang="pt-BR" sz="4000" dirty="0"/>
          </a:p>
          <a:p>
            <a:r>
              <a:rPr lang="pt-BR" sz="4000" dirty="0"/>
              <a:t>"Quero os dados de todos os usuários."</a:t>
            </a:r>
          </a:p>
          <a:p>
            <a:endParaRPr lang="pt-BR" sz="4000" dirty="0"/>
          </a:p>
          <a:p>
            <a:r>
              <a:rPr lang="pt-BR" sz="4000" dirty="0"/>
              <a:t>O </a:t>
            </a:r>
            <a:r>
              <a:rPr lang="pt-BR" sz="4000" dirty="0" err="1"/>
              <a:t>backend</a:t>
            </a:r>
            <a:r>
              <a:rPr lang="pt-BR" sz="4000" dirty="0"/>
              <a:t> processa essa solicitação e devolve uma resposta.</a:t>
            </a:r>
          </a:p>
          <a:p>
            <a:endParaRPr lang="pt-BR" sz="4000" dirty="0"/>
          </a:p>
          <a:p>
            <a:r>
              <a:rPr lang="pt-BR" sz="4000" dirty="0"/>
              <a:t>Essa comunicação normalmente acontece utilizando:</a:t>
            </a:r>
          </a:p>
          <a:p>
            <a:endParaRPr lang="pt-BR" sz="4000" dirty="0"/>
          </a:p>
          <a:p>
            <a:r>
              <a:rPr lang="pt-BR" sz="4000" b="1" dirty="0"/>
              <a:t>HTTP</a:t>
            </a:r>
            <a:r>
              <a:rPr lang="pt-BR" sz="4000" dirty="0"/>
              <a:t> → protocolo de comunicação</a:t>
            </a:r>
          </a:p>
          <a:p>
            <a:r>
              <a:rPr lang="pt-BR" sz="4000" b="1" dirty="0"/>
              <a:t>REST</a:t>
            </a:r>
            <a:r>
              <a:rPr lang="pt-BR" sz="4000" dirty="0"/>
              <a:t> → estilo de arquitetura para APIs</a:t>
            </a:r>
          </a:p>
          <a:p>
            <a:r>
              <a:rPr lang="pt-BR" sz="4000" b="1" dirty="0"/>
              <a:t>JSON</a:t>
            </a:r>
            <a:r>
              <a:rPr lang="pt-BR" sz="4000" dirty="0"/>
              <a:t> → formato utilizado para transportar os dados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C067-CA2B-B294-BB72-A90B6730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9AC7368-65FC-D666-1B43-F5ADEEAAAE5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4970F18-2220-EEFA-4553-743756CC9A8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D8FF2B9-234F-21E3-B113-8D383EF8996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8B68400-C50E-BDB7-43BB-9702DBA36A7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662E75F-2A31-0E53-A2D3-394976DBB97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80F478E-5C6D-A9FA-50B1-A9E9BB5394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são </a:t>
            </a:r>
            <a:r>
              <a:rPr lang="pt-BR" sz="4950" b="1" spc="-15" dirty="0" err="1">
                <a:latin typeface="Montserrat ExtraBold"/>
                <a:cs typeface="Montserrat ExtraBold"/>
              </a:rPr>
              <a:t>WebServies</a:t>
            </a:r>
            <a:r>
              <a:rPr lang="pt-BR" sz="4950" b="1" spc="-15" dirty="0">
                <a:latin typeface="Montserrat ExtraBold"/>
                <a:cs typeface="Montserrat ExtraBold"/>
              </a:rPr>
              <a:t>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A4BBEFD-7C71-9E8A-992C-468098336C12}"/>
              </a:ext>
            </a:extLst>
          </p:cNvPr>
          <p:cNvSpPr txBox="1"/>
          <p:nvPr/>
        </p:nvSpPr>
        <p:spPr>
          <a:xfrm>
            <a:off x="1526491" y="3063875"/>
            <a:ext cx="169118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Uma maneira simples de visualizar:</a:t>
            </a:r>
          </a:p>
          <a:p>
            <a:endParaRPr lang="pt-BR" sz="4000" dirty="0"/>
          </a:p>
          <a:p>
            <a:r>
              <a:rPr lang="pt-BR" sz="4000" b="1" dirty="0"/>
              <a:t>HTTP</a:t>
            </a:r>
            <a:r>
              <a:rPr lang="pt-BR" sz="4000" dirty="0"/>
              <a:t> = Como vamos conversar?</a:t>
            </a:r>
          </a:p>
          <a:p>
            <a:endParaRPr lang="pt-BR" sz="4000" dirty="0"/>
          </a:p>
          <a:p>
            <a:r>
              <a:rPr lang="pt-BR" sz="4000" b="1" dirty="0"/>
              <a:t>REST</a:t>
            </a:r>
            <a:r>
              <a:rPr lang="pt-BR" sz="4000" dirty="0"/>
              <a:t> = Como vamos organizar essa conversa?</a:t>
            </a:r>
          </a:p>
          <a:p>
            <a:endParaRPr lang="pt-BR" sz="4000" dirty="0"/>
          </a:p>
          <a:p>
            <a:r>
              <a:rPr lang="pt-BR" sz="4000" b="1" dirty="0"/>
              <a:t>JSON</a:t>
            </a:r>
            <a:r>
              <a:rPr lang="pt-BR" sz="4000" dirty="0"/>
              <a:t> = Como vamos enviar os dados?</a:t>
            </a:r>
          </a:p>
        </p:txBody>
      </p:sp>
    </p:spTree>
    <p:extLst>
      <p:ext uri="{BB962C8B-B14F-4D97-AF65-F5344CB8AC3E}">
        <p14:creationId xmlns:p14="http://schemas.microsoft.com/office/powerpoint/2010/main" val="52291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47C6-A5ED-00EC-1E42-87316D19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9F112EA-9D64-DDBA-2503-E89C82F067A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3B57AC0-8E6F-E446-5764-E80C747EC55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3464B5-E20F-A9CD-21F8-2F2A03B167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60ABE4-7F6F-6541-1A87-FB587463D5E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27BA5B6-7E7A-A740-03A1-CC6B221F04C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F2EA1A3-BF06-7B84-A942-CC6A4FEB7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HTTP?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03E36B-45EB-39A4-F2F3-5135F0B1C9FF}"/>
              </a:ext>
            </a:extLst>
          </p:cNvPr>
          <p:cNvSpPr txBox="1"/>
          <p:nvPr/>
        </p:nvSpPr>
        <p:spPr>
          <a:xfrm>
            <a:off x="1526491" y="28352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HTTP significa:</a:t>
            </a:r>
          </a:p>
          <a:p>
            <a:r>
              <a:rPr lang="pt-BR" sz="4000" dirty="0"/>
              <a:t> -	</a:t>
            </a:r>
            <a:r>
              <a:rPr lang="pt-BR" sz="4000" b="1" dirty="0" err="1"/>
              <a:t>HyperText</a:t>
            </a:r>
            <a:r>
              <a:rPr lang="pt-BR" sz="4000" b="1" dirty="0"/>
              <a:t> </a:t>
            </a:r>
            <a:r>
              <a:rPr lang="pt-BR" sz="4000" b="1" dirty="0" err="1"/>
              <a:t>Transfer</a:t>
            </a:r>
            <a:r>
              <a:rPr lang="pt-BR" sz="4000" b="1" dirty="0"/>
              <a:t> </a:t>
            </a:r>
            <a:r>
              <a:rPr lang="pt-BR" sz="4000" b="1" dirty="0" err="1"/>
              <a:t>Protocol</a:t>
            </a:r>
            <a:endParaRPr lang="pt-BR" sz="4000" b="1" dirty="0"/>
          </a:p>
          <a:p>
            <a:endParaRPr lang="pt-BR" sz="4000" dirty="0"/>
          </a:p>
          <a:p>
            <a:r>
              <a:rPr lang="pt-BR" sz="4000" dirty="0"/>
              <a:t>Em português:</a:t>
            </a:r>
          </a:p>
          <a:p>
            <a:r>
              <a:rPr lang="pt-BR" sz="4000" dirty="0"/>
              <a:t>-	</a:t>
            </a:r>
            <a:r>
              <a:rPr lang="pt-BR" sz="4000" b="1" dirty="0"/>
              <a:t>Protocolo de Transferência de Hipertexto</a:t>
            </a:r>
          </a:p>
          <a:p>
            <a:endParaRPr lang="pt-BR" sz="4000" dirty="0"/>
          </a:p>
          <a:p>
            <a:r>
              <a:rPr lang="pt-BR" sz="4000" dirty="0"/>
              <a:t>É um dos principais protocolos utilizados na Web.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15851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2096-0C59-9D4B-F591-3AADA053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35296DB-8564-5BA0-D127-C91E350E447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112F2AC-C0AB-FA81-57B0-94F9A5840A7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C16EDD1-0280-72D6-4507-366CE87D63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FC83DE-F732-60BB-B2BA-2BEBD4CA701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2A3769B-C7F7-F5B7-609F-A54C86256DF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871447F-C2B5-FB73-388C-F5E79BD116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HTTP?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AA09DE-CDC4-7C38-EE30-A1CBA7C1D4E3}"/>
              </a:ext>
            </a:extLst>
          </p:cNvPr>
          <p:cNvSpPr txBox="1"/>
          <p:nvPr/>
        </p:nvSpPr>
        <p:spPr>
          <a:xfrm>
            <a:off x="1526491" y="283527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Quando você acessa:</a:t>
            </a:r>
          </a:p>
          <a:p>
            <a:r>
              <a:rPr lang="pt-BR" sz="4000" dirty="0"/>
              <a:t>-	https://google.com</a:t>
            </a:r>
          </a:p>
          <a:p>
            <a:endParaRPr lang="pt-BR" sz="4000" dirty="0"/>
          </a:p>
          <a:p>
            <a:r>
              <a:rPr lang="pt-BR" sz="4000" dirty="0"/>
              <a:t>seu navegador realiza uma comunicação utilizando HTTP/HTTPS.</a:t>
            </a:r>
          </a:p>
          <a:p>
            <a:endParaRPr lang="pt-BR" sz="4000" dirty="0"/>
          </a:p>
          <a:p>
            <a:r>
              <a:rPr lang="pt-BR" sz="4000" dirty="0"/>
              <a:t>A comunicação funciona basicamente assim:</a:t>
            </a:r>
          </a:p>
          <a:p>
            <a:endParaRPr lang="pt-BR" sz="4000" dirty="0"/>
          </a:p>
          <a:p>
            <a:r>
              <a:rPr lang="pt-BR" sz="4000" dirty="0"/>
              <a:t>CLIENTE                         				SERVIDOR</a:t>
            </a:r>
          </a:p>
          <a:p>
            <a:endParaRPr lang="pt-BR" sz="4000" dirty="0"/>
          </a:p>
          <a:p>
            <a:r>
              <a:rPr lang="pt-BR" sz="4000" dirty="0"/>
              <a:t>Navegador  ───── REQUISIÇÃO ─────→  API</a:t>
            </a:r>
          </a:p>
          <a:p>
            <a:r>
              <a:rPr lang="pt-BR" sz="4000" dirty="0"/>
              <a:t>           		←──── RESPOSTA ─────────.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87146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4F93-0F96-057E-E366-B562EDD6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598FD3F-4296-45D4-31D1-59A05B20A2B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6023A2-CEFB-58E2-7756-C0F7A5E5D25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54845C7-B7D5-185A-5A5B-3C54756BD47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3A8BF73-2DC1-4845-DA5F-F575B3D0B91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6F72033-2C2F-7ACE-FCD6-F1A5E8880F9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73243E5-BF5C-A0F5-000D-A66A6FA924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Requisição HTTP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D3C07A-2653-9E0E-F2C5-8BD904BB0691}"/>
              </a:ext>
            </a:extLst>
          </p:cNvPr>
          <p:cNvSpPr txBox="1"/>
          <p:nvPr/>
        </p:nvSpPr>
        <p:spPr>
          <a:xfrm>
            <a:off x="1526490" y="244141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Uma requisição HTTP possui várias informações.</a:t>
            </a:r>
          </a:p>
          <a:p>
            <a:endParaRPr lang="pt-BR" sz="4000" dirty="0"/>
          </a:p>
          <a:p>
            <a:r>
              <a:rPr lang="pt-BR" sz="4000" b="1" dirty="0"/>
              <a:t>Por exemplo:</a:t>
            </a:r>
          </a:p>
          <a:p>
            <a:pPr lvl="1"/>
            <a:r>
              <a:rPr lang="en-US" sz="4000" dirty="0"/>
              <a:t>GET /</a:t>
            </a:r>
            <a:r>
              <a:rPr lang="en-US" sz="4000" dirty="0" err="1"/>
              <a:t>usuarios</a:t>
            </a:r>
            <a:r>
              <a:rPr lang="en-US" sz="4000" dirty="0"/>
              <a:t> HTTP/1.1</a:t>
            </a:r>
          </a:p>
          <a:p>
            <a:pPr lvl="1"/>
            <a:r>
              <a:rPr lang="en-US" sz="4000" dirty="0"/>
              <a:t>Host: exemplo.com</a:t>
            </a:r>
          </a:p>
          <a:p>
            <a:pPr lvl="1"/>
            <a:endParaRPr lang="en-US" sz="4000" dirty="0"/>
          </a:p>
          <a:p>
            <a:pPr lvl="1"/>
            <a:r>
              <a:rPr lang="pt-BR" sz="4000" dirty="0"/>
              <a:t>Podemos interpretar:</a:t>
            </a:r>
          </a:p>
          <a:p>
            <a:pPr lvl="1"/>
            <a:endParaRPr lang="pt-BR" sz="4000" dirty="0"/>
          </a:p>
          <a:p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0F0A24-38EF-0986-C63B-C86D78CEBDB2}"/>
              </a:ext>
            </a:extLst>
          </p:cNvPr>
          <p:cNvSpPr txBox="1"/>
          <p:nvPr/>
        </p:nvSpPr>
        <p:spPr>
          <a:xfrm>
            <a:off x="10128243" y="5940523"/>
            <a:ext cx="76200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sz="4000" dirty="0"/>
              <a:t>GET </a:t>
            </a:r>
          </a:p>
          <a:p>
            <a:pPr lvl="1"/>
            <a:r>
              <a:rPr lang="pt-BR" sz="4000" dirty="0"/>
              <a:t>↓ </a:t>
            </a:r>
          </a:p>
          <a:p>
            <a:pPr lvl="1"/>
            <a:r>
              <a:rPr lang="pt-BR" sz="4000" dirty="0"/>
              <a:t>Método HTTP </a:t>
            </a:r>
          </a:p>
          <a:p>
            <a:pPr lvl="1"/>
            <a:endParaRPr lang="pt-BR" sz="4000" dirty="0"/>
          </a:p>
          <a:p>
            <a:pPr lvl="1"/>
            <a:r>
              <a:rPr lang="pt-BR" sz="4000" dirty="0"/>
              <a:t>/usuários</a:t>
            </a:r>
          </a:p>
          <a:p>
            <a:pPr lvl="1"/>
            <a:r>
              <a:rPr lang="pt-BR" sz="4000" dirty="0"/>
              <a:t> ↓ </a:t>
            </a:r>
          </a:p>
          <a:p>
            <a:pPr lvl="1"/>
            <a:r>
              <a:rPr lang="pt-BR" sz="4000" dirty="0"/>
              <a:t>Recurso que queremos acessar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081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7A82-658B-A890-A36B-A0F7CF59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B8ACD99-6C56-A3E2-7508-703EB509F36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10165C-801A-C361-A0F3-6B3E3DFE293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F018015-5714-65A4-FA29-76791AFFB62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9910D-75C1-CCA6-1353-7FC5E97C60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895E345-BE3B-3816-3B1B-B7FC34B37DB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978EF0E-FCCE-3ACF-5D7D-4E4DACEF0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Métodos HTTP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0D8F708-7C44-CEC1-9515-800F139F0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10869"/>
              </p:ext>
            </p:extLst>
          </p:nvPr>
        </p:nvGraphicFramePr>
        <p:xfrm>
          <a:off x="2232025" y="3140075"/>
          <a:ext cx="15640050" cy="6092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60950">
                  <a:extLst>
                    <a:ext uri="{9D8B030D-6E8A-4147-A177-3AD203B41FA5}">
                      <a16:colId xmlns:a16="http://schemas.microsoft.com/office/drawing/2014/main" val="1210665383"/>
                    </a:ext>
                  </a:extLst>
                </a:gridCol>
                <a:gridCol w="5289550">
                  <a:extLst>
                    <a:ext uri="{9D8B030D-6E8A-4147-A177-3AD203B41FA5}">
                      <a16:colId xmlns:a16="http://schemas.microsoft.com/office/drawing/2014/main" val="2982004053"/>
                    </a:ext>
                  </a:extLst>
                </a:gridCol>
                <a:gridCol w="5289550">
                  <a:extLst>
                    <a:ext uri="{9D8B030D-6E8A-4147-A177-3AD203B41FA5}">
                      <a16:colId xmlns:a16="http://schemas.microsoft.com/office/drawing/2014/main" val="3942936370"/>
                    </a:ext>
                  </a:extLst>
                </a:gridCol>
              </a:tblGrid>
              <a:tr h="101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Método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Exemplo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271833"/>
                  </a:ext>
                </a:extLst>
              </a:tr>
              <a:tr h="101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 dirty="0"/>
                        <a:t>Buscar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Buscar usuários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112794"/>
                  </a:ext>
                </a:extLst>
              </a:tr>
              <a:tr h="101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Criar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Criar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581810"/>
                  </a:ext>
                </a:extLst>
              </a:tr>
              <a:tr h="101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Atualizar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Alterar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870235"/>
                  </a:ext>
                </a:extLst>
              </a:tr>
              <a:tr h="101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PATCH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Atualizar parcialmente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Alterar apenas o nome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497650"/>
                  </a:ext>
                </a:extLst>
              </a:tr>
              <a:tr h="101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Excluir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 dirty="0"/>
                        <a:t>Excluir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923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11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6684-5433-A04D-C553-60D185FB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CE66971-D290-A38E-4386-C7BBC04A36A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B5CB255-213F-58EA-5927-3A6B5DEA65D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E092144-700C-661B-8BA2-130D8238FE8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F17E821-ACBC-0843-64FF-BE7E5F597A8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A5C4CD-444F-67D6-EBCD-E44AB87F88A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63E9977-44D3-7685-1695-C87FA323D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GET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44918C-F4B1-2274-9DA7-F35DCF658F5A}"/>
              </a:ext>
            </a:extLst>
          </p:cNvPr>
          <p:cNvSpPr txBox="1"/>
          <p:nvPr/>
        </p:nvSpPr>
        <p:spPr>
          <a:xfrm>
            <a:off x="1526490" y="244141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Exemplo: </a:t>
            </a:r>
            <a:r>
              <a:rPr lang="pt-BR" sz="4000" dirty="0" err="1"/>
              <a:t>get</a:t>
            </a:r>
            <a:r>
              <a:rPr lang="pt-BR" sz="4000" dirty="0"/>
              <a:t> /usuário</a:t>
            </a:r>
          </a:p>
          <a:p>
            <a:endParaRPr lang="pt-BR" sz="4000" dirty="0"/>
          </a:p>
          <a:p>
            <a:r>
              <a:rPr lang="pt-BR" sz="4000" dirty="0"/>
              <a:t>O servidor pode responder em JSON:</a:t>
            </a:r>
          </a:p>
          <a:p>
            <a:endParaRPr lang="pt-BR" sz="4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67DE6E-B920-EAA5-C88E-F4678942D146}"/>
              </a:ext>
            </a:extLst>
          </p:cNvPr>
          <p:cNvSpPr txBox="1"/>
          <p:nvPr/>
        </p:nvSpPr>
        <p:spPr>
          <a:xfrm>
            <a:off x="6286711" y="4664075"/>
            <a:ext cx="7391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[</a:t>
            </a:r>
          </a:p>
          <a:p>
            <a:r>
              <a:rPr lang="pt-BR" sz="3600" dirty="0"/>
              <a:t>    {</a:t>
            </a:r>
          </a:p>
          <a:p>
            <a:r>
              <a:rPr lang="pt-BR" sz="3600" dirty="0"/>
              <a:t>        "id": 1,</a:t>
            </a:r>
          </a:p>
          <a:p>
            <a:r>
              <a:rPr lang="pt-BR" sz="3600" dirty="0"/>
              <a:t>        "nome": "João"</a:t>
            </a:r>
          </a:p>
          <a:p>
            <a:r>
              <a:rPr lang="pt-BR" sz="3600" dirty="0"/>
              <a:t>    },</a:t>
            </a:r>
          </a:p>
          <a:p>
            <a:r>
              <a:rPr lang="pt-BR" sz="3600" dirty="0"/>
              <a:t>    {</a:t>
            </a:r>
          </a:p>
          <a:p>
            <a:r>
              <a:rPr lang="pt-BR" sz="3600" dirty="0"/>
              <a:t>        "id": 2,</a:t>
            </a:r>
          </a:p>
          <a:p>
            <a:r>
              <a:rPr lang="pt-BR" sz="3600" dirty="0"/>
              <a:t>        "nome": "Maria"</a:t>
            </a:r>
          </a:p>
          <a:p>
            <a:r>
              <a:rPr lang="pt-BR" sz="3600" dirty="0"/>
              <a:t>    }</a:t>
            </a:r>
          </a:p>
          <a:p>
            <a:r>
              <a:rPr lang="pt-BR" sz="3600" dirty="0"/>
              <a:t>]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599304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43A5A-349E-408F-95A4-9DE6F479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0690987-2F2E-4976-A78F-5F7366C5665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7661565-BBCB-54E8-951D-A1230B68708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725350-CAD3-6977-1C7A-7376280BD9A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1D6B2B-F5A5-0F93-A1D8-34437DAF35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93600C-38EA-F7BF-9823-6C0EBA0A69D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358B76E-CA87-FF41-E905-F4276AFA9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POST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7699AD-EAE8-619A-9090-083A03D73FD5}"/>
              </a:ext>
            </a:extLst>
          </p:cNvPr>
          <p:cNvSpPr txBox="1"/>
          <p:nvPr/>
        </p:nvSpPr>
        <p:spPr>
          <a:xfrm>
            <a:off x="1526490" y="244141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Exemplo: POST /usuário</a:t>
            </a:r>
          </a:p>
          <a:p>
            <a:endParaRPr lang="pt-BR" sz="4000" dirty="0"/>
          </a:p>
          <a:p>
            <a:r>
              <a:rPr lang="pt-BR" sz="4000" dirty="0"/>
              <a:t>E nós enviamos um: </a:t>
            </a:r>
          </a:p>
          <a:p>
            <a:endParaRPr lang="pt-BR" sz="4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374F1E-2A56-7DA5-8574-682396AF7808}"/>
              </a:ext>
            </a:extLst>
          </p:cNvPr>
          <p:cNvSpPr txBox="1"/>
          <p:nvPr/>
        </p:nvSpPr>
        <p:spPr>
          <a:xfrm>
            <a:off x="5937250" y="5765402"/>
            <a:ext cx="7194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{ </a:t>
            </a:r>
          </a:p>
          <a:p>
            <a:r>
              <a:rPr lang="pt-BR" sz="3600" dirty="0"/>
              <a:t>	"nome": "Carlos", </a:t>
            </a:r>
          </a:p>
          <a:p>
            <a:r>
              <a:rPr lang="pt-BR" sz="3600" dirty="0"/>
              <a:t>	"</a:t>
            </a:r>
            <a:r>
              <a:rPr lang="pt-BR" sz="3600" dirty="0" err="1"/>
              <a:t>email</a:t>
            </a:r>
            <a:r>
              <a:rPr lang="pt-BR" sz="3600" dirty="0"/>
              <a:t>": 	"carlos@email.com" </a:t>
            </a:r>
          </a:p>
          <a:p>
            <a:r>
              <a:rPr lang="pt-BR" sz="3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746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EA02-8D6A-F8E4-4428-65A61287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64396DE-7659-2985-8E83-01111AE5AB4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6C86A46-1D2F-7A4B-8CB6-3C93C8C1F40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71DACBF-903A-F231-37DC-8ED2AEA4107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3B9E6C6-BB91-7A62-A7F8-513AC5FA8B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422ABC6-A552-CF0B-0F4E-BD133DED343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21CBB40-4943-D9C3-6E8E-E3DB1E320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PUT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4715AC-3CD8-9775-D294-C81EAC582A01}"/>
              </a:ext>
            </a:extLst>
          </p:cNvPr>
          <p:cNvSpPr txBox="1"/>
          <p:nvPr/>
        </p:nvSpPr>
        <p:spPr>
          <a:xfrm>
            <a:off x="1526490" y="2441415"/>
            <a:ext cx="16911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Exemplo: PUT /usuário/10</a:t>
            </a:r>
          </a:p>
          <a:p>
            <a:endParaRPr lang="pt-BR" sz="4000" dirty="0"/>
          </a:p>
          <a:p>
            <a:r>
              <a:rPr lang="pt-BR" sz="4000" dirty="0"/>
              <a:t>“atualize o usuário ID 10”</a:t>
            </a:r>
          </a:p>
          <a:p>
            <a:endParaRPr lang="pt-BR" sz="4000" dirty="0"/>
          </a:p>
          <a:p>
            <a:r>
              <a:rPr lang="pt-BR" sz="4000" dirty="0"/>
              <a:t>E nós enviamos um: </a:t>
            </a:r>
          </a:p>
          <a:p>
            <a:endParaRPr lang="pt-BR" sz="4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833692-5917-9EC5-BF6D-D677B029B437}"/>
              </a:ext>
            </a:extLst>
          </p:cNvPr>
          <p:cNvSpPr txBox="1"/>
          <p:nvPr/>
        </p:nvSpPr>
        <p:spPr>
          <a:xfrm>
            <a:off x="5937250" y="5765402"/>
            <a:ext cx="7194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{</a:t>
            </a:r>
          </a:p>
          <a:p>
            <a:r>
              <a:rPr lang="pt-BR" sz="3600" dirty="0"/>
              <a:t>    "nome": "Carlos Silva",</a:t>
            </a:r>
          </a:p>
          <a:p>
            <a:r>
              <a:rPr lang="pt-BR" sz="3600" dirty="0"/>
              <a:t>    "</a:t>
            </a:r>
            <a:r>
              <a:rPr lang="pt-BR" sz="3600" dirty="0" err="1"/>
              <a:t>email</a:t>
            </a:r>
            <a:r>
              <a:rPr lang="pt-BR" sz="3600" dirty="0"/>
              <a:t>": "carlos.silva@email.com"</a:t>
            </a:r>
          </a:p>
          <a:p>
            <a:r>
              <a:rPr lang="pt-BR" sz="3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5366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59EE-8C46-CFD1-F5F1-B66B4B86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F0B14B1-5A26-02A5-D4C0-6CD82A7F15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8E7457-711C-CE69-693C-98F82AD188E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2EB4DE-B2E2-2118-102F-79F89DC44F5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743049-F595-A5ED-4FAE-E26F7765B0B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8053D5-918D-4D42-3C94-4538443B6AD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7DBB7B5-2A7A-CF30-4396-DACF4D0B0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PATCH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5EE492A-7792-7929-BBF5-95CF3969113F}"/>
              </a:ext>
            </a:extLst>
          </p:cNvPr>
          <p:cNvSpPr txBox="1"/>
          <p:nvPr/>
        </p:nvSpPr>
        <p:spPr>
          <a:xfrm>
            <a:off x="1526490" y="244141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PATCH é utilizado quando queremos fazer uma alteração parcial.</a:t>
            </a:r>
          </a:p>
          <a:p>
            <a:endParaRPr lang="pt-BR" sz="4000" dirty="0"/>
          </a:p>
          <a:p>
            <a:r>
              <a:rPr lang="pt-BR" sz="4000" dirty="0"/>
              <a:t>Por exemplo, o usuário possui:</a:t>
            </a:r>
          </a:p>
          <a:p>
            <a:endParaRPr lang="pt-BR" sz="4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70AFEA-76B8-86EA-75DD-D2DA21D4ADB6}"/>
              </a:ext>
            </a:extLst>
          </p:cNvPr>
          <p:cNvSpPr txBox="1"/>
          <p:nvPr/>
        </p:nvSpPr>
        <p:spPr>
          <a:xfrm>
            <a:off x="1822450" y="5078072"/>
            <a:ext cx="71943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{</a:t>
            </a:r>
          </a:p>
          <a:p>
            <a:r>
              <a:rPr lang="pt-BR" sz="3600" dirty="0"/>
              <a:t>    "id": 10,</a:t>
            </a:r>
          </a:p>
          <a:p>
            <a:r>
              <a:rPr lang="pt-BR" sz="3600" dirty="0"/>
              <a:t>    "nome": "Carlos",</a:t>
            </a:r>
          </a:p>
          <a:p>
            <a:r>
              <a:rPr lang="pt-BR" sz="3600" dirty="0"/>
              <a:t>    "</a:t>
            </a:r>
            <a:r>
              <a:rPr lang="pt-BR" sz="3600" dirty="0" err="1"/>
              <a:t>email</a:t>
            </a:r>
            <a:r>
              <a:rPr lang="pt-BR" sz="3600" dirty="0"/>
              <a:t>": "carlos@email.com",</a:t>
            </a:r>
          </a:p>
          <a:p>
            <a:r>
              <a:rPr lang="pt-BR" sz="3600" dirty="0"/>
              <a:t>    "idade": 25</a:t>
            </a:r>
          </a:p>
          <a:p>
            <a:r>
              <a:rPr lang="pt-BR" sz="3600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34E1994-12F7-7B9E-182F-413A4384F19B}"/>
              </a:ext>
            </a:extLst>
          </p:cNvPr>
          <p:cNvSpPr txBox="1"/>
          <p:nvPr/>
        </p:nvSpPr>
        <p:spPr>
          <a:xfrm>
            <a:off x="10585450" y="4359275"/>
            <a:ext cx="83322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Podemos enviar somente:</a:t>
            </a:r>
          </a:p>
          <a:p>
            <a:endParaRPr lang="pt-BR" sz="3600" dirty="0"/>
          </a:p>
          <a:p>
            <a:r>
              <a:rPr lang="pt-BR" sz="3600" dirty="0"/>
              <a:t>PATCH /</a:t>
            </a:r>
            <a:r>
              <a:rPr lang="pt-BR" sz="3600" dirty="0" err="1"/>
              <a:t>usuarios</a:t>
            </a:r>
            <a:r>
              <a:rPr lang="pt-BR" sz="3600" dirty="0"/>
              <a:t>/10</a:t>
            </a:r>
          </a:p>
          <a:p>
            <a:endParaRPr lang="pt-BR" sz="3600" dirty="0"/>
          </a:p>
          <a:p>
            <a:endParaRPr lang="pt-BR" sz="3600" dirty="0"/>
          </a:p>
          <a:p>
            <a:r>
              <a:rPr lang="pt-BR" sz="3600" dirty="0"/>
              <a:t>{ </a:t>
            </a:r>
          </a:p>
          <a:p>
            <a:r>
              <a:rPr lang="pt-BR" sz="3600" dirty="0"/>
              <a:t>	"nome": "Carlos Silva“</a:t>
            </a:r>
          </a:p>
          <a:p>
            <a:r>
              <a:rPr lang="pt-BR" sz="36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14647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7CBE-B657-F8C3-5D20-AAA422CD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E4CE1A2-F99D-6A98-3962-1F300F0FAAA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85DC9BA-1316-7112-F5AB-C531B0199AF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8C060D-4EFC-714F-9E69-F8919E28798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AAA55E6-673B-9331-1022-ABFFA64A416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1E4FE26-AEE1-A138-6415-294A4C8C6E8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23AB5B3-865D-4195-F1D5-5F85D5D2E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Delete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BCC5A8-BC79-102A-0253-6F5B8EEB3757}"/>
              </a:ext>
            </a:extLst>
          </p:cNvPr>
          <p:cNvSpPr txBox="1"/>
          <p:nvPr/>
        </p:nvSpPr>
        <p:spPr>
          <a:xfrm>
            <a:off x="1526490" y="2441415"/>
            <a:ext cx="169118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DELETE serve para excluir.</a:t>
            </a:r>
          </a:p>
          <a:p>
            <a:endParaRPr lang="pt-BR" sz="4000" dirty="0"/>
          </a:p>
          <a:p>
            <a:r>
              <a:rPr lang="pt-BR" sz="4000" dirty="0"/>
              <a:t>DELETE /</a:t>
            </a:r>
            <a:r>
              <a:rPr lang="pt-BR" sz="4000" dirty="0" err="1"/>
              <a:t>usuarios</a:t>
            </a:r>
            <a:r>
              <a:rPr lang="pt-BR" sz="4000" dirty="0"/>
              <a:t>/10</a:t>
            </a:r>
          </a:p>
          <a:p>
            <a:endParaRPr lang="pt-BR" sz="4000" dirty="0"/>
          </a:p>
          <a:p>
            <a:r>
              <a:rPr lang="pt-BR" sz="4000" dirty="0"/>
              <a:t>O servidor entende:</a:t>
            </a:r>
          </a:p>
          <a:p>
            <a:endParaRPr lang="pt-BR" sz="4000" dirty="0"/>
          </a:p>
          <a:p>
            <a:r>
              <a:rPr lang="pt-BR" sz="4000" dirty="0"/>
              <a:t>"Exclua o usuário que possui ID 10."</a:t>
            </a:r>
          </a:p>
        </p:txBody>
      </p:sp>
    </p:spTree>
    <p:extLst>
      <p:ext uri="{BB962C8B-B14F-4D97-AF65-F5344CB8AC3E}">
        <p14:creationId xmlns:p14="http://schemas.microsoft.com/office/powerpoint/2010/main" val="173514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17FC-15E9-A4AB-D2FD-C282657B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EBFA3E2-34CC-B584-89B5-44F28653935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5FA37F7-8577-F294-69E0-3A4BD48A6BD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8D896F2-838C-F16F-04EA-C088700877B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1F9716-8B98-AA0B-1C35-9F6F0E5A677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C73980A-3C3E-CBD7-FD93-97D15CA8F5E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0AC4872-7713-1E7D-F7B2-01C5A30E5D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REST?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920F2D9-DB97-4835-D6CE-04DC8C0E96B7}"/>
              </a:ext>
            </a:extLst>
          </p:cNvPr>
          <p:cNvSpPr txBox="1"/>
          <p:nvPr/>
        </p:nvSpPr>
        <p:spPr>
          <a:xfrm>
            <a:off x="1526490" y="244141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i="1" dirty="0" err="1"/>
              <a:t>Representational</a:t>
            </a:r>
            <a:r>
              <a:rPr lang="pt-BR" sz="4000" i="1" dirty="0"/>
              <a:t> </a:t>
            </a:r>
            <a:r>
              <a:rPr lang="pt-BR" sz="4000" i="1" dirty="0" err="1"/>
              <a:t>State</a:t>
            </a:r>
            <a:r>
              <a:rPr lang="pt-BR" sz="4000" i="1" dirty="0"/>
              <a:t> </a:t>
            </a:r>
            <a:r>
              <a:rPr lang="pt-BR" sz="4000" i="1" dirty="0" err="1"/>
              <a:t>Transfer</a:t>
            </a:r>
            <a:endParaRPr lang="pt-BR" sz="4000" i="1" dirty="0"/>
          </a:p>
          <a:p>
            <a:endParaRPr lang="pt-BR" sz="4000" dirty="0"/>
          </a:p>
          <a:p>
            <a:r>
              <a:rPr lang="pt-BR" sz="4000" dirty="0"/>
              <a:t>REST não é uma linguagem de programação.</a:t>
            </a:r>
          </a:p>
          <a:p>
            <a:endParaRPr lang="pt-BR" sz="4000" dirty="0"/>
          </a:p>
          <a:p>
            <a:r>
              <a:rPr lang="pt-BR" sz="4000" dirty="0"/>
              <a:t>Também não é um protocolo.</a:t>
            </a:r>
          </a:p>
          <a:p>
            <a:endParaRPr lang="pt-BR" sz="4000" dirty="0"/>
          </a:p>
          <a:p>
            <a:r>
              <a:rPr lang="pt-BR" sz="4000" dirty="0"/>
              <a:t>É um </a:t>
            </a:r>
            <a:r>
              <a:rPr lang="pt-BR" sz="4000" b="1" dirty="0"/>
              <a:t>estilo arquitetural </a:t>
            </a:r>
            <a:r>
              <a:rPr lang="pt-BR" sz="4000" dirty="0"/>
              <a:t>utilizado para construir sistemas que se comunicam através da Web.</a:t>
            </a:r>
          </a:p>
          <a:p>
            <a:endParaRPr lang="pt-BR" sz="4000" dirty="0"/>
          </a:p>
          <a:p>
            <a:r>
              <a:rPr lang="pt-BR" sz="4000" dirty="0"/>
              <a:t>Uma API que segue os princípios REST é chamada de:</a:t>
            </a:r>
          </a:p>
          <a:p>
            <a:endParaRPr lang="pt-BR" sz="4000" dirty="0"/>
          </a:p>
          <a:p>
            <a:r>
              <a:rPr lang="pt-BR" sz="4000" dirty="0"/>
              <a:t>	API REST ou </a:t>
            </a:r>
            <a:r>
              <a:rPr lang="pt-BR" sz="4000" dirty="0" err="1"/>
              <a:t>RESTful</a:t>
            </a:r>
            <a:r>
              <a:rPr lang="pt-BR" sz="4000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1349033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F3AA-49DC-E099-84CD-C8F7AC82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6169084-4E14-FCCC-297A-739BE1C4220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F63F63E-2C1B-257B-21B9-03AF7F5445B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9772AD-7E53-5B19-153C-152C7A2AF49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79F56A1-00DC-A3CD-7C21-F60C24CF626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30443F-A66D-D3C6-4CDA-E9846B03EBB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EB00CAD-1ACD-17EF-193B-F1FE6EB55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Recursos do REST?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6A130A-01F7-5AD3-0830-6E9407AB531C}"/>
              </a:ext>
            </a:extLst>
          </p:cNvPr>
          <p:cNvSpPr txBox="1"/>
          <p:nvPr/>
        </p:nvSpPr>
        <p:spPr>
          <a:xfrm>
            <a:off x="1526490" y="244141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 conceito importante no REST é trabalhar com recursos.</a:t>
            </a:r>
          </a:p>
          <a:p>
            <a:endParaRPr lang="pt-BR" sz="4000" dirty="0"/>
          </a:p>
          <a:p>
            <a:r>
              <a:rPr lang="pt-BR" sz="4000" dirty="0"/>
              <a:t>Por exemplo, imagine um sistema escolar.</a:t>
            </a:r>
          </a:p>
          <a:p>
            <a:endParaRPr lang="pt-BR" sz="4000" dirty="0"/>
          </a:p>
          <a:p>
            <a:r>
              <a:rPr lang="pt-BR" sz="4000" dirty="0"/>
              <a:t>Temos:</a:t>
            </a:r>
          </a:p>
          <a:p>
            <a:endParaRPr lang="pt-BR" sz="4000" dirty="0"/>
          </a:p>
          <a:p>
            <a:r>
              <a:rPr lang="pt-BR" sz="4000" dirty="0"/>
              <a:t>/alunos</a:t>
            </a:r>
          </a:p>
          <a:p>
            <a:r>
              <a:rPr lang="pt-BR" sz="4000" dirty="0"/>
              <a:t>/professores</a:t>
            </a:r>
          </a:p>
          <a:p>
            <a:r>
              <a:rPr lang="pt-BR" sz="4000" dirty="0"/>
              <a:t>/cursos</a:t>
            </a:r>
          </a:p>
          <a:p>
            <a:r>
              <a:rPr lang="pt-BR" sz="4000" dirty="0"/>
              <a:t>/turmas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6D29D01-DDBB-FE05-5B76-EC7DCF1656DF}"/>
              </a:ext>
            </a:extLst>
          </p:cNvPr>
          <p:cNvSpPr txBox="1"/>
          <p:nvPr/>
        </p:nvSpPr>
        <p:spPr>
          <a:xfrm>
            <a:off x="9375481" y="5273675"/>
            <a:ext cx="96816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Então podemos utilizar os métodos HTTP:</a:t>
            </a:r>
          </a:p>
          <a:p>
            <a:endParaRPr lang="pt-BR" sz="4000" dirty="0"/>
          </a:p>
          <a:p>
            <a:r>
              <a:rPr lang="pt-BR" sz="4000" dirty="0"/>
              <a:t>GET     /alunos</a:t>
            </a:r>
          </a:p>
          <a:p>
            <a:r>
              <a:rPr lang="pt-BR" sz="4000" dirty="0"/>
              <a:t>POST    /alunos</a:t>
            </a:r>
          </a:p>
          <a:p>
            <a:r>
              <a:rPr lang="pt-BR" sz="4000" dirty="0"/>
              <a:t>GET     /alunos/5</a:t>
            </a:r>
          </a:p>
          <a:p>
            <a:r>
              <a:rPr lang="pt-BR" sz="4000" dirty="0"/>
              <a:t>PUT     /alunos/5</a:t>
            </a:r>
          </a:p>
          <a:p>
            <a:r>
              <a:rPr lang="pt-BR" sz="4000" dirty="0"/>
              <a:t>DELETE  /alunos/5</a:t>
            </a:r>
          </a:p>
        </p:txBody>
      </p:sp>
    </p:spTree>
    <p:extLst>
      <p:ext uri="{BB962C8B-B14F-4D97-AF65-F5344CB8AC3E}">
        <p14:creationId xmlns:p14="http://schemas.microsoft.com/office/powerpoint/2010/main" val="3590920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2A00-BD3B-9E1E-98EF-BB086BAE9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7AC50A-9140-B23B-1DEF-DDEF95A8B49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905AAEA-6FDB-80D7-E33C-09D25C32C3A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F5F481-9EF4-C7BD-C811-E1E9AEC91A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C5F5C96-C6EE-13FD-90E2-AB351DA97BD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1AD7973-DD34-CBEA-0E93-2AF29B487AE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6CD2403-4D1D-004E-443B-3BEF669F65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Recursos do REST?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E682CB-D41F-244D-5848-01A7D0261CEF}"/>
              </a:ext>
            </a:extLst>
          </p:cNvPr>
          <p:cNvSpPr txBox="1"/>
          <p:nvPr/>
        </p:nvSpPr>
        <p:spPr>
          <a:xfrm>
            <a:off x="1526490" y="2441415"/>
            <a:ext cx="1691184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Observe que não precisamos criar URLs como:</a:t>
            </a:r>
          </a:p>
          <a:p>
            <a:endParaRPr lang="pt-BR" sz="4000" dirty="0"/>
          </a:p>
          <a:p>
            <a:r>
              <a:rPr lang="pt-BR" sz="4000" dirty="0"/>
              <a:t>/</a:t>
            </a:r>
            <a:r>
              <a:rPr lang="pt-BR" sz="4000" dirty="0" err="1"/>
              <a:t>buscarAlunos</a:t>
            </a:r>
            <a:endParaRPr lang="pt-BR" sz="4000" dirty="0"/>
          </a:p>
          <a:p>
            <a:r>
              <a:rPr lang="pt-BR" sz="4000" dirty="0"/>
              <a:t>/</a:t>
            </a:r>
            <a:r>
              <a:rPr lang="pt-BR" sz="4000" dirty="0" err="1"/>
              <a:t>criarAluno</a:t>
            </a:r>
            <a:endParaRPr lang="pt-BR" sz="4000" dirty="0"/>
          </a:p>
          <a:p>
            <a:r>
              <a:rPr lang="pt-BR" sz="4000" dirty="0"/>
              <a:t>/</a:t>
            </a:r>
            <a:r>
              <a:rPr lang="pt-BR" sz="4000" dirty="0" err="1"/>
              <a:t>alterarAluno</a:t>
            </a:r>
            <a:endParaRPr lang="pt-BR" sz="4000" dirty="0"/>
          </a:p>
          <a:p>
            <a:r>
              <a:rPr lang="pt-BR" sz="4000" dirty="0"/>
              <a:t>/</a:t>
            </a:r>
            <a:r>
              <a:rPr lang="pt-BR" sz="4000" dirty="0" err="1"/>
              <a:t>excluirAluno</a:t>
            </a:r>
            <a:endParaRPr lang="pt-BR" sz="4000" dirty="0"/>
          </a:p>
          <a:p>
            <a:endParaRPr lang="pt-BR" dirty="0"/>
          </a:p>
          <a:p>
            <a:r>
              <a:rPr lang="pt-BR" sz="4000" dirty="0"/>
              <a:t>No REST, usamos o </a:t>
            </a:r>
            <a:r>
              <a:rPr lang="pt-BR" sz="4000" b="1" dirty="0"/>
              <a:t>recurso + método HTTP</a:t>
            </a:r>
            <a:r>
              <a:rPr lang="pt-BR" sz="4000" dirty="0"/>
              <a:t> para indicar a operação.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199898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1BD8A-0E4A-35C5-2831-93E31972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14F5DAC-FA89-9275-995A-9B6511CD611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3ECD651-555A-A42D-A4F8-A684C9AC016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B85209-A6C2-BE1E-8F36-D9E1E27E166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CE59CB8-DCA6-534C-5C97-98F1501B543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19F0EBB-8769-287F-73C6-27AA3840924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CF95E2C-9B67-BB8F-C1B6-3C9523414B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JSON?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954B003-2F9C-EB0B-8BB2-74D246A272A1}"/>
              </a:ext>
            </a:extLst>
          </p:cNvPr>
          <p:cNvSpPr txBox="1"/>
          <p:nvPr/>
        </p:nvSpPr>
        <p:spPr>
          <a:xfrm>
            <a:off x="1526490" y="2441415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i="1" dirty="0" err="1"/>
              <a:t>JavaScript</a:t>
            </a:r>
            <a:r>
              <a:rPr lang="pt-BR" sz="4000" i="1" dirty="0"/>
              <a:t> </a:t>
            </a:r>
            <a:r>
              <a:rPr lang="pt-BR" sz="4000" i="1" dirty="0" err="1"/>
              <a:t>Object</a:t>
            </a:r>
            <a:r>
              <a:rPr lang="pt-BR" sz="4000" i="1" dirty="0"/>
              <a:t> </a:t>
            </a:r>
            <a:r>
              <a:rPr lang="pt-BR" sz="4000" i="1" dirty="0" err="1"/>
              <a:t>Notation</a:t>
            </a:r>
            <a:endParaRPr lang="pt-BR" sz="4000" i="1" dirty="0"/>
          </a:p>
          <a:p>
            <a:endParaRPr lang="pt-BR" sz="4000" dirty="0"/>
          </a:p>
          <a:p>
            <a:r>
              <a:rPr lang="pt-BR" sz="4000" dirty="0"/>
              <a:t>É um formato utilizado para representar e transportar dados.</a:t>
            </a:r>
          </a:p>
          <a:p>
            <a:endParaRPr lang="pt-BR" sz="4000" dirty="0"/>
          </a:p>
          <a:p>
            <a:r>
              <a:rPr lang="pt-BR" sz="4000" dirty="0"/>
              <a:t>É muito utilizado em APIs.</a:t>
            </a:r>
          </a:p>
          <a:p>
            <a:endParaRPr lang="pt-BR" sz="4000" dirty="0"/>
          </a:p>
          <a:p>
            <a:r>
              <a:rPr lang="pt-BR" sz="4000" b="1" dirty="0"/>
              <a:t>Por exemplo:</a:t>
            </a:r>
          </a:p>
          <a:p>
            <a:endParaRPr lang="pt-BR" sz="4000" dirty="0"/>
          </a:p>
          <a:p>
            <a:r>
              <a:rPr lang="pt-BR" sz="4000" dirty="0"/>
              <a:t>{</a:t>
            </a:r>
          </a:p>
          <a:p>
            <a:r>
              <a:rPr lang="pt-BR" sz="4000" dirty="0"/>
              <a:t>    "nome": "João",</a:t>
            </a:r>
          </a:p>
          <a:p>
            <a:r>
              <a:rPr lang="pt-BR" sz="4000" dirty="0"/>
              <a:t>    "idade": 20,</a:t>
            </a:r>
          </a:p>
          <a:p>
            <a:r>
              <a:rPr lang="pt-BR" sz="4000" dirty="0"/>
              <a:t>    "curso": "Desenvolvimento de Sistemas"</a:t>
            </a:r>
          </a:p>
          <a:p>
            <a:r>
              <a:rPr lang="pt-BR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9534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14448-07B7-3B76-5A14-FFC8E31B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EFF00CD-5D3C-F799-3DA0-48C68A134B4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11EF991-484F-8208-5C0F-457C8033DC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496397-513C-BD93-5BDF-FCE593E5C67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199D776-2386-B842-BC80-470B5E7B15F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0FF3AB6-7E0D-205F-0B10-850415FF510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4889000-1E8E-4BCC-DEA8-4BC00109E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Objetos em JSON?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DF71F1-BD52-8E74-086E-EF6AF860DFE0}"/>
              </a:ext>
            </a:extLst>
          </p:cNvPr>
          <p:cNvSpPr txBox="1"/>
          <p:nvPr/>
        </p:nvSpPr>
        <p:spPr>
          <a:xfrm>
            <a:off x="1526490" y="244141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{ </a:t>
            </a:r>
          </a:p>
          <a:p>
            <a:r>
              <a:rPr lang="pt-BR" sz="4000" dirty="0"/>
              <a:t>	"nome": "Maria", </a:t>
            </a:r>
          </a:p>
          <a:p>
            <a:r>
              <a:rPr lang="pt-BR" sz="4000" dirty="0"/>
              <a:t>	"idade": 18 </a:t>
            </a:r>
          </a:p>
          <a:p>
            <a:r>
              <a:rPr lang="pt-BR" sz="4000" dirty="0"/>
              <a:t>}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dirty="0"/>
              <a:t>Temos duas propriedades: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nome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idade</a:t>
            </a:r>
          </a:p>
        </p:txBody>
      </p:sp>
    </p:spTree>
    <p:extLst>
      <p:ext uri="{BB962C8B-B14F-4D97-AF65-F5344CB8AC3E}">
        <p14:creationId xmlns:p14="http://schemas.microsoft.com/office/powerpoint/2010/main" val="4010702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949C-5B73-B699-796D-40020A49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BFAF4DF-666C-06F5-9A5E-4D132021D79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9686AD-37B1-B18D-F9A5-2C12D6A4B43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EE47D3-B2C8-A84B-5140-958933C4C98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855AC1D-CE4D-80E4-F776-7DEA8DFB457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5AF04E9-8CF6-1F0B-D73B-4DD0C12CF3F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45A52EB-B735-0CDF-13D9-C8EDE039F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 err="1">
                <a:latin typeface="Montserrat ExtraBold"/>
                <a:cs typeface="Montserrat ExtraBold"/>
              </a:rPr>
              <a:t>Arrays</a:t>
            </a:r>
            <a:r>
              <a:rPr lang="pt-BR" sz="4950" b="1" spc="-15" dirty="0">
                <a:latin typeface="Montserrat ExtraBold"/>
                <a:cs typeface="Montserrat ExtraBold"/>
              </a:rPr>
              <a:t> em JSON?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53E355-FEC2-82D4-BDC0-A596EE071A95}"/>
              </a:ext>
            </a:extLst>
          </p:cNvPr>
          <p:cNvSpPr txBox="1"/>
          <p:nvPr/>
        </p:nvSpPr>
        <p:spPr>
          <a:xfrm>
            <a:off x="1526490" y="2441415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[ </a:t>
            </a:r>
          </a:p>
          <a:p>
            <a:r>
              <a:rPr lang="pt-BR" sz="4000" dirty="0"/>
              <a:t>	{ </a:t>
            </a:r>
          </a:p>
          <a:p>
            <a:r>
              <a:rPr lang="pt-BR" sz="4000" dirty="0"/>
              <a:t>		"id": 1, </a:t>
            </a:r>
          </a:p>
          <a:p>
            <a:r>
              <a:rPr lang="pt-BR" sz="4000" dirty="0"/>
              <a:t>		"nome": "João" </a:t>
            </a:r>
          </a:p>
          <a:p>
            <a:r>
              <a:rPr lang="pt-BR" sz="4000" dirty="0"/>
              <a:t>	},</a:t>
            </a:r>
          </a:p>
          <a:p>
            <a:r>
              <a:rPr lang="pt-BR" sz="4000" dirty="0"/>
              <a:t>	 { </a:t>
            </a:r>
          </a:p>
          <a:p>
            <a:r>
              <a:rPr lang="pt-BR" sz="4000" dirty="0"/>
              <a:t>		"id": 2, </a:t>
            </a:r>
          </a:p>
          <a:p>
            <a:r>
              <a:rPr lang="pt-BR" sz="4000" dirty="0"/>
              <a:t>		"nome": "Maria“</a:t>
            </a:r>
          </a:p>
          <a:p>
            <a:r>
              <a:rPr lang="pt-BR" sz="4000" dirty="0"/>
              <a:t>	 }</a:t>
            </a:r>
          </a:p>
          <a:p>
            <a:r>
              <a:rPr lang="pt-BR" sz="4000" dirty="0"/>
              <a:t>]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dirty="0"/>
              <a:t>Isso representa uma </a:t>
            </a:r>
            <a:r>
              <a:rPr lang="pt-BR" sz="4000" b="1" dirty="0"/>
              <a:t>lista</a:t>
            </a:r>
            <a:r>
              <a:rPr lang="pt-BR" sz="4000" dirty="0"/>
              <a:t> de usuários.</a:t>
            </a:r>
          </a:p>
        </p:txBody>
      </p:sp>
    </p:spTree>
    <p:extLst>
      <p:ext uri="{BB962C8B-B14F-4D97-AF65-F5344CB8AC3E}">
        <p14:creationId xmlns:p14="http://schemas.microsoft.com/office/powerpoint/2010/main" val="3932180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63A7-E640-4A8A-1631-5724B189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89E9F7E-5DE8-F388-87AC-8E85674D156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1DC782B-BB77-21E8-3BEC-952E15F36F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C16966-68B9-6BCA-C437-A702C81D549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4A68D51-CC03-3261-93FF-2948E924594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4494C1-F1B0-C82A-C731-A5964E56AFC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3165675-EE88-D9EF-5EB0-01237F4FD7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HTTP + REST + JSON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133912-2ABA-D3E6-83EE-A0B5150A27E6}"/>
              </a:ext>
            </a:extLst>
          </p:cNvPr>
          <p:cNvSpPr txBox="1"/>
          <p:nvPr/>
        </p:nvSpPr>
        <p:spPr>
          <a:xfrm>
            <a:off x="1526490" y="244141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Imagine um </a:t>
            </a:r>
            <a:r>
              <a:rPr lang="pt-BR" sz="4000" b="1" dirty="0" err="1"/>
              <a:t>frontend</a:t>
            </a:r>
            <a:r>
              <a:rPr lang="pt-BR" sz="4000" dirty="0"/>
              <a:t> querendo cadastrar um aluno.</a:t>
            </a:r>
          </a:p>
          <a:p>
            <a:endParaRPr lang="pt-BR" sz="4000" dirty="0"/>
          </a:p>
          <a:p>
            <a:r>
              <a:rPr lang="pt-BR" sz="4000" dirty="0"/>
              <a:t>Ele envia:</a:t>
            </a:r>
          </a:p>
          <a:p>
            <a:r>
              <a:rPr lang="pt-BR" sz="4000" dirty="0"/>
              <a:t>	POST /alunos</a:t>
            </a:r>
          </a:p>
          <a:p>
            <a:endParaRPr lang="pt-BR" sz="4000" dirty="0"/>
          </a:p>
          <a:p>
            <a:r>
              <a:rPr lang="pt-BR" sz="4000" dirty="0"/>
              <a:t>Com um </a:t>
            </a:r>
            <a:r>
              <a:rPr lang="pt-BR" sz="4000" b="1" dirty="0"/>
              <a:t>JSON</a:t>
            </a:r>
            <a:r>
              <a:rPr lang="pt-BR" sz="4000" dirty="0"/>
              <a:t>:</a:t>
            </a:r>
          </a:p>
          <a:p>
            <a:endParaRPr lang="pt-BR" sz="4000" dirty="0"/>
          </a:p>
          <a:p>
            <a:r>
              <a:rPr lang="pt-BR" sz="4000" dirty="0"/>
              <a:t>{</a:t>
            </a:r>
          </a:p>
          <a:p>
            <a:r>
              <a:rPr lang="pt-BR" sz="4000" dirty="0"/>
              <a:t>    "nome": "João",</a:t>
            </a:r>
          </a:p>
          <a:p>
            <a:r>
              <a:rPr lang="pt-BR" sz="4000" dirty="0"/>
              <a:t>    "idade": 18,</a:t>
            </a:r>
          </a:p>
          <a:p>
            <a:r>
              <a:rPr lang="pt-BR" sz="4000" dirty="0"/>
              <a:t>    "curso": "Técnico em Desenvolvimento de Sistemas"</a:t>
            </a:r>
          </a:p>
          <a:p>
            <a:r>
              <a:rPr lang="pt-BR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100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B247-BCFB-A336-8C7F-9CAB33CE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2E89DC-77B3-9C4B-B10A-D495FA740FF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9385A57-6E39-7EA5-3ABE-BDD746F2E7C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AC60188-2AC8-A026-4610-5DECA443737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E258AAD-4850-2E46-E269-DFB14F6C6B0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BC1F221-13FD-103A-E3F9-BEAABE21332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1528B76-5D95-BD25-B593-B6B737534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HTTP + REST + JSON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1594BB7-CB89-53AA-5CEE-C0E1B0CBA81A}"/>
              </a:ext>
            </a:extLst>
          </p:cNvPr>
          <p:cNvSpPr txBox="1"/>
          <p:nvPr/>
        </p:nvSpPr>
        <p:spPr>
          <a:xfrm>
            <a:off x="1526490" y="2441415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servidor </a:t>
            </a:r>
            <a:r>
              <a:rPr lang="pt-BR" sz="4000" b="1" dirty="0"/>
              <a:t>recebe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Processa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Salva no banco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E pode devolver:</a:t>
            </a:r>
          </a:p>
          <a:p>
            <a:r>
              <a:rPr lang="pt-BR" sz="4000" dirty="0"/>
              <a:t>{</a:t>
            </a:r>
          </a:p>
          <a:p>
            <a:r>
              <a:rPr lang="pt-BR" sz="4000" dirty="0"/>
              <a:t>    "id": 1,</a:t>
            </a:r>
          </a:p>
          <a:p>
            <a:r>
              <a:rPr lang="pt-BR" sz="4000" dirty="0"/>
              <a:t>    "nome": "João",</a:t>
            </a:r>
          </a:p>
          <a:p>
            <a:r>
              <a:rPr lang="pt-BR" sz="4000" dirty="0"/>
              <a:t>    "idade": 18,</a:t>
            </a:r>
          </a:p>
          <a:p>
            <a:r>
              <a:rPr lang="pt-BR" sz="4000" dirty="0"/>
              <a:t>    "curso": "Técnico em Desenvolvimento de Sistemas"</a:t>
            </a:r>
          </a:p>
          <a:p>
            <a:r>
              <a:rPr lang="pt-BR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0164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A comunicação fica: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4EA2B1A-02EA-8E19-3752-55E5C7C33C4A}"/>
              </a:ext>
            </a:extLst>
          </p:cNvPr>
          <p:cNvSpPr txBox="1"/>
          <p:nvPr/>
        </p:nvSpPr>
        <p:spPr>
          <a:xfrm>
            <a:off x="6013450" y="3091244"/>
            <a:ext cx="486857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	FRONTEND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|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|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POST /alunos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|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↓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┌────────────────┐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│     EXPRESS    │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│    BACKEND     │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└────────────────┘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|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↓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BANCO DE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DADOS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|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↓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Resposta em JSON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|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    ↓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            FRONTEND</a:t>
            </a:r>
          </a:p>
        </p:txBody>
      </p:sp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9E56-406C-9DC0-C0BA-86356EA4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474735B-4481-A639-AE46-02C6F6C2C86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4534551-0E1C-95DF-323E-BCDB609967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296176-B723-6A9A-269C-111118320A3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E72A672-16D1-C7C6-88DB-A4A7A204EC8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44EF875-DCC9-41B8-9E0D-B9029A798AF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19D6DCF-FDCF-F196-4B45-5281A7E73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Status HTTP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1DAF19-2C72-004F-1FD2-D76B0CEA8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297950"/>
              </p:ext>
            </p:extLst>
          </p:nvPr>
        </p:nvGraphicFramePr>
        <p:xfrm>
          <a:off x="2996793" y="3355077"/>
          <a:ext cx="15589657" cy="6309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79667">
                  <a:extLst>
                    <a:ext uri="{9D8B030D-6E8A-4147-A177-3AD203B41FA5}">
                      <a16:colId xmlns:a16="http://schemas.microsoft.com/office/drawing/2014/main" val="3399732805"/>
                    </a:ext>
                  </a:extLst>
                </a:gridCol>
                <a:gridCol w="10109990">
                  <a:extLst>
                    <a:ext uri="{9D8B030D-6E8A-4147-A177-3AD203B41FA5}">
                      <a16:colId xmlns:a16="http://schemas.microsoft.com/office/drawing/2014/main" val="4220114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 b="1" dirty="0"/>
                        <a:t>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 b="1" dirty="0"/>
                        <a:t>Significado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91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OK — requisição realizada com sucesso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18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Created — recurso criado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534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No Content — sucesso sem conteúdo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50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Bad Request — requisição inválida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27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Unauthorized — não autenticado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76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Forbidden — acesso proibido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928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/>
                        <a:t>Not Found — recurso não encontrado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03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0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000" dirty="0" err="1"/>
                        <a:t>Internal</a:t>
                      </a:r>
                      <a:r>
                        <a:rPr lang="pt-BR" sz="4000" dirty="0"/>
                        <a:t> Server Error — erro no servidor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723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366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3891</TotalTime>
  <Words>4897</Words>
  <Application>Microsoft Office PowerPoint</Application>
  <PresentationFormat>Personalizar</PresentationFormat>
  <Paragraphs>386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Montserrat ExtraBold</vt:lpstr>
      <vt:lpstr>Calibri</vt:lpstr>
      <vt:lpstr>Montserrat Light</vt:lpstr>
      <vt:lpstr>Montserrat</vt:lpstr>
      <vt:lpstr>Arial</vt:lpstr>
      <vt:lpstr>Office Theme</vt:lpstr>
      <vt:lpstr>Apresentação do PowerPoint</vt:lpstr>
      <vt:lpstr>WebServices </vt:lpstr>
      <vt:lpstr>O que são Web Services?</vt:lpstr>
      <vt:lpstr>O que são WevServices?</vt:lpstr>
      <vt:lpstr>O que são WebServies?</vt:lpstr>
      <vt:lpstr>O que é HTTP?</vt:lpstr>
      <vt:lpstr>O que é HTTP?</vt:lpstr>
      <vt:lpstr>Requisição HTTP</vt:lpstr>
      <vt:lpstr>Métodos HTTP</vt:lpstr>
      <vt:lpstr>GET</vt:lpstr>
      <vt:lpstr>POST</vt:lpstr>
      <vt:lpstr>PUT</vt:lpstr>
      <vt:lpstr>PATCH</vt:lpstr>
      <vt:lpstr>Delete</vt:lpstr>
      <vt:lpstr>O que é REST?</vt:lpstr>
      <vt:lpstr>Recursos do REST?</vt:lpstr>
      <vt:lpstr>Recursos do REST?</vt:lpstr>
      <vt:lpstr>O que é JSON?</vt:lpstr>
      <vt:lpstr>Objetos em JSON?</vt:lpstr>
      <vt:lpstr>Arrays em JSON?</vt:lpstr>
      <vt:lpstr>HTTP + REST + JSON</vt:lpstr>
      <vt:lpstr>HTTP + REST + JSON</vt:lpstr>
      <vt:lpstr> </vt:lpstr>
      <vt:lpstr>Status HTTP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539</cp:revision>
  <cp:lastPrinted>2025-02-13T13:17:19Z</cp:lastPrinted>
  <dcterms:created xsi:type="dcterms:W3CDTF">2021-08-24T16:20:14Z</dcterms:created>
  <dcterms:modified xsi:type="dcterms:W3CDTF">2026-09-08T13:56:14Z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