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89" r:id="rId3"/>
    <p:sldId id="358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6" r:id="rId15"/>
    <p:sldId id="445" r:id="rId16"/>
    <p:sldId id="447" r:id="rId17"/>
    <p:sldId id="449" r:id="rId18"/>
    <p:sldId id="450" r:id="rId19"/>
    <p:sldId id="453" r:id="rId20"/>
    <p:sldId id="454" r:id="rId21"/>
    <p:sldId id="455" r:id="rId22"/>
    <p:sldId id="456" r:id="rId23"/>
    <p:sldId id="457" r:id="rId24"/>
    <p:sldId id="451" r:id="rId25"/>
    <p:sldId id="458" r:id="rId26"/>
    <p:sldId id="459" r:id="rId27"/>
    <p:sldId id="460" r:id="rId28"/>
    <p:sldId id="46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31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69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49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3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7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91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12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73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91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49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039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587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482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76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819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451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85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b="0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 b="0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 b="0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 b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dirty="0"/>
              <a:t>Estrutura de Funcionamento da Internet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85348C0-10CA-436E-BBB4-6B40B31411F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546FB97-6E38-40AE-B5DD-EB55DD5B9A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49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5271BEF-C107-C040-D34D-895221981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5636" y="4585245"/>
            <a:ext cx="10000725" cy="8614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pt-BR" sz="2800" b="1" dirty="0" err="1">
                <a:solidFill>
                  <a:schemeClr val="bg1"/>
                </a:solidFill>
              </a:rPr>
              <a:t>Prof°</a:t>
            </a:r>
            <a:r>
              <a:rPr lang="pt-BR" sz="2800" b="1" dirty="0">
                <a:solidFill>
                  <a:schemeClr val="bg1"/>
                </a:solidFill>
              </a:rPr>
              <a:t> Jansen / </a:t>
            </a:r>
            <a:r>
              <a:rPr lang="pt-BR" sz="2800" b="1" dirty="0" err="1">
                <a:solidFill>
                  <a:schemeClr val="bg1"/>
                </a:solidFill>
              </a:rPr>
              <a:t>Luis</a:t>
            </a:r>
            <a:r>
              <a:rPr lang="pt-BR" sz="2800" b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359582-731F-FBA8-D2E7-6A98FA7AE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0970C41-7134-9C02-0E25-BC4451E9DA04}"/>
              </a:ext>
            </a:extLst>
          </p:cNvPr>
          <p:cNvSpPr txBox="1">
            <a:spLocks/>
          </p:cNvSpPr>
          <p:nvPr/>
        </p:nvSpPr>
        <p:spPr>
          <a:xfrm>
            <a:off x="895351" y="2422069"/>
            <a:ext cx="10925174" cy="1615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 err="1">
                <a:solidFill>
                  <a:schemeClr val="bg1"/>
                </a:solidFill>
              </a:rPr>
              <a:t>Sitemas</a:t>
            </a:r>
            <a:r>
              <a:rPr lang="pt-BR" sz="6000" b="1" dirty="0">
                <a:solidFill>
                  <a:schemeClr val="bg1"/>
                </a:solidFill>
              </a:rPr>
              <a:t> Operacionais</a:t>
            </a:r>
          </a:p>
        </p:txBody>
      </p:sp>
    </p:spTree>
    <p:extLst>
      <p:ext uri="{BB962C8B-B14F-4D97-AF65-F5344CB8AC3E}">
        <p14:creationId xmlns:p14="http://schemas.microsoft.com/office/powerpoint/2010/main" val="137783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1056-8BBE-CF62-17F7-ED41F029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Poder da pergunta | DISCOVER Magazine">
            <a:extLst>
              <a:ext uri="{FF2B5EF4-FFF2-40B4-BE49-F238E27FC236}">
                <a16:creationId xmlns:a16="http://schemas.microsoft.com/office/drawing/2014/main" id="{17B6FCF8-A08E-5557-3A5B-D9243E750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150" y="2698403"/>
            <a:ext cx="5183235" cy="391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6CCF816-7351-AE5C-68DF-5AF5F643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A7E3AF4-9F3F-5FB3-4BA8-B02AA93E5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5AB89-B620-B7AE-8253-B1C084E3C878}"/>
              </a:ext>
            </a:extLst>
          </p:cNvPr>
          <p:cNvSpPr txBox="1">
            <a:spLocks/>
          </p:cNvSpPr>
          <p:nvPr/>
        </p:nvSpPr>
        <p:spPr>
          <a:xfrm>
            <a:off x="383540" y="3493405"/>
            <a:ext cx="6150610" cy="26889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4000" dirty="0"/>
              <a:t>O que significa, </a:t>
            </a:r>
            <a:r>
              <a:rPr lang="pt-BR" sz="4000" b="1" dirty="0"/>
              <a:t>para você</a:t>
            </a:r>
            <a:r>
              <a:rPr lang="pt-BR" sz="4000" dirty="0"/>
              <a:t>, o termo </a:t>
            </a:r>
            <a:r>
              <a:rPr lang="pt-BR" sz="4000" b="1" dirty="0"/>
              <a:t>Sistema Operacionais</a:t>
            </a:r>
            <a:r>
              <a:rPr lang="pt-BR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075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0E52-FF78-AF19-4527-59B8F22E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3C08B68-E237-9994-0465-2BE6BB180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Imagens de Pessoa em dúvida sem royalties | DepositPhotos">
            <a:extLst>
              <a:ext uri="{FF2B5EF4-FFF2-40B4-BE49-F238E27FC236}">
                <a16:creationId xmlns:a16="http://schemas.microsoft.com/office/drawing/2014/main" id="{17B00D10-6E82-21CC-9A75-D16AF7559E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751BB-C66F-D14A-A700-237CA09C193F}"/>
              </a:ext>
            </a:extLst>
          </p:cNvPr>
          <p:cNvSpPr txBox="1">
            <a:spLocks/>
          </p:cNvSpPr>
          <p:nvPr/>
        </p:nvSpPr>
        <p:spPr>
          <a:xfrm>
            <a:off x="383540" y="3581400"/>
            <a:ext cx="11046460" cy="2801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dirty="0"/>
              <a:t>Um </a:t>
            </a:r>
            <a:r>
              <a:rPr lang="pt-BR" sz="3200" b="1" dirty="0"/>
              <a:t>Sistema Operacional (SO) </a:t>
            </a:r>
            <a:r>
              <a:rPr lang="pt-BR" sz="3200" dirty="0"/>
              <a:t>é o software fundamental que gerencia todos os recursos de hardware.</a:t>
            </a:r>
            <a:endParaRPr lang="pt-BR" sz="60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ED9B763-6BF4-FE71-230C-622D31118ECB}"/>
              </a:ext>
            </a:extLst>
          </p:cNvPr>
          <p:cNvSpPr txBox="1">
            <a:spLocks/>
          </p:cNvSpPr>
          <p:nvPr/>
        </p:nvSpPr>
        <p:spPr>
          <a:xfrm>
            <a:off x="572770" y="2582981"/>
            <a:ext cx="2353310" cy="693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Resposta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CD53AE1-4581-4748-6F3D-E22A8E42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</p:spTree>
    <p:extLst>
      <p:ext uri="{BB962C8B-B14F-4D97-AF65-F5344CB8AC3E}">
        <p14:creationId xmlns:p14="http://schemas.microsoft.com/office/powerpoint/2010/main" val="429296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B87C8-9068-AA4C-F990-975B3C69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5F0611-BA12-727B-B7E3-B8C2A10B2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Imagens de Pessoa em dúvida sem royalties | DepositPhotos">
            <a:extLst>
              <a:ext uri="{FF2B5EF4-FFF2-40B4-BE49-F238E27FC236}">
                <a16:creationId xmlns:a16="http://schemas.microsoft.com/office/drawing/2014/main" id="{2A2E22C6-FE99-A8F6-92A0-C7C479D16B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02A8950-788A-0B90-935A-8DAAE4A46DC4}"/>
              </a:ext>
            </a:extLst>
          </p:cNvPr>
          <p:cNvSpPr txBox="1">
            <a:spLocks/>
          </p:cNvSpPr>
          <p:nvPr/>
        </p:nvSpPr>
        <p:spPr>
          <a:xfrm>
            <a:off x="572769" y="2582981"/>
            <a:ext cx="4426933" cy="693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Recapitulando!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23AD6CF-BEA5-C296-37EB-501830D1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30EC9B9-8DD8-3CF9-8B46-7E7D78C4A7DF}"/>
              </a:ext>
            </a:extLst>
          </p:cNvPr>
          <p:cNvSpPr txBox="1">
            <a:spLocks/>
          </p:cNvSpPr>
          <p:nvPr/>
        </p:nvSpPr>
        <p:spPr>
          <a:xfrm>
            <a:off x="383540" y="4068318"/>
            <a:ext cx="5560060" cy="18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4000" dirty="0"/>
              <a:t>O que significa o termo </a:t>
            </a:r>
            <a:r>
              <a:rPr lang="pt-BR" sz="4000" b="1" dirty="0"/>
              <a:t>Hardware?</a:t>
            </a:r>
          </a:p>
        </p:txBody>
      </p:sp>
      <p:pic>
        <p:nvPicPr>
          <p:cNvPr id="1026" name="Picture 2" descr="duvida">
            <a:extLst>
              <a:ext uri="{FF2B5EF4-FFF2-40B4-BE49-F238E27FC236}">
                <a16:creationId xmlns:a16="http://schemas.microsoft.com/office/drawing/2014/main" id="{B0ED85E2-2AE8-8058-558A-D2F5B1ABB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020" y="2490484"/>
            <a:ext cx="3498709" cy="436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790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76B54-5008-F0AB-5D1B-B04D3C385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3BA36A7-1638-E756-0227-A35CFD4C7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0017B-C1AC-5379-7D0F-C20DA7A5984A}"/>
              </a:ext>
            </a:extLst>
          </p:cNvPr>
          <p:cNvSpPr txBox="1">
            <a:spLocks/>
          </p:cNvSpPr>
          <p:nvPr/>
        </p:nvSpPr>
        <p:spPr>
          <a:xfrm>
            <a:off x="383540" y="3581400"/>
            <a:ext cx="11046460" cy="129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/>
              <a:t>Hardware</a:t>
            </a:r>
            <a:r>
              <a:rPr lang="pt-BR" sz="3200" dirty="0"/>
              <a:t> é a </a:t>
            </a:r>
            <a:r>
              <a:rPr lang="pt-BR" sz="3200" b="1" dirty="0"/>
              <a:t>parte física</a:t>
            </a:r>
            <a:r>
              <a:rPr lang="pt-BR" sz="3200" dirty="0"/>
              <a:t> de um computador ou dispositivo eletrônico.</a:t>
            </a:r>
            <a:endParaRPr lang="pt-BR" sz="60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C0F8C27-EE68-97F0-15CF-6C933829CF31}"/>
              </a:ext>
            </a:extLst>
          </p:cNvPr>
          <p:cNvSpPr txBox="1">
            <a:spLocks/>
          </p:cNvSpPr>
          <p:nvPr/>
        </p:nvSpPr>
        <p:spPr>
          <a:xfrm>
            <a:off x="572770" y="2582981"/>
            <a:ext cx="2353310" cy="693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Resposta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AF9F8DC-C327-E728-F99B-479DAD9E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</p:spTree>
    <p:extLst>
      <p:ext uri="{BB962C8B-B14F-4D97-AF65-F5344CB8AC3E}">
        <p14:creationId xmlns:p14="http://schemas.microsoft.com/office/powerpoint/2010/main" val="182663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10D5-F34D-DA54-CAD0-C82E30BE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BC3751C-292A-7241-9A0B-1E7441165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Imagens de Pessoa em dúvida sem royalties | DepositPhotos">
            <a:extLst>
              <a:ext uri="{FF2B5EF4-FFF2-40B4-BE49-F238E27FC236}">
                <a16:creationId xmlns:a16="http://schemas.microsoft.com/office/drawing/2014/main" id="{122CD2EF-4D31-A422-614E-7C08272C6C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B5D9E3-C617-AB5A-5F08-44E3E81D21C1}"/>
              </a:ext>
            </a:extLst>
          </p:cNvPr>
          <p:cNvSpPr txBox="1">
            <a:spLocks/>
          </p:cNvSpPr>
          <p:nvPr/>
        </p:nvSpPr>
        <p:spPr>
          <a:xfrm>
            <a:off x="383540" y="2569636"/>
            <a:ext cx="5117608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COMPONENTES</a:t>
            </a:r>
            <a:endParaRPr lang="pt-BR" sz="60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7ECCAC35-D94C-49BD-0898-578BD66AD93D}"/>
              </a:ext>
            </a:extLst>
          </p:cNvPr>
          <p:cNvSpPr txBox="1">
            <a:spLocks/>
          </p:cNvSpPr>
          <p:nvPr/>
        </p:nvSpPr>
        <p:spPr>
          <a:xfrm>
            <a:off x="1154954" y="1527957"/>
            <a:ext cx="2353310" cy="463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95000"/>
                  </a:schemeClr>
                </a:solidFill>
              </a:rPr>
              <a:t>Hardware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FADFC5F-E588-76BC-2407-BBDED41C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1C26C08F-0583-CE9D-D4A2-AFFCCD37D045}"/>
              </a:ext>
            </a:extLst>
          </p:cNvPr>
          <p:cNvSpPr txBox="1">
            <a:spLocks/>
          </p:cNvSpPr>
          <p:nvPr/>
        </p:nvSpPr>
        <p:spPr>
          <a:xfrm>
            <a:off x="6420188" y="2569636"/>
            <a:ext cx="5117608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PERIFÉRICOS</a:t>
            </a:r>
            <a:endParaRPr lang="pt-BR" sz="60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1A95659-A89D-105E-CB77-82226CCE0E0B}"/>
              </a:ext>
            </a:extLst>
          </p:cNvPr>
          <p:cNvSpPr txBox="1">
            <a:spLocks/>
          </p:cNvSpPr>
          <p:nvPr/>
        </p:nvSpPr>
        <p:spPr>
          <a:xfrm>
            <a:off x="418052" y="3232146"/>
            <a:ext cx="5117608" cy="2652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Componentes </a:t>
            </a:r>
            <a:r>
              <a:rPr lang="pt-BR" sz="3200" dirty="0"/>
              <a:t>são peças fundamentais para o funcionamento do computador</a:t>
            </a:r>
            <a:endParaRPr lang="pt-BR" sz="6000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9385F51-00EB-5686-6A98-770EE1532C07}"/>
              </a:ext>
            </a:extLst>
          </p:cNvPr>
          <p:cNvSpPr txBox="1">
            <a:spLocks/>
          </p:cNvSpPr>
          <p:nvPr/>
        </p:nvSpPr>
        <p:spPr>
          <a:xfrm>
            <a:off x="6385676" y="3232146"/>
            <a:ext cx="5117608" cy="2837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Periféricos </a:t>
            </a:r>
            <a:r>
              <a:rPr lang="pt-BR" sz="3200" dirty="0"/>
              <a:t>são dispositivos conectados ao computador que serve para expandir seus recursos.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10464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7" grpId="0" build="p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EDB9-D36E-34F5-C34E-C0A5E69C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1AB97BD-A207-2F56-D0C7-BB634CCD2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99D18-6C4C-446B-C26B-FD94E28444AB}"/>
              </a:ext>
            </a:extLst>
          </p:cNvPr>
          <p:cNvSpPr txBox="1">
            <a:spLocks/>
          </p:cNvSpPr>
          <p:nvPr/>
        </p:nvSpPr>
        <p:spPr>
          <a:xfrm>
            <a:off x="383539" y="2569636"/>
            <a:ext cx="11154257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Exemplo de Componentes</a:t>
            </a:r>
            <a:endParaRPr lang="pt-BR" sz="60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082C444-9795-EAE5-7B8C-1429DC2DCDFD}"/>
              </a:ext>
            </a:extLst>
          </p:cNvPr>
          <p:cNvSpPr txBox="1">
            <a:spLocks/>
          </p:cNvSpPr>
          <p:nvPr/>
        </p:nvSpPr>
        <p:spPr>
          <a:xfrm>
            <a:off x="1154954" y="1527957"/>
            <a:ext cx="2353310" cy="463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95000"/>
                  </a:schemeClr>
                </a:solidFill>
              </a:rPr>
              <a:t>Hardware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A2CC80-4F04-5F90-3BB6-DF00AA02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1869CE5-98D5-FB6F-5E71-B2CE36DDA188}"/>
              </a:ext>
            </a:extLst>
          </p:cNvPr>
          <p:cNvSpPr txBox="1">
            <a:spLocks/>
          </p:cNvSpPr>
          <p:nvPr/>
        </p:nvSpPr>
        <p:spPr>
          <a:xfrm>
            <a:off x="418052" y="3232145"/>
            <a:ext cx="5117608" cy="3360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HD</a:t>
            </a:r>
          </a:p>
          <a:p>
            <a:r>
              <a:rPr lang="pt-BR" sz="3200" dirty="0"/>
              <a:t>Memória </a:t>
            </a:r>
            <a:r>
              <a:rPr lang="pt-BR" sz="3200" dirty="0" err="1"/>
              <a:t>Ram</a:t>
            </a:r>
            <a:endParaRPr lang="pt-BR" sz="3200" dirty="0"/>
          </a:p>
          <a:p>
            <a:r>
              <a:rPr lang="pt-BR" sz="3200" dirty="0"/>
              <a:t>Placa Mãe</a:t>
            </a:r>
          </a:p>
          <a:p>
            <a:r>
              <a:rPr lang="pt-BR" sz="3200" dirty="0"/>
              <a:t>Processador</a:t>
            </a:r>
          </a:p>
          <a:p>
            <a:r>
              <a:rPr lang="pt-BR" sz="3200" dirty="0"/>
              <a:t>Fonte de Alimentação</a:t>
            </a:r>
          </a:p>
        </p:txBody>
      </p:sp>
      <p:pic>
        <p:nvPicPr>
          <p:cNvPr id="18" name="Imagem 17" descr="Tela de um aparelho eletrônico&#10;&#10;O conteúdo gerado por IA pode estar incorreto.">
            <a:extLst>
              <a:ext uri="{FF2B5EF4-FFF2-40B4-BE49-F238E27FC236}">
                <a16:creationId xmlns:a16="http://schemas.microsoft.com/office/drawing/2014/main" id="{D78F6C85-DC71-C8FD-205D-37E8FE175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06" y="2725755"/>
            <a:ext cx="5703842" cy="380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16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3479-191D-C973-A4E6-D037CFE2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E074FC3-281C-9702-B2BD-4F9C4C175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76C6B-2369-AD47-8F58-CF375D96BE41}"/>
              </a:ext>
            </a:extLst>
          </p:cNvPr>
          <p:cNvSpPr txBox="1">
            <a:spLocks/>
          </p:cNvSpPr>
          <p:nvPr/>
        </p:nvSpPr>
        <p:spPr>
          <a:xfrm>
            <a:off x="383539" y="2569636"/>
            <a:ext cx="11154257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Exemplo de Periféricos</a:t>
            </a:r>
            <a:endParaRPr lang="pt-BR" sz="60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E730F53-D1EF-9B63-6390-2A0FC2249073}"/>
              </a:ext>
            </a:extLst>
          </p:cNvPr>
          <p:cNvSpPr txBox="1">
            <a:spLocks/>
          </p:cNvSpPr>
          <p:nvPr/>
        </p:nvSpPr>
        <p:spPr>
          <a:xfrm>
            <a:off x="1154954" y="1527957"/>
            <a:ext cx="2353310" cy="463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95000"/>
                  </a:schemeClr>
                </a:solidFill>
              </a:rPr>
              <a:t>Hardware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5B8DFE4-D134-5C24-9A88-E7B55510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D0B0573-9F74-AA63-620D-E8E95C4D4DE2}"/>
              </a:ext>
            </a:extLst>
          </p:cNvPr>
          <p:cNvSpPr txBox="1">
            <a:spLocks/>
          </p:cNvSpPr>
          <p:nvPr/>
        </p:nvSpPr>
        <p:spPr>
          <a:xfrm>
            <a:off x="418052" y="3232145"/>
            <a:ext cx="5117608" cy="3360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Mouse</a:t>
            </a:r>
          </a:p>
          <a:p>
            <a:r>
              <a:rPr lang="pt-BR" sz="3200" dirty="0"/>
              <a:t>Teclado</a:t>
            </a:r>
          </a:p>
          <a:p>
            <a:r>
              <a:rPr lang="pt-BR" sz="3200" dirty="0"/>
              <a:t>Monitor</a:t>
            </a:r>
          </a:p>
          <a:p>
            <a:r>
              <a:rPr lang="pt-BR" sz="3200" dirty="0" err="1"/>
              <a:t>Pendrive</a:t>
            </a:r>
            <a:endParaRPr lang="pt-BR" sz="3200" dirty="0"/>
          </a:p>
          <a:p>
            <a:r>
              <a:rPr lang="pt-BR" sz="3200" dirty="0"/>
              <a:t>Impressora</a:t>
            </a:r>
          </a:p>
        </p:txBody>
      </p:sp>
      <p:pic>
        <p:nvPicPr>
          <p:cNvPr id="10" name="Imagem 9" descr="Computador ligado sobre uma mesa&#10;&#10;O conteúdo gerado por IA pode estar incorreto.">
            <a:extLst>
              <a:ext uri="{FF2B5EF4-FFF2-40B4-BE49-F238E27FC236}">
                <a16:creationId xmlns:a16="http://schemas.microsoft.com/office/drawing/2014/main" id="{8FA87909-602E-8064-5105-B1EDAEAB5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651" y="2923118"/>
            <a:ext cx="5314154" cy="354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1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7D00-2FC9-F4AA-B8DB-68243493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A50FADB-196A-969B-2B64-9B2D8B18B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8F0129-D003-CE3D-5299-1B5D679D3278}"/>
              </a:ext>
            </a:extLst>
          </p:cNvPr>
          <p:cNvSpPr txBox="1">
            <a:spLocks/>
          </p:cNvSpPr>
          <p:nvPr/>
        </p:nvSpPr>
        <p:spPr>
          <a:xfrm>
            <a:off x="518871" y="3070331"/>
            <a:ext cx="11154257" cy="328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/>
              <a:t>Características Principais de um Sistema Operacional de Código Fechado!</a:t>
            </a:r>
            <a:endParaRPr lang="pt-BR" sz="115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9744A73-220A-9506-47CB-27EEFBD5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</p:spTree>
    <p:extLst>
      <p:ext uri="{BB962C8B-B14F-4D97-AF65-F5344CB8AC3E}">
        <p14:creationId xmlns:p14="http://schemas.microsoft.com/office/powerpoint/2010/main" val="1353250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D4B8-C5FB-1027-2C74-0C621090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C23F5C3-99D8-95A9-10D9-FB3D319C7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EE0AD3-B71D-58C5-2607-33D13ED3B0DC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543664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Fechado.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5D2FF20-8DF1-883D-D7A0-06245648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72630999-7AF5-D7BE-7D86-D601B48D31E6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Acesso Restrito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2CCE6421-CEF9-37B2-96CB-DD2AFB106968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O </a:t>
            </a:r>
            <a:r>
              <a:rPr lang="pt-BR" sz="2800" b="1" dirty="0"/>
              <a:t>código-fonte</a:t>
            </a:r>
            <a:r>
              <a:rPr lang="pt-BR" sz="2800" dirty="0"/>
              <a:t> é um segredo comercial, </a:t>
            </a:r>
            <a:r>
              <a:rPr lang="pt-BR" sz="2800" b="1" dirty="0"/>
              <a:t>protegido</a:t>
            </a:r>
            <a:r>
              <a:rPr lang="pt-BR" sz="2800" dirty="0"/>
              <a:t> por patentes.</a:t>
            </a:r>
            <a:endParaRPr lang="pt-BR" sz="5400" dirty="0"/>
          </a:p>
        </p:txBody>
      </p:sp>
      <p:pic>
        <p:nvPicPr>
          <p:cNvPr id="2050" name="Picture 2" descr="Segurança da Informação - Tudo o que você precisa saber">
            <a:extLst>
              <a:ext uri="{FF2B5EF4-FFF2-40B4-BE49-F238E27FC236}">
                <a16:creationId xmlns:a16="http://schemas.microsoft.com/office/drawing/2014/main" id="{A8AB6D9F-E3D0-6D0C-6259-6C886FBC54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0" r="27056"/>
          <a:stretch>
            <a:fillRect/>
          </a:stretch>
        </p:blipFill>
        <p:spPr bwMode="auto">
          <a:xfrm>
            <a:off x="6838717" y="2866609"/>
            <a:ext cx="4115289" cy="352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91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F267-E3F1-E77B-BBF3-0860FA8F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6D24EF6-FBF9-A2D9-4BDE-95941CFDF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8DD5459-3257-376A-9E4C-0E701C21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4825CDF8-C93E-C219-3F5C-A7922818DAC2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Licenciamento Pago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C0BA49B-3CAE-A59B-3A5A-297E466C316A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Geralmente </a:t>
            </a:r>
            <a:r>
              <a:rPr lang="pt-BR" sz="2800" b="1" dirty="0"/>
              <a:t>envolve custos</a:t>
            </a:r>
            <a:r>
              <a:rPr lang="pt-BR" sz="2800" dirty="0"/>
              <a:t> de </a:t>
            </a:r>
            <a:r>
              <a:rPr lang="pt-BR" sz="2800" b="1" dirty="0"/>
              <a:t>compra ou assinatura</a:t>
            </a:r>
            <a:r>
              <a:rPr lang="pt-BR" sz="2800" dirty="0"/>
              <a:t>, não sendo gratuito.</a:t>
            </a:r>
            <a:endParaRPr lang="pt-BR" sz="5400" dirty="0"/>
          </a:p>
        </p:txBody>
      </p:sp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F65681F-E9F0-AD1D-A099-A9F74B442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34" y="3070873"/>
            <a:ext cx="4940710" cy="3293807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6F2ECA85-87E1-5373-B905-736FCBE529C5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543664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Fechado.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30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282D-339A-18B2-7851-DF1A460A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tualização do sistema. Programadores minúsculos atualizando o sistema  operacional. Especialistas em TI atualizando software, programas e  aplicativos. Erro técnico, serviço. Página da web com atualização da barra  de progresso e despertador |">
            <a:extLst>
              <a:ext uri="{FF2B5EF4-FFF2-40B4-BE49-F238E27FC236}">
                <a16:creationId xmlns:a16="http://schemas.microsoft.com/office/drawing/2014/main" id="{729AFC4C-0BE2-46B1-F71F-D145476FB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70" y="3203809"/>
            <a:ext cx="5659579" cy="319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5DEE6BC-D6F9-8A52-740C-EAA9A47FC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35461DA-EA8C-6395-1E9B-E14C4B64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0E1939B-CA32-1BA6-4516-CEE8123350D4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Desenvolvimento Centralizado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C1DCC06-5F5D-F531-408C-A136D955E63B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Atualizações e correções</a:t>
            </a:r>
            <a:r>
              <a:rPr lang="pt-BR" sz="2800" dirty="0"/>
              <a:t> são feitas </a:t>
            </a:r>
            <a:r>
              <a:rPr lang="pt-BR" sz="2800" b="1" dirty="0"/>
              <a:t>exclusivamente</a:t>
            </a:r>
            <a:r>
              <a:rPr lang="pt-BR" sz="2800" dirty="0"/>
              <a:t> pela empresa criadora.</a:t>
            </a:r>
            <a:endParaRPr lang="pt-BR" sz="54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26C2C76-4865-71D6-9738-A40890BEA321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543664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Fechado.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06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2575-8597-9C87-8A23-063934B1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687106F-69F0-FF4A-8AE0-69F12F10E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A2625495-96D0-2953-03BE-3D466E50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46A035E-B5B7-B0E0-DDE5-786BA45B8A47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Facilidade de Uso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0FB70C5-AE97-D4FD-AD92-66465A145D7C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Focado no usuário final, oferecendo uma </a:t>
            </a:r>
            <a:r>
              <a:rPr lang="pt-BR" sz="2800" b="1" dirty="0"/>
              <a:t>interface geralmente mais estável</a:t>
            </a:r>
            <a:r>
              <a:rPr lang="pt-BR" sz="2800" dirty="0"/>
              <a:t> e pronta </a:t>
            </a:r>
            <a:r>
              <a:rPr lang="pt-BR" sz="2800" b="1" dirty="0"/>
              <a:t>para uso imediato</a:t>
            </a:r>
            <a:r>
              <a:rPr lang="pt-BR" sz="2800" dirty="0"/>
              <a:t>.</a:t>
            </a:r>
            <a:endParaRPr lang="pt-BR" sz="5400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8B44FDA-3E14-B8C8-AEB8-7D1148932AA2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543664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Fechado.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Imagem 9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844ABAB-C7E0-7650-5255-C24E47867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37" y="2543905"/>
            <a:ext cx="5117978" cy="352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91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78E8-3419-E378-C8FA-0F3DF540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B9A61B6-4D5E-938B-69D5-6D761019E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B8FFB6-519A-57DD-2508-8BE2EF9ADB1A}"/>
              </a:ext>
            </a:extLst>
          </p:cNvPr>
          <p:cNvSpPr txBox="1">
            <a:spLocks/>
          </p:cNvSpPr>
          <p:nvPr/>
        </p:nvSpPr>
        <p:spPr>
          <a:xfrm>
            <a:off x="518871" y="2757948"/>
            <a:ext cx="11154257" cy="3598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/>
              <a:t>Exemplo de Sistema Operacional de Código Fechado.</a:t>
            </a:r>
            <a:endParaRPr lang="pt-BR" sz="115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83A00BA-0146-EC7C-3EBA-AB10DD7B3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70A3C22-503A-BD9E-9D46-4664CDAB684B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543664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Fechado.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21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A017-6C6D-2CE6-C080-81F960CE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E1A9223-3217-C5DC-1662-B75E46DC0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DDA5E-7F23-5262-FDBA-9C7A992609E8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Fechado.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FD3DB49-5124-9DCA-EEE2-7B9C3962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358939A-FF23-E8CF-1D0D-EFCD9F074704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2292036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PC</a:t>
            </a:r>
            <a:endParaRPr lang="pt-BR" sz="6000" dirty="0"/>
          </a:p>
        </p:txBody>
      </p:sp>
      <p:pic>
        <p:nvPicPr>
          <p:cNvPr id="3074" name="Picture 2" descr="Windows Logo (PNG e SVG) Download Vetorial Transparente">
            <a:extLst>
              <a:ext uri="{FF2B5EF4-FFF2-40B4-BE49-F238E27FC236}">
                <a16:creationId xmlns:a16="http://schemas.microsoft.com/office/drawing/2014/main" id="{C0A4D138-FFA5-9B71-0E62-515157BC9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338" y="3741207"/>
            <a:ext cx="21336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46750B08-F9A5-35C1-192C-8135808582C1}"/>
              </a:ext>
            </a:extLst>
          </p:cNvPr>
          <p:cNvSpPr txBox="1">
            <a:spLocks/>
          </p:cNvSpPr>
          <p:nvPr/>
        </p:nvSpPr>
        <p:spPr>
          <a:xfrm>
            <a:off x="2103542" y="4641516"/>
            <a:ext cx="4680715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dirty="0"/>
              <a:t>Microsoft Windows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784764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7832-FBCC-72E4-8B0B-6B71AF38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F5D3EF1-D670-841F-B6F8-5AA1B2ADE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ECB766-5D95-877A-A4A2-B86FB227DCCB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Fechado.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4E490E5-EA35-E7A5-84E9-216631C8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98A7806-2755-E81D-93C2-8D1818449C4F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2292036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PC</a:t>
            </a:r>
            <a:endParaRPr lang="pt-BR" sz="60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DAB7E33-A114-6D8F-15FB-35E857D6D9AC}"/>
              </a:ext>
            </a:extLst>
          </p:cNvPr>
          <p:cNvSpPr txBox="1">
            <a:spLocks/>
          </p:cNvSpPr>
          <p:nvPr/>
        </p:nvSpPr>
        <p:spPr>
          <a:xfrm>
            <a:off x="2103542" y="4641516"/>
            <a:ext cx="4680715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dirty="0" err="1"/>
              <a:t>MacOs</a:t>
            </a:r>
            <a:r>
              <a:rPr lang="pt-BR" sz="3200" dirty="0"/>
              <a:t> (Apple)</a:t>
            </a:r>
            <a:endParaRPr lang="pt-BR" sz="6000" dirty="0"/>
          </a:p>
        </p:txBody>
      </p:sp>
      <p:pic>
        <p:nvPicPr>
          <p:cNvPr id="4098" name="Picture 2" descr="Mac OS Logo PNG Transparent &amp; SVG Vector - Freebie Supply">
            <a:extLst>
              <a:ext uri="{FF2B5EF4-FFF2-40B4-BE49-F238E27FC236}">
                <a16:creationId xmlns:a16="http://schemas.microsoft.com/office/drawing/2014/main" id="{98F8947F-8178-DD47-CE60-781A9AF2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697" y="2476083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251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5C0A4-1966-931C-4617-A7C1E219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6DD731F-9BB4-4243-E490-CC1728E90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855FB-9782-3224-C659-71D838960DED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Fechado.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F3FD8F4-84D0-99F7-3B85-2BC4430C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58C52C-7FC0-3757-8607-D487E9EFC86C}"/>
              </a:ext>
            </a:extLst>
          </p:cNvPr>
          <p:cNvSpPr txBox="1">
            <a:spLocks/>
          </p:cNvSpPr>
          <p:nvPr/>
        </p:nvSpPr>
        <p:spPr>
          <a:xfrm>
            <a:off x="613395" y="2933161"/>
            <a:ext cx="3147443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Mobile</a:t>
            </a:r>
            <a:endParaRPr lang="pt-BR" sz="60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6B21CF81-1C71-9B7C-596E-3EF619EC7FB0}"/>
              </a:ext>
            </a:extLst>
          </p:cNvPr>
          <p:cNvSpPr txBox="1">
            <a:spLocks/>
          </p:cNvSpPr>
          <p:nvPr/>
        </p:nvSpPr>
        <p:spPr>
          <a:xfrm>
            <a:off x="2103542" y="4641516"/>
            <a:ext cx="4680715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dirty="0"/>
              <a:t>Apple IOS</a:t>
            </a:r>
            <a:endParaRPr lang="pt-BR" sz="6000" dirty="0"/>
          </a:p>
        </p:txBody>
      </p:sp>
      <p:pic>
        <p:nvPicPr>
          <p:cNvPr id="5122" name="Picture 2" descr="Ios Logo Vector Art, Icons, and Graphics for Free Download">
            <a:extLst>
              <a:ext uri="{FF2B5EF4-FFF2-40B4-BE49-F238E27FC236}">
                <a16:creationId xmlns:a16="http://schemas.microsoft.com/office/drawing/2014/main" id="{502D66A0-86E4-191D-9FEF-1B5167A1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432" y="2820583"/>
            <a:ext cx="4474292" cy="364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841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A5677-C84C-1ACA-4DD1-53166798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0B20F4B-7242-33F0-F4A7-C054A2B44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E2799A-00B7-B808-BC69-09377F224C84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Fechado.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A80CB8F-50A1-0042-797D-7A0A53EC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190FF59-A10E-AD8C-28D7-FEC0F774C162}"/>
              </a:ext>
            </a:extLst>
          </p:cNvPr>
          <p:cNvSpPr txBox="1">
            <a:spLocks/>
          </p:cNvSpPr>
          <p:nvPr/>
        </p:nvSpPr>
        <p:spPr>
          <a:xfrm>
            <a:off x="613395" y="2933161"/>
            <a:ext cx="3147443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Mobile</a:t>
            </a:r>
            <a:endParaRPr lang="pt-BR" sz="6000" dirty="0"/>
          </a:p>
        </p:txBody>
      </p:sp>
      <p:pic>
        <p:nvPicPr>
          <p:cNvPr id="6150" name="Picture 6" descr="Windows Phone Logo Download - AI - All Vector Logo">
            <a:extLst>
              <a:ext uri="{FF2B5EF4-FFF2-40B4-BE49-F238E27FC236}">
                <a16:creationId xmlns:a16="http://schemas.microsoft.com/office/drawing/2014/main" id="{9B61207F-C8B0-B248-E520-B4FB41B1D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98" y="3286643"/>
            <a:ext cx="5449766" cy="294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931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5BDF-0B60-C0DD-36A7-A9532E2F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5699A72-F57E-53DE-A64D-FCDEE78CA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A9B7E-66B0-68F4-3DCC-3488039CD324}"/>
              </a:ext>
            </a:extLst>
          </p:cNvPr>
          <p:cNvSpPr txBox="1">
            <a:spLocks/>
          </p:cNvSpPr>
          <p:nvPr/>
        </p:nvSpPr>
        <p:spPr>
          <a:xfrm>
            <a:off x="518871" y="3070331"/>
            <a:ext cx="11154257" cy="328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/>
              <a:t>Características Principais de um Sistema Operacional de Código Aberto!</a:t>
            </a:r>
            <a:endParaRPr lang="pt-BR" sz="115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8D4E9B4-ED0A-BAC2-45CC-D4159F13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</p:spTree>
    <p:extLst>
      <p:ext uri="{BB962C8B-B14F-4D97-AF65-F5344CB8AC3E}">
        <p14:creationId xmlns:p14="http://schemas.microsoft.com/office/powerpoint/2010/main" val="960567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2FBE-4A65-FDA5-70BB-D9666439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CD90D48-C22D-3B39-B3BF-AA436F2E9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66BDE-3D36-7BD7-6AD6-C43E9C1B4F8D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484671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Aberto.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527E97-2C77-A399-2B26-A95949EE1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288D829D-8252-69CF-A908-21536768A1FE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Código Acessível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F963E6EC-C8AC-C828-BA47-7E6EB2C2E786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O </a:t>
            </a:r>
            <a:r>
              <a:rPr lang="pt-BR" sz="2800" b="1" dirty="0"/>
              <a:t>código-fonte</a:t>
            </a:r>
            <a:r>
              <a:rPr lang="pt-BR" sz="2800" dirty="0"/>
              <a:t> está </a:t>
            </a:r>
            <a:r>
              <a:rPr lang="pt-BR" sz="2800" b="1" dirty="0"/>
              <a:t>disponível</a:t>
            </a:r>
            <a:r>
              <a:rPr lang="pt-BR" sz="2800" dirty="0"/>
              <a:t> para estudo e alteração.</a:t>
            </a:r>
            <a:endParaRPr lang="pt-BR" sz="5400" dirty="0"/>
          </a:p>
        </p:txBody>
      </p:sp>
      <p:pic>
        <p:nvPicPr>
          <p:cNvPr id="15364" name="Picture 4" descr="15 fatos sobre programação que você provavelmente não sabia | iMasters">
            <a:extLst>
              <a:ext uri="{FF2B5EF4-FFF2-40B4-BE49-F238E27FC236}">
                <a16:creationId xmlns:a16="http://schemas.microsoft.com/office/drawing/2014/main" id="{DC72B0FB-C174-6FA5-8181-385E43B90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098" y="2886214"/>
            <a:ext cx="5966506" cy="31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91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13C3-572E-5BF0-E81C-86941005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91A1D23-1C9B-27B6-2F5B-491421B43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862B34-E741-8939-AB9F-34832AE22C1A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484671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Aberto.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6525792-99F8-7DDC-F1C7-74599317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141B9156-A5F8-0B35-8A4B-B010CA7916E5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Colaboração Global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9015662-2262-8DD9-A6C4-5062851B5791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Desenvolvido</a:t>
            </a:r>
            <a:r>
              <a:rPr lang="pt-BR" sz="2800" dirty="0"/>
              <a:t> por comunidades e empresas, </a:t>
            </a:r>
            <a:r>
              <a:rPr lang="pt-BR" sz="2800" b="1" dirty="0"/>
              <a:t>não por uma única entidade</a:t>
            </a:r>
            <a:r>
              <a:rPr lang="pt-BR" sz="2800" dirty="0"/>
              <a:t>.</a:t>
            </a:r>
            <a:endParaRPr lang="pt-BR" sz="5400" dirty="0"/>
          </a:p>
        </p:txBody>
      </p:sp>
      <p:pic>
        <p:nvPicPr>
          <p:cNvPr id="16386" name="Picture 2" descr="Software Colaborativo de Tarefas: Como Avaliar - SabeSim">
            <a:extLst>
              <a:ext uri="{FF2B5EF4-FFF2-40B4-BE49-F238E27FC236}">
                <a16:creationId xmlns:a16="http://schemas.microsoft.com/office/drawing/2014/main" id="{FDD309C6-CD11-2023-62C9-65DC2C696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382" y="2476083"/>
            <a:ext cx="3851173" cy="385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60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17C5-C102-2BA5-B1FD-3B1F0F99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8E3E238-7ED3-FCCF-8046-EE4ED7BA8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565C1-968B-22EB-C60F-D3A58172B655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484671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Aberto.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D11947A-AA1D-B7AC-935B-858951BC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9C226504-4131-7A58-9E72-6819763056F8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Liberdade de Uso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F588A6E-C88B-704F-2EB6-B02A5ED08A85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Geralmente gratuito, </a:t>
            </a:r>
            <a:r>
              <a:rPr lang="pt-BR" sz="2800" b="1" dirty="0"/>
              <a:t>permite a modificação</a:t>
            </a:r>
            <a:r>
              <a:rPr lang="pt-BR" sz="2800" dirty="0"/>
              <a:t> para necessidades específicas.</a:t>
            </a:r>
            <a:endParaRPr lang="pt-BR" sz="5400" dirty="0"/>
          </a:p>
        </p:txBody>
      </p:sp>
      <p:pic>
        <p:nvPicPr>
          <p:cNvPr id="17410" name="Picture 2" descr="Atualizacao Do Sistema Animações – Download Grátis em GIF, Lottie JSON">
            <a:extLst>
              <a:ext uri="{FF2B5EF4-FFF2-40B4-BE49-F238E27FC236}">
                <a16:creationId xmlns:a16="http://schemas.microsoft.com/office/drawing/2014/main" id="{E31BFBB3-57E5-490D-519A-D9FE482DD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93" y="3049075"/>
            <a:ext cx="3990361" cy="28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332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AC6C-52AB-5EBD-FF1A-7270CE9C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8CA1FD9-BB47-5B9E-7ABC-689155B9D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7F3B1F-CCDF-EDE9-22A1-D1AD14012C3A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9484671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Características Principais de um Sistema Operacional de Código Aberto.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0370BEE-244E-FD61-8F88-C576D8A2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CC4C128D-C9BD-6855-A62C-77E5E6CAAC2F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10924400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Licenciamento Aberto</a:t>
            </a:r>
            <a:endParaRPr lang="pt-BR" sz="60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16433C1-29B5-06AB-1354-2D387C0DB2CE}"/>
              </a:ext>
            </a:extLst>
          </p:cNvPr>
          <p:cNvSpPr txBox="1">
            <a:spLocks/>
          </p:cNvSpPr>
          <p:nvPr/>
        </p:nvSpPr>
        <p:spPr>
          <a:xfrm>
            <a:off x="633799" y="3654192"/>
            <a:ext cx="5462201" cy="1950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/>
              <a:t>Segue licenças que garantem a não discriminação de uso e a liberdade de modificação.</a:t>
            </a:r>
            <a:endParaRPr lang="pt-BR" sz="5400" dirty="0"/>
          </a:p>
        </p:txBody>
      </p:sp>
      <p:pic>
        <p:nvPicPr>
          <p:cNvPr id="18434" name="Picture 2" descr="LIBERDADE DE EXPRESSÃO NA ERA DA INTERNET: O DILEMA DAS REDES SOCIAIS –  Portal Ambiente Legal">
            <a:extLst>
              <a:ext uri="{FF2B5EF4-FFF2-40B4-BE49-F238E27FC236}">
                <a16:creationId xmlns:a16="http://schemas.microsoft.com/office/drawing/2014/main" id="{C2B8E845-1D7F-FC2E-F06B-6A17D5E8B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8" y="2933161"/>
            <a:ext cx="5227988" cy="297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116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3088-4EC9-05CB-46BA-E67F9950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D9B0E40-61F5-1D2A-1E11-EEBF78EA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19C0FC-943C-C4D7-69FF-55198EED82CC}"/>
              </a:ext>
            </a:extLst>
          </p:cNvPr>
          <p:cNvSpPr txBox="1">
            <a:spLocks/>
          </p:cNvSpPr>
          <p:nvPr/>
        </p:nvSpPr>
        <p:spPr>
          <a:xfrm>
            <a:off x="518871" y="2757948"/>
            <a:ext cx="11154257" cy="3598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6000" b="1" dirty="0"/>
              <a:t>Exemplo de Sistema Operacional de Código Aberto.</a:t>
            </a:r>
            <a:endParaRPr lang="pt-BR" sz="115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F85C270-B814-5415-724A-FC0C5AF2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</p:spTree>
    <p:extLst>
      <p:ext uri="{BB962C8B-B14F-4D97-AF65-F5344CB8AC3E}">
        <p14:creationId xmlns:p14="http://schemas.microsoft.com/office/powerpoint/2010/main" val="2198584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E406-9542-A2D7-503A-7839E1D6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A3BC568-8D15-66CB-A377-A51B4D66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28E8FE-0D27-1A4A-02AE-0C96694D7BB8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Aberto.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45741F2-2516-67BE-9844-5C72F8BFB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406FBEE-C9FF-F02A-6EC5-A59DB35EC750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2292036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PC</a:t>
            </a:r>
            <a:endParaRPr lang="pt-BR" sz="60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2CC3C9D-F922-FEC9-6DE0-624026F3E6C4}"/>
              </a:ext>
            </a:extLst>
          </p:cNvPr>
          <p:cNvSpPr txBox="1">
            <a:spLocks/>
          </p:cNvSpPr>
          <p:nvPr/>
        </p:nvSpPr>
        <p:spPr>
          <a:xfrm>
            <a:off x="2103542" y="4641516"/>
            <a:ext cx="2719181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dirty="0"/>
              <a:t>Linux</a:t>
            </a:r>
            <a:endParaRPr lang="pt-BR" sz="6000" dirty="0"/>
          </a:p>
        </p:txBody>
      </p:sp>
      <p:pic>
        <p:nvPicPr>
          <p:cNvPr id="7170" name="Picture 2" descr="Linux Logo: valor, história, PNG">
            <a:extLst>
              <a:ext uri="{FF2B5EF4-FFF2-40B4-BE49-F238E27FC236}">
                <a16:creationId xmlns:a16="http://schemas.microsoft.com/office/drawing/2014/main" id="{4B6C6E0A-2E6E-5441-40B7-69A8A14AF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831" y="2933161"/>
            <a:ext cx="5453627" cy="306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441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97778-D17D-EE34-100A-77B8737A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03C8A4E-A337-9553-0A31-6F4049E8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694CD7D-8712-E2FF-0FE5-C351652A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7CF8009-1339-0DFE-AB07-DAFE04D37101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2292036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PC</a:t>
            </a:r>
            <a:endParaRPr lang="pt-BR" sz="6000" dirty="0"/>
          </a:p>
        </p:txBody>
      </p:sp>
      <p:pic>
        <p:nvPicPr>
          <p:cNvPr id="8194" name="Picture 2" descr="FreeBSD logo and symbol, meaning, history, PNG">
            <a:extLst>
              <a:ext uri="{FF2B5EF4-FFF2-40B4-BE49-F238E27FC236}">
                <a16:creationId xmlns:a16="http://schemas.microsoft.com/office/drawing/2014/main" id="{033715A4-339F-1D96-3239-98BE61442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709" y="3097161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77899701-FCBA-FFE6-971A-B7F2C0245939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Aberto.</a:t>
            </a:r>
          </a:p>
        </p:txBody>
      </p:sp>
    </p:spTree>
    <p:extLst>
      <p:ext uri="{BB962C8B-B14F-4D97-AF65-F5344CB8AC3E}">
        <p14:creationId xmlns:p14="http://schemas.microsoft.com/office/powerpoint/2010/main" val="3223586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92AC-37AB-8250-1878-3CE0BE5D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033E8D9-C734-6EEB-3A47-76CD0B1D7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8A9D847-3E12-C435-FB6B-8B08D12E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E5CC81B-E5B3-EBBD-7DDE-DC3C624531B5}"/>
              </a:ext>
            </a:extLst>
          </p:cNvPr>
          <p:cNvSpPr txBox="1">
            <a:spLocks/>
          </p:cNvSpPr>
          <p:nvPr/>
        </p:nvSpPr>
        <p:spPr>
          <a:xfrm>
            <a:off x="613396" y="2933161"/>
            <a:ext cx="2292036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PC</a:t>
            </a:r>
            <a:endParaRPr lang="pt-BR" sz="6000" dirty="0"/>
          </a:p>
        </p:txBody>
      </p:sp>
      <p:pic>
        <p:nvPicPr>
          <p:cNvPr id="9220" name="Picture 4" descr="Download Chromium OS Logo in SVG Vector or PNG File Format - Logo.wine">
            <a:extLst>
              <a:ext uri="{FF2B5EF4-FFF2-40B4-BE49-F238E27FC236}">
                <a16:creationId xmlns:a16="http://schemas.microsoft.com/office/drawing/2014/main" id="{CCFDED4F-B9F4-42EC-9081-7ADD4A7B9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2" b="28292"/>
          <a:stretch>
            <a:fillRect/>
          </a:stretch>
        </p:blipFill>
        <p:spPr bwMode="auto">
          <a:xfrm>
            <a:off x="613396" y="3144285"/>
            <a:ext cx="10287000" cy="297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F7134935-1760-35E0-4AB4-413AF2923F9D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Aberto.</a:t>
            </a:r>
          </a:p>
        </p:txBody>
      </p:sp>
    </p:spTree>
    <p:extLst>
      <p:ext uri="{BB962C8B-B14F-4D97-AF65-F5344CB8AC3E}">
        <p14:creationId xmlns:p14="http://schemas.microsoft.com/office/powerpoint/2010/main" val="877663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A77C-997C-4143-C0EE-F350BA95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4303F5C-4BBF-FF73-38C1-17BB4E197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13" y="788490"/>
            <a:ext cx="1557183" cy="4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BF7D3D9-E789-AA1C-936A-006AEE1E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t-BR" sz="2800" b="1" dirty="0"/>
              <a:t>Sistemas Operacionais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345C363-D97C-53C6-2E13-62C46D64E34B}"/>
              </a:ext>
            </a:extLst>
          </p:cNvPr>
          <p:cNvSpPr txBox="1">
            <a:spLocks/>
          </p:cNvSpPr>
          <p:nvPr/>
        </p:nvSpPr>
        <p:spPr>
          <a:xfrm>
            <a:off x="613395" y="2933161"/>
            <a:ext cx="4548539" cy="706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200" b="1" dirty="0"/>
              <a:t>Para Mobile</a:t>
            </a:r>
            <a:endParaRPr lang="pt-BR" sz="6000" dirty="0"/>
          </a:p>
        </p:txBody>
      </p:sp>
      <p:pic>
        <p:nvPicPr>
          <p:cNvPr id="6148" name="Picture 4" descr="Android revela nova identidade global | SempreUpdate">
            <a:extLst>
              <a:ext uri="{FF2B5EF4-FFF2-40B4-BE49-F238E27FC236}">
                <a16:creationId xmlns:a16="http://schemas.microsoft.com/office/drawing/2014/main" id="{6BE78155-E203-CE2A-C66C-5FB4858E5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677" y="4100775"/>
            <a:ext cx="5530645" cy="163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FC3154D-63CB-41BB-C32D-62665A0C4522}"/>
              </a:ext>
            </a:extLst>
          </p:cNvPr>
          <p:cNvSpPr txBox="1">
            <a:spLocks/>
          </p:cNvSpPr>
          <p:nvPr/>
        </p:nvSpPr>
        <p:spPr>
          <a:xfrm>
            <a:off x="1134168" y="1509520"/>
            <a:ext cx="8496529" cy="430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Exemplo de Sistema Operacional de Código Aberto.</a:t>
            </a:r>
          </a:p>
        </p:txBody>
      </p:sp>
    </p:spTree>
    <p:extLst>
      <p:ext uri="{BB962C8B-B14F-4D97-AF65-F5344CB8AC3E}">
        <p14:creationId xmlns:p14="http://schemas.microsoft.com/office/powerpoint/2010/main" val="1700022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Vermelho Violet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1898</TotalTime>
  <Words>491</Words>
  <Application>Microsoft Office PowerPoint</Application>
  <PresentationFormat>Widescreen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Century Gothic</vt:lpstr>
      <vt:lpstr>Wingdings 3</vt:lpstr>
      <vt:lpstr>Íon - Sala da Diretoria</vt:lpstr>
      <vt:lpstr>Apresentação do PowerPoint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  <vt:lpstr>Sistemas Operacionais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OreonAdmin</dc:creator>
  <cp:lastModifiedBy>Jansen Rafael Leite</cp:lastModifiedBy>
  <cp:revision>166</cp:revision>
  <dcterms:created xsi:type="dcterms:W3CDTF">2025-08-12T00:13:14Z</dcterms:created>
  <dcterms:modified xsi:type="dcterms:W3CDTF">2026-02-24T01:24:42Z</dcterms:modified>
</cp:coreProperties>
</file>