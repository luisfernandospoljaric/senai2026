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7" r:id="rId4"/>
  </p:sldMasterIdLst>
  <p:notesMasterIdLst>
    <p:notesMasterId r:id="rId18"/>
  </p:notesMasterIdLst>
  <p:sldIdLst>
    <p:sldId id="278" r:id="rId5"/>
    <p:sldId id="1450" r:id="rId6"/>
    <p:sldId id="1351" r:id="rId7"/>
    <p:sldId id="1385" r:id="rId8"/>
    <p:sldId id="1436" r:id="rId9"/>
    <p:sldId id="1437" r:id="rId10"/>
    <p:sldId id="1439" r:id="rId11"/>
    <p:sldId id="1452" r:id="rId12"/>
    <p:sldId id="1451" r:id="rId13"/>
    <p:sldId id="1453" r:id="rId14"/>
    <p:sldId id="1440" r:id="rId15"/>
    <p:sldId id="1445" r:id="rId16"/>
    <p:sldId id="1383" r:id="rId17"/>
  </p:sldIdLst>
  <p:sldSz cx="20104100" cy="11309350"/>
  <p:notesSz cx="20104100" cy="1130935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ExtraBold" panose="00000900000000000000" pitchFamily="2" charset="0"/>
      <p:bold r:id="rId23"/>
      <p:boldItalic r:id="rId24"/>
    </p:embeddedFont>
    <p:embeddedFont>
      <p:font typeface="Montserrat Light" panose="00000400000000000000" pitchFamily="2" charset="0"/>
      <p:regular r:id="rId25"/>
      <p:italic r:id="rId26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verton Fernando Souza Ribeiro" initials="WFSR [2]" lastIdx="5" clrIdx="0">
    <p:extLst>
      <p:ext uri="{19B8F6BF-5375-455C-9EA6-DF929625EA0E}">
        <p15:presenceInfo xmlns:p15="http://schemas.microsoft.com/office/powerpoint/2012/main" userId="S::weverton.ribeiro@sp.senai.br::98c758d7-d0b8-461f-a4ce-ab5e52e2556b" providerId="AD"/>
      </p:ext>
    </p:extLst>
  </p:cmAuthor>
  <p:cmAuthor id="2" name="Weverton Fernando Souza Ribeiro" initials="WFSR" lastIdx="21" clrIdx="1">
    <p:extLst>
      <p:ext uri="{19B8F6BF-5375-455C-9EA6-DF929625EA0E}">
        <p15:presenceInfo xmlns:p15="http://schemas.microsoft.com/office/powerpoint/2012/main" userId="S-1-5-21-3467313907-1213806960-2174068774-2498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394" autoAdjust="0"/>
  </p:normalViewPr>
  <p:slideViewPr>
    <p:cSldViewPr>
      <p:cViewPr varScale="1">
        <p:scale>
          <a:sx n="38" d="100"/>
          <a:sy n="38" d="100"/>
        </p:scale>
        <p:origin x="804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7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11300-05A8-42F5-84F5-2A0388843EF7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25586-B76B-45BD-812B-997E365A37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264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Agradecimentos paroquiais:</a:t>
            </a:r>
          </a:p>
          <a:p>
            <a:pPr marL="171450" indent="-171450">
              <a:buFontTx/>
              <a:buChar char="-"/>
            </a:pPr>
            <a:r>
              <a:rPr lang="pt-BR" dirty="0"/>
              <a:t>Ao publico</a:t>
            </a:r>
          </a:p>
          <a:p>
            <a:pPr marL="171450" indent="-171450">
              <a:buFontTx/>
              <a:buChar char="-"/>
            </a:pPr>
            <a:r>
              <a:rPr lang="pt-BR" dirty="0"/>
              <a:t>A organização da </a:t>
            </a:r>
            <a:r>
              <a:rPr lang="pt-BR" dirty="0" err="1"/>
              <a:t>Fenasucro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420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B0C93-8C4D-D342-0751-DFAFFC3A0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AD4DA30-F33C-A2F7-F92A-DB0DDF479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EFC1E1E-52E2-0E7D-856E-315F556A6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2ECF61-001D-548A-6B73-EF7A0CE53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7902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9EB18-D916-058E-EADA-B6D3EB096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E85CCC1-3AA3-B2D8-B9FF-8D4924C3E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10EC8CE-4C3C-10AB-AC05-D5D96FB6B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32404A-876F-B4CD-9738-58FBA1E87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4530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C70D5-D78B-2AE9-8D97-551E75B4B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89F964E-AC07-B5D0-53A5-3E49E8167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21D073F-637C-67B3-18F2-9BD68E5CF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DE46CA-E8C4-78B3-6C95-FD0CCE109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6865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67B97-2F35-C755-9483-FA93C8477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5DEDE7-5C61-CB66-ED8B-153E3D37D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9A7E664-2E11-EC62-4BAB-8E2FE557B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73EE7A-14B3-98BC-1EC8-00183FB20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5166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8489D-FB49-F7A2-E302-075988D44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FB15743-B70A-1B50-EEA3-4106C0DE6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B0A0550-2792-D41E-72AB-97F3C1C71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274D301-64B1-0A06-D040-65EBDAC06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3303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88B1D-366B-4175-CC1F-70BF8E6A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5B9F202-D839-13D8-09F0-CBDC550F7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343D9D-4788-8D75-56EA-D4CCD1441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3CD274-26A0-5F4F-1484-BF58BA109E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241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6159C-8BC8-9E98-55C3-FF27538BC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F24EE28-58FC-B9E4-D704-813DE128A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7FFAC8C-8AFC-3D22-3710-A7E3625AE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585DA7D-B8A5-9736-4044-769E748B00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074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C12C5-790F-A994-8BE7-886D2BF9E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62E8303-C2A6-3909-B1DD-30AAED308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7F5B5E0-7E42-8560-EF32-AF33A56F9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289989-4AF8-84DB-69A6-FC0C061D4D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34110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1CA24-55C7-48AE-5929-2B89113E1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008E85F-9053-8D9B-F742-F37E68C9C5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AFC59DA-BD5D-9376-6D32-A2D5B5728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4081953-353A-C72B-911D-213EB0D80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1538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BBCE9-B568-BD07-B2FB-4496F6D9A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25E46F4-5BA1-F081-05E2-E5916110B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280149C-139B-2828-101A-052B7915C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8937827-8306-4CFD-56CC-DAFA58E3B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4680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7C54A-C34A-35EC-3E7D-724C5EAB5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431480F-5A81-ACFC-B078-2872CB3ED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08812EB-DB00-A9C0-FD68-416E88899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060B7B-3235-9738-7AEE-F18198BDD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45322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52EFB-EDEE-3B16-E36E-574FD694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9A819D2-E95F-C169-504B-27710A7F8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D43577B-6B26-D3E0-57EF-BD0B7EF28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6045AF-A5AB-3CC4-7E80-4E881D1B1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16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  <p:sp>
        <p:nvSpPr>
          <p:cNvPr id="6" name="Espaço Reservado para Texto 14">
            <a:extLst>
              <a:ext uri="{FF2B5EF4-FFF2-40B4-BE49-F238E27FC236}">
                <a16:creationId xmlns:a16="http://schemas.microsoft.com/office/drawing/2014/main" id="{741322F5-93ED-4D68-A8FF-9359DF6E75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5099" y="448220"/>
            <a:ext cx="15513191" cy="111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56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  <a:lvl2pPr>
              <a:defRPr sz="5277"/>
            </a:lvl2pPr>
            <a:lvl3pPr>
              <a:defRPr sz="4617"/>
            </a:lvl3pPr>
            <a:lvl4pPr>
              <a:defRPr sz="3958"/>
            </a:lvl4pPr>
            <a:lvl5pPr>
              <a:defRPr sz="3958"/>
            </a:lvl5pPr>
          </a:lstStyle>
          <a:p>
            <a:pPr lvl="0"/>
            <a:r>
              <a:rPr lang="pt-BR"/>
              <a:t>Digitar seu título aqui</a:t>
            </a:r>
          </a:p>
        </p:txBody>
      </p:sp>
      <p:sp>
        <p:nvSpPr>
          <p:cNvPr id="7" name="Espaço Reservado para Texto 16">
            <a:extLst>
              <a:ext uri="{FF2B5EF4-FFF2-40B4-BE49-F238E27FC236}">
                <a16:creationId xmlns:a16="http://schemas.microsoft.com/office/drawing/2014/main" id="{2B77ECB5-455F-48E1-AC6C-CB94B5AD6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43929" y="2063797"/>
            <a:ext cx="15514360" cy="507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98" b="1">
                <a:solidFill>
                  <a:srgbClr val="E51E3C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Digitar seu subtítulo aqui</a:t>
            </a:r>
          </a:p>
        </p:txBody>
      </p:sp>
      <p:sp>
        <p:nvSpPr>
          <p:cNvPr id="8" name="Espaço Reservado para Texto 18">
            <a:extLst>
              <a:ext uri="{FF2B5EF4-FFF2-40B4-BE49-F238E27FC236}">
                <a16:creationId xmlns:a16="http://schemas.microsoft.com/office/drawing/2014/main" id="{94A25BC8-06B9-4702-900E-C725EC8984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3930" y="3105603"/>
            <a:ext cx="14341622" cy="1872116"/>
          </a:xfrm>
          <a:prstGeom prst="rect">
            <a:avLst/>
          </a:prstGeom>
        </p:spPr>
        <p:txBody>
          <a:bodyPr/>
          <a:lstStyle>
            <a:lvl1pPr marL="0" marR="0" indent="0" algn="l" defTabSz="1507846" rtl="0" eaLnBrk="1" fontAlgn="auto" latinLnBrk="0" hangingPunct="1">
              <a:lnSpc>
                <a:spcPct val="90000"/>
              </a:lnSpc>
              <a:spcBef>
                <a:spcPts val="164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958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 vero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eos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accusamus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iusto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odio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dignissimos</a:t>
            </a:r>
            <a:endParaRPr lang="pt-BR" sz="3298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77"/>
            </a:endParaRPr>
          </a:p>
          <a:p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praesentium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voluptatum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deleniti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atque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.</a:t>
            </a:r>
          </a:p>
          <a:p>
            <a:pPr lvl="0"/>
            <a:r>
              <a:rPr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2902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" y="398"/>
            <a:ext cx="20102688" cy="11307763"/>
          </a:xfrm>
          <a:prstGeom prst="rect">
            <a:avLst/>
          </a:prstGeom>
        </p:spPr>
      </p:pic>
      <p:sp>
        <p:nvSpPr>
          <p:cNvPr id="12" name="object 10">
            <a:extLst>
              <a:ext uri="{FF2B5EF4-FFF2-40B4-BE49-F238E27FC236}">
                <a16:creationId xmlns:a16="http://schemas.microsoft.com/office/drawing/2014/main" id="{4D48E881-58D3-4B18-B397-6971EA7E7E23}"/>
              </a:ext>
            </a:extLst>
          </p:cNvPr>
          <p:cNvSpPr/>
          <p:nvPr/>
        </p:nvSpPr>
        <p:spPr>
          <a:xfrm>
            <a:off x="706" y="11131431"/>
            <a:ext cx="20102688" cy="16204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299A9214-8828-4B4B-9941-B4CFBF09BDD0}"/>
              </a:ext>
            </a:extLst>
          </p:cNvPr>
          <p:cNvSpPr txBox="1">
            <a:spLocks/>
          </p:cNvSpPr>
          <p:nvPr/>
        </p:nvSpPr>
        <p:spPr>
          <a:xfrm>
            <a:off x="8884870" y="2759075"/>
            <a:ext cx="9994802" cy="2044148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699" defTabSz="1507846">
              <a:spcBef>
                <a:spcPts val="101"/>
              </a:spcBef>
            </a:pPr>
            <a:r>
              <a:rPr lang="pt-BR" sz="6600" b="1" i="1" kern="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Lógica de programação – Aula  2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9DB5E0E8-CC40-4125-A2AE-B830D0D73C7D}"/>
              </a:ext>
            </a:extLst>
          </p:cNvPr>
          <p:cNvSpPr/>
          <p:nvPr/>
        </p:nvSpPr>
        <p:spPr>
          <a:xfrm>
            <a:off x="8017902" y="2454275"/>
            <a:ext cx="0" cy="3087979"/>
          </a:xfrm>
          <a:custGeom>
            <a:avLst/>
            <a:gdLst/>
            <a:ahLst/>
            <a:cxnLst/>
            <a:rect l="l" t="t" r="r" b="b"/>
            <a:pathLst>
              <a:path h="3001009">
                <a:moveTo>
                  <a:pt x="0" y="3000400"/>
                </a:moveTo>
                <a:lnTo>
                  <a:pt x="0" y="0"/>
                </a:lnTo>
              </a:path>
            </a:pathLst>
          </a:custGeom>
          <a:ln w="2783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3" name="object 3">
            <a:extLst>
              <a:ext uri="{FF2B5EF4-FFF2-40B4-BE49-F238E27FC236}">
                <a16:creationId xmlns:a16="http://schemas.microsoft.com/office/drawing/2014/main" id="{F6A5027A-E215-4339-A81A-70A4E1B2C71F}"/>
              </a:ext>
            </a:extLst>
          </p:cNvPr>
          <p:cNvGrpSpPr/>
          <p:nvPr/>
        </p:nvGrpSpPr>
        <p:grpSpPr>
          <a:xfrm>
            <a:off x="2243795" y="3261247"/>
            <a:ext cx="4357813" cy="1145007"/>
            <a:chOff x="15364003" y="1047088"/>
            <a:chExt cx="3693160" cy="94297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35C6579F-DD30-4CD7-8A2C-1FFFDBA4E0E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CD579FB6-1ED6-4812-81D3-EB30E18FC70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A258380-2930-47F4-ACEA-A6BA1F6CA553}"/>
              </a:ext>
            </a:extLst>
          </p:cNvPr>
          <p:cNvGrpSpPr/>
          <p:nvPr/>
        </p:nvGrpSpPr>
        <p:grpSpPr>
          <a:xfrm>
            <a:off x="9201247" y="6873875"/>
            <a:ext cx="9994803" cy="2033890"/>
            <a:chOff x="9201247" y="6873875"/>
            <a:chExt cx="9994803" cy="2033890"/>
          </a:xfrm>
        </p:grpSpPr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2F76E57F-4516-44C1-B269-693C768D9ADE}"/>
                </a:ext>
              </a:extLst>
            </p:cNvPr>
            <p:cNvSpPr txBox="1">
              <a:spLocks/>
            </p:cNvSpPr>
            <p:nvPr/>
          </p:nvSpPr>
          <p:spPr>
            <a:xfrm>
              <a:off x="9201247" y="6873875"/>
              <a:ext cx="9994803" cy="2033890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600" b="1" kern="0" spc="-25" dirty="0">
                <a:solidFill>
                  <a:srgbClr val="C00000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FENASUCRO 2022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Auditório ...</a:t>
              </a:r>
            </a:p>
            <a:p>
              <a:pPr marL="12700" algn="r">
                <a:spcBef>
                  <a:spcPts val="100"/>
                </a:spcBef>
              </a:pPr>
              <a:endParaRPr lang="pt-BR" sz="2400" i="1" kern="0" spc="-25" dirty="0">
                <a:solidFill>
                  <a:srgbClr val="C00000"/>
                </a:solidFill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2400" kern="0" spc="-25" dirty="0">
                  <a:solidFill>
                    <a:srgbClr val="C00000"/>
                  </a:solidFill>
                </a:rPr>
                <a:t>Sertãozinho/SP 19 de ago. de 2022</a:t>
              </a:r>
              <a:endParaRPr lang="pt-BR" sz="2800" kern="0" dirty="0">
                <a:solidFill>
                  <a:srgbClr val="C00000"/>
                </a:solidFill>
              </a:endParaRPr>
            </a:p>
          </p:txBody>
        </p:sp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7A133603-A712-4ECF-9A36-36E433CC4C03}"/>
                </a:ext>
              </a:extLst>
            </p:cNvPr>
            <p:cNvSpPr txBox="1">
              <a:spLocks/>
            </p:cNvSpPr>
            <p:nvPr/>
          </p:nvSpPr>
          <p:spPr>
            <a:xfrm>
              <a:off x="10270078" y="7360398"/>
              <a:ext cx="6857992" cy="1084912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4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FFFFFF"/>
                  </a:solidFill>
                  <a:latin typeface="Montserrat ExtraBold" panose="020B0604020202020204" charset="0"/>
                </a:rPr>
                <a:t>SENAI 5.13 - Jaguariúna</a:t>
              </a:r>
              <a:endParaRPr lang="pt-BR" sz="28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endParaRPr lang="pt-BR" sz="1800" i="1" kern="0" spc="-25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B79C395-5E26-4C89-A9E4-FA649F6D8416}"/>
              </a:ext>
            </a:extLst>
          </p:cNvPr>
          <p:cNvGrpSpPr/>
          <p:nvPr/>
        </p:nvGrpSpPr>
        <p:grpSpPr>
          <a:xfrm>
            <a:off x="12871450" y="9118387"/>
            <a:ext cx="6254754" cy="825868"/>
            <a:chOff x="12871450" y="9118387"/>
            <a:chExt cx="6254754" cy="825868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6CF72D63-5AAF-4BE9-AFFC-BCAFEEB76FB9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8"/>
              <a:ext cx="6254754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chemeClr val="bg2">
                      <a:lumMod val="25000"/>
                    </a:schemeClr>
                  </a:solidFill>
                </a:rPr>
                <a:t>Paulo Rogério Ferreira Tescaro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chemeClr val="bg2">
                      <a:lumMod val="25000"/>
                    </a:schemeClr>
                  </a:solidFill>
                </a:rPr>
                <a:t>Especialista em Tecnologia</a:t>
              </a:r>
              <a:endParaRPr lang="pt-BR" sz="2800" kern="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C0F3FD7B-98E7-4252-8F7C-5224E77E0354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7"/>
              <a:ext cx="6019800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rgbClr val="FFFFFF"/>
                  </a:solidFill>
                </a:rPr>
                <a:t>Luis Fernando Spoljaric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rgbClr val="FFFFFF"/>
                  </a:solidFill>
                </a:rPr>
                <a:t>Instrutor de formação profissional III</a:t>
              </a:r>
              <a:endParaRPr lang="pt-BR" sz="2800" kern="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7EE7E-4B9E-84FC-A879-3D23CF0BF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01EAD97-7E48-D804-DF8E-E8432D9ABDDD}"/>
              </a:ext>
            </a:extLst>
          </p:cNvPr>
          <p:cNvSpPr/>
          <p:nvPr/>
        </p:nvSpPr>
        <p:spPr>
          <a:xfrm>
            <a:off x="-14817" y="-378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E147C2A-AEFD-A4B1-12B7-EAE2931EBD1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0C93F40-920B-99B6-DD14-BF409634303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3AB46CB-D7AF-F4FB-625E-DB63B2FD6A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8847225-EA29-B263-4AAB-7A6A07F4A72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BC0A9A9-0832-B2FC-B348-49820B93E2C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F5C4AF6-1144-D15E-8D31-C4DDA4EDC3D4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4A75463-75D1-30ED-7BE3-9BB6D9872C01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6A9B463-D921-6C9C-78FA-4B9CFED140CB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6B2C8C6-D565-5BB4-2118-BDD5919A82CE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A9B9CD50-41A5-5E01-1AA2-EFE2065620E1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1D8A778E-9BD6-1B80-64AE-178F9B6F541A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3ECCEAFB-96A9-BD83-94C2-01C46CAD6E23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EEC3AB2-45CC-0515-2441-B58A9C0C49F1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7F582F1-4263-BA22-A0B1-44D65A249821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C2D0E1A2-61B9-5B7B-58EE-144587213048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73D22A34-9985-75DF-59C3-17A4E46B3C53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D2D0A9A9-C7C7-B9C7-B43D-C26633AC6E4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DE6C24C5-1FB4-FBE7-6736-799FF197A484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8B91537-915C-F06D-D199-40F9E667C15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F205ADDA-6173-9F10-61D9-0BCC19981C48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D9A6A54-E90D-456E-B44F-D59E94516943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7EB6CDA5-54BC-4390-E511-2DB1615DCDF1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47025E88-C48C-4425-662F-F79E8B30A770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3F39FE87-4E26-E884-821C-ADA9886E2FA1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2737AFA5-D653-DA93-FA86-6933893E9F59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DC846E0B-0519-7B71-8716-1AD780537D21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8E58707-6519-9AB1-CA20-740792B93FF9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CDC35C44-6054-6C3D-2450-C770EC1668D8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AA5C7764-3DEA-35F5-AD84-D31BAE58BC66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0F3849E0-35F5-8B5D-31AE-2CD2CF7243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79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Lógica de Programação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1026" name="Picture 2" descr="Melhores livros de lógica de programação de iniciante a avançado">
            <a:extLst>
              <a:ext uri="{FF2B5EF4-FFF2-40B4-BE49-F238E27FC236}">
                <a16:creationId xmlns:a16="http://schemas.microsoft.com/office/drawing/2014/main" id="{95905678-A3DD-5E2C-F91B-B13AB7E0D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2333" y="2714062"/>
            <a:ext cx="9829800" cy="737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9880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3C8F-B663-0463-E887-B4CAFB68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BB05AB8-E681-D36B-C2D6-65F979C00D9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4B1B6C-6FD2-C4BD-4934-1D43C1B34C2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C7678B0-47B8-9FEA-CDAA-AD777BE4475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4E5F8F3-9610-6FE9-2AD2-C5BC8496E5E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519059-48BB-77C4-E999-9DE30F423B7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823E162-8BED-FF78-C48A-780A25D8E9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62474" y="1105314"/>
            <a:ext cx="13841732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O que é uma linguagem de programação?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62CE79D-FBBD-1F15-A0C0-4C1623434A09}"/>
              </a:ext>
            </a:extLst>
          </p:cNvPr>
          <p:cNvSpPr txBox="1"/>
          <p:nvPr/>
        </p:nvSpPr>
        <p:spPr>
          <a:xfrm>
            <a:off x="1526491" y="3063875"/>
            <a:ext cx="169118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	Uma linguagem de programação é um meio formal que usamos para dar </a:t>
            </a:r>
            <a:r>
              <a:rPr lang="pt-BR" sz="4000" b="1" dirty="0"/>
              <a:t>instruções ao computador.</a:t>
            </a:r>
            <a:endParaRPr lang="pt-BR" sz="4000" dirty="0"/>
          </a:p>
          <a:p>
            <a:r>
              <a:rPr lang="pt-BR" sz="4000" dirty="0"/>
              <a:t>	Essas instruções dizem o que fazer e como fazer, seguindo regras bem rígidas (sintaxe e semântica).</a:t>
            </a:r>
          </a:p>
          <a:p>
            <a:endParaRPr lang="pt-BR" sz="4000" dirty="0"/>
          </a:p>
          <a:p>
            <a:endParaRPr lang="pt-BR" sz="4000" dirty="0"/>
          </a:p>
          <a:p>
            <a:pPr marL="571500" indent="-571500">
              <a:buFontTx/>
              <a:buChar char="-"/>
            </a:pPr>
            <a:r>
              <a:rPr lang="pt-BR" sz="4000" b="1" dirty="0"/>
              <a:t>Resumo:</a:t>
            </a:r>
          </a:p>
          <a:p>
            <a:pPr marL="1028700" lvl="1" indent="-571500">
              <a:buFontTx/>
              <a:buChar char="-"/>
            </a:pPr>
            <a:r>
              <a:rPr lang="pt-BR" sz="4000" dirty="0"/>
              <a:t>Linguagem de programação = </a:t>
            </a:r>
            <a:r>
              <a:rPr lang="pt-BR" sz="4000" b="1" dirty="0"/>
              <a:t>ponte entre o pensamento humano e a máquina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231613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2FC6B-4A73-3666-DFCF-E153B3E7A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0FCC871-585E-CBE6-5F4C-0DEF290EC00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05CEFCF-BB14-7A6F-CCF9-8D65540216A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3CDEF7E-A9DF-223A-6717-BD6E880A22A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4A4961C-7C03-F84F-5795-8A5F4E11D75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2A5131-5932-902F-779D-252A6B81276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661CA753-A932-BF82-1E17-D7A6DDBF87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O que é Sintaxe??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9925B0-592C-2216-07C5-699A06B41D38}"/>
              </a:ext>
            </a:extLst>
          </p:cNvPr>
          <p:cNvSpPr txBox="1"/>
          <p:nvPr/>
        </p:nvSpPr>
        <p:spPr>
          <a:xfrm>
            <a:off x="1526491" y="3063875"/>
            <a:ext cx="169118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Conjunto de regras de escrita.</a:t>
            </a:r>
          </a:p>
        </p:txBody>
      </p:sp>
      <p:pic>
        <p:nvPicPr>
          <p:cNvPr id="8" name="Imagem 7" descr="Texto&#10;&#10;O conteúdo gerado por IA pode estar incorreto.">
            <a:extLst>
              <a:ext uri="{FF2B5EF4-FFF2-40B4-BE49-F238E27FC236}">
                <a16:creationId xmlns:a16="http://schemas.microsoft.com/office/drawing/2014/main" id="{102BC588-FAFC-A681-9BEB-8427CF13D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341" y="5654675"/>
            <a:ext cx="12985418" cy="323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446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18FEE-1638-5E9E-73E1-031C1E544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EFB6DC2-0C47-D4C7-716D-D41C4BC56FB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A2AAD6E-D5BF-44AD-5411-8BBE8D6A1BD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FA91FA0-B669-EAF4-9502-620F2D3EF2D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631F33D-AB25-7CD9-3965-A52A93BDEC1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69D8B77-840C-6C5E-2C13-0F038F47572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3D9B4A4-08F7-F5C8-9EAC-7639EFFA4A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Semânticas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5322D1F-32A3-FB69-5EF3-F5F88BD6B8DD}"/>
              </a:ext>
            </a:extLst>
          </p:cNvPr>
          <p:cNvSpPr txBox="1"/>
          <p:nvPr/>
        </p:nvSpPr>
        <p:spPr>
          <a:xfrm>
            <a:off x="1526490" y="3063875"/>
            <a:ext cx="171361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É o </a:t>
            </a:r>
            <a:r>
              <a:rPr lang="pt-BR" sz="4000" b="1" dirty="0"/>
              <a:t>significado</a:t>
            </a:r>
            <a:r>
              <a:rPr lang="pt-BR" sz="4000" dirty="0"/>
              <a:t> das instruções.</a:t>
            </a:r>
          </a:p>
        </p:txBody>
      </p:sp>
      <p:pic>
        <p:nvPicPr>
          <p:cNvPr id="8" name="Imagem 7" descr="Gráfico&#10;&#10;O conteúdo gerado por IA pode estar incorreto.">
            <a:extLst>
              <a:ext uri="{FF2B5EF4-FFF2-40B4-BE49-F238E27FC236}">
                <a16:creationId xmlns:a16="http://schemas.microsoft.com/office/drawing/2014/main" id="{2F00075A-8AAC-1C69-D759-EA99EDA6D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4538" y="4864384"/>
            <a:ext cx="9840062" cy="393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71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A7C53-729D-F4BE-15CC-ADA2C4415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C3F61A4-0FC9-BD0F-48C1-FEB1E076EDC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8AC48CF-B0D1-21DB-865F-648657E9BC4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2489227-2007-9DAC-850E-840E66DA7F5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786C3D0-A94D-4384-18FB-A4DCD857C52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2AD92FF-1B7B-3AA3-BBBA-A98A0650A22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A8D6344-D3FF-B10C-19AF-C4B879558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417339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Linguagem Compilada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CA60819-CE8B-7619-F5C7-D574835E354D}"/>
              </a:ext>
            </a:extLst>
          </p:cNvPr>
          <p:cNvSpPr txBox="1"/>
          <p:nvPr/>
        </p:nvSpPr>
        <p:spPr>
          <a:xfrm>
            <a:off x="1526491" y="3063875"/>
            <a:ext cx="1691184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É uma linguagem cujo código-fonte é </a:t>
            </a:r>
            <a:r>
              <a:rPr lang="pt-BR" sz="4000" b="1" dirty="0"/>
              <a:t>traduzido de uma vez só</a:t>
            </a:r>
            <a:r>
              <a:rPr lang="pt-BR" sz="4000" dirty="0"/>
              <a:t> para código de máquina por um </a:t>
            </a:r>
            <a:r>
              <a:rPr lang="pt-BR" sz="4000" b="1" dirty="0"/>
              <a:t>compilador</a:t>
            </a:r>
            <a:r>
              <a:rPr lang="pt-BR" sz="4000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Código-fonte → Compilador → Código de máquina → Execução</a:t>
            </a:r>
          </a:p>
        </p:txBody>
      </p:sp>
      <p:pic>
        <p:nvPicPr>
          <p:cNvPr id="2050" name="Picture 2" descr="Compilador: o que é e diferenças do interpretador! – Insights para te  ajudar na carreira em tecnologia | Blog da Trybe">
            <a:extLst>
              <a:ext uri="{FF2B5EF4-FFF2-40B4-BE49-F238E27FC236}">
                <a16:creationId xmlns:a16="http://schemas.microsoft.com/office/drawing/2014/main" id="{982B72D5-D546-9396-AD82-747050EFE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550" y="7102475"/>
            <a:ext cx="952500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675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98163-78B1-0566-A2BB-E496019C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B4A8737-9039-D33A-048B-4995CE5EDED7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2F26487-C564-2C81-C32C-0F35D5511E6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A8B9E85-E9CD-41C9-D942-0DB61B67A2D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4112E9B-BADE-910A-D15A-2C774B03BE1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65DCCD0-6B11-510B-6A10-2AD84D7D1919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785AC3E-B791-07C6-8D63-4783A72456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Linguagem Compilada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A074EF4-7CAB-B483-6E28-AFADAA8A1189}"/>
              </a:ext>
            </a:extLst>
          </p:cNvPr>
          <p:cNvSpPr txBox="1"/>
          <p:nvPr/>
        </p:nvSpPr>
        <p:spPr>
          <a:xfrm>
            <a:off x="1526491" y="3063875"/>
            <a:ext cx="1691184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b="1" dirty="0"/>
              <a:t>Características: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400" b="1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00B050"/>
                </a:solidFill>
              </a:rPr>
              <a:t>Execução mais rápida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00B050"/>
                </a:solidFill>
              </a:rPr>
              <a:t>Melhor desempenho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pt-BR" sz="4400" dirty="0">
              <a:solidFill>
                <a:srgbClr val="00B050"/>
              </a:solidFill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FF0000"/>
                </a:solidFill>
              </a:rPr>
              <a:t>Menos flexível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FF0000"/>
                </a:solidFill>
              </a:rPr>
              <a:t>Precisa recompilar a cada alteração</a:t>
            </a:r>
          </a:p>
        </p:txBody>
      </p:sp>
    </p:spTree>
    <p:extLst>
      <p:ext uri="{BB962C8B-B14F-4D97-AF65-F5344CB8AC3E}">
        <p14:creationId xmlns:p14="http://schemas.microsoft.com/office/powerpoint/2010/main" val="377133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E1497-D25F-0641-61FB-66956329D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D07C5C4-434B-79CC-0A8E-C83966794A45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395933E-C571-5722-EE25-16F4E3D213C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26FAA5D-60C4-1C7E-2FED-2D558C43B29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A84BEA7-3B2D-8C86-DF18-21162D52F62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C96E2FF-D1E1-A66E-4861-9D238538D35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8B2B493-D4D0-32FC-A58C-02995D8D8C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Linguagem Compilada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997B807-BFC5-2868-D830-1BC103EFF046}"/>
              </a:ext>
            </a:extLst>
          </p:cNvPr>
          <p:cNvSpPr txBox="1"/>
          <p:nvPr/>
        </p:nvSpPr>
        <p:spPr>
          <a:xfrm>
            <a:off x="1526491" y="3063875"/>
            <a:ext cx="1691184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b="1" dirty="0"/>
              <a:t>Exemplos: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400" b="1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400" dirty="0"/>
              <a:t>C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pt-BR" sz="44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400" dirty="0"/>
              <a:t>C++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pt-BR" sz="44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400" dirty="0"/>
              <a:t>Go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pt-BR" sz="44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400" dirty="0" err="1"/>
              <a:t>Rust</a:t>
            </a:r>
            <a:endParaRPr lang="pt-BR" sz="4400" dirty="0"/>
          </a:p>
        </p:txBody>
      </p:sp>
      <p:pic>
        <p:nvPicPr>
          <p:cNvPr id="3075" name="Picture 3" descr="Ícones, Logotipos, Símbolos de C programming – Baixe gratuitamente em PNG,  SVG">
            <a:extLst>
              <a:ext uri="{FF2B5EF4-FFF2-40B4-BE49-F238E27FC236}">
                <a16:creationId xmlns:a16="http://schemas.microsoft.com/office/drawing/2014/main" id="{2D71916D-E73A-C80D-3B61-8CF907652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462" y="2529178"/>
            <a:ext cx="3771900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>
            <a:extLst>
              <a:ext uri="{FF2B5EF4-FFF2-40B4-BE49-F238E27FC236}">
                <a16:creationId xmlns:a16="http://schemas.microsoft.com/office/drawing/2014/main" id="{D6A7DBD0-5C72-4B90-F393-D4AABF10D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1050" y="2699292"/>
            <a:ext cx="3046013" cy="3428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 descr="The Go Programming Language">
            <a:extLst>
              <a:ext uri="{FF2B5EF4-FFF2-40B4-BE49-F238E27FC236}">
                <a16:creationId xmlns:a16="http://schemas.microsoft.com/office/drawing/2014/main" id="{0F7D1507-5274-ABD5-DF9B-973CF4812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0" y="6194979"/>
            <a:ext cx="4902412" cy="43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1" name="Picture 9" descr="Ícones, Logotipos, Símbolos de Linguagem de programação rust – Baixe  gratuitamente em PNG, SVG">
            <a:extLst>
              <a:ext uri="{FF2B5EF4-FFF2-40B4-BE49-F238E27FC236}">
                <a16:creationId xmlns:a16="http://schemas.microsoft.com/office/drawing/2014/main" id="{C351F14C-224F-F7BC-1DA8-E50A5E39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2651" y="6604868"/>
            <a:ext cx="3499028" cy="3499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357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92D86-138A-089B-5343-EAA01EF96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8A48EB59-AEA9-7C11-AA7F-1A680AEB816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68C0138-72F0-50DE-4365-61DA48EAEE1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7EF8190-55D3-50CA-B06C-9724C83487A8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2DC72F3-6EE4-A9F4-EA28-EC7A79745719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B151A06-C5A6-DFB5-04F5-B5081582EE5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298684E-7DDF-DD72-49D2-D63830148F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Linguagem Interpretada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587BAEF-CEC5-85D1-32B1-752697164E9E}"/>
              </a:ext>
            </a:extLst>
          </p:cNvPr>
          <p:cNvSpPr txBox="1"/>
          <p:nvPr/>
        </p:nvSpPr>
        <p:spPr>
          <a:xfrm>
            <a:off x="1596129" y="3063875"/>
            <a:ext cx="1691184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É uma linguagem cujo código é </a:t>
            </a:r>
            <a:r>
              <a:rPr lang="pt-BR" sz="4000" b="1" dirty="0"/>
              <a:t>executado linha por linha</a:t>
            </a:r>
            <a:r>
              <a:rPr lang="pt-BR" sz="4000" dirty="0"/>
              <a:t> por um </a:t>
            </a:r>
            <a:r>
              <a:rPr lang="pt-BR" sz="4000" b="1" dirty="0"/>
              <a:t>interpretador</a:t>
            </a:r>
            <a:r>
              <a:rPr lang="pt-BR" sz="4000" dirty="0"/>
              <a:t>, sem gerar um executável final.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Código-fonte → Interpretador → Execução</a:t>
            </a:r>
          </a:p>
        </p:txBody>
      </p:sp>
      <p:pic>
        <p:nvPicPr>
          <p:cNvPr id="4098" name="Picture 2" descr="O Caminho do Programa — Como pensar como um Cientista da Computação: Edição  Interativa em Python">
            <a:extLst>
              <a:ext uri="{FF2B5EF4-FFF2-40B4-BE49-F238E27FC236}">
                <a16:creationId xmlns:a16="http://schemas.microsoft.com/office/drawing/2014/main" id="{7110FE8A-A30A-B4B7-7523-1D91A8DD0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650" y="6569075"/>
            <a:ext cx="9448800" cy="2995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6609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489A2-338D-BCFE-5351-74FCB778B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BE2D181-73CA-0EC0-84B0-1AA7D23A174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A02BCEB-37ED-1BE5-EB38-66790DF6DEB8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64D4E36-25DA-04F8-D9AF-9E5BA795AF70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298DB64-03EE-A3AF-B055-CB24BBB8566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BF16C04-4E4F-13CC-7232-BB93E1DA8D4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C84685B-6597-35A3-CDC2-03A7E0BAF2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Linguagem Interpretada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07B5109-8E8F-B7A8-DCF1-47FAFCFD55A6}"/>
              </a:ext>
            </a:extLst>
          </p:cNvPr>
          <p:cNvSpPr txBox="1"/>
          <p:nvPr/>
        </p:nvSpPr>
        <p:spPr>
          <a:xfrm>
            <a:off x="1596129" y="3063875"/>
            <a:ext cx="16911842" cy="516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spc="-15" dirty="0">
                <a:latin typeface="Montserrat ExtraBold"/>
                <a:cs typeface="Montserrat ExtraBold"/>
              </a:rPr>
              <a:t>Características:</a:t>
            </a:r>
            <a:endParaRPr lang="pt-BR" sz="4000" dirty="0">
              <a:solidFill>
                <a:srgbClr val="00B05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>
              <a:solidFill>
                <a:srgbClr val="00B050"/>
              </a:solidFill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rgbClr val="00B050"/>
                </a:solidFill>
              </a:rPr>
              <a:t>Mais fácil de aprender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rgbClr val="00B050"/>
                </a:solidFill>
              </a:rPr>
              <a:t>Maior flexibilidade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rgbClr val="00B050"/>
                </a:solidFill>
              </a:rPr>
              <a:t>Ideal para prototipação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rgbClr val="FF0000"/>
                </a:solidFill>
              </a:rPr>
              <a:t>Execução mais lenta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rgbClr val="FF0000"/>
                </a:solidFill>
              </a:rPr>
              <a:t>Depende do interpretador</a:t>
            </a:r>
          </a:p>
        </p:txBody>
      </p:sp>
    </p:spTree>
    <p:extLst>
      <p:ext uri="{BB962C8B-B14F-4D97-AF65-F5344CB8AC3E}">
        <p14:creationId xmlns:p14="http://schemas.microsoft.com/office/powerpoint/2010/main" val="3357476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AB56B-0578-668C-8376-1ADD7410C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5F3A1A9-DFB0-5C43-3F4C-FA2D2F7401C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3590AE2-46D3-687B-DD8E-FC312D60671E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31328C6-978A-8853-CFB1-665B74532AD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1C46B81-3977-C530-3F15-B6966698F53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1827312-055C-E1AF-5D3B-45216D074CC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DE0EF67-0016-84C0-C38D-DEFED4FE1D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Linguagem Interpretada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48E560A-2611-E0DC-CB00-4FF44D238448}"/>
              </a:ext>
            </a:extLst>
          </p:cNvPr>
          <p:cNvSpPr txBox="1"/>
          <p:nvPr/>
        </p:nvSpPr>
        <p:spPr>
          <a:xfrm>
            <a:off x="1526491" y="3063875"/>
            <a:ext cx="169118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Exemplos:</a:t>
            </a:r>
          </a:p>
          <a:p>
            <a:endParaRPr lang="pt-BR" sz="4000" b="1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Python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 err="1"/>
              <a:t>JavaScript</a:t>
            </a:r>
            <a:endParaRPr lang="pt-BR" sz="40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PHP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Ruby</a:t>
            </a:r>
          </a:p>
        </p:txBody>
      </p:sp>
      <p:pic>
        <p:nvPicPr>
          <p:cNvPr id="6149" name="Picture 5" descr="ícone de Python vertical logo">
            <a:extLst>
              <a:ext uri="{FF2B5EF4-FFF2-40B4-BE49-F238E27FC236}">
                <a16:creationId xmlns:a16="http://schemas.microsoft.com/office/drawing/2014/main" id="{A9BB024D-ECDD-1F43-016F-FF445D961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2366" y="2908120"/>
            <a:ext cx="3005484" cy="3360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>
            <a:extLst>
              <a:ext uri="{FF2B5EF4-FFF2-40B4-BE49-F238E27FC236}">
                <a16:creationId xmlns:a16="http://schemas.microsoft.com/office/drawing/2014/main" id="{7EE3A363-D0A6-4E85-C9CB-D5FDE29C3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0566" y="2741665"/>
            <a:ext cx="3693159" cy="369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3" name="Picture 9">
            <a:extLst>
              <a:ext uri="{FF2B5EF4-FFF2-40B4-BE49-F238E27FC236}">
                <a16:creationId xmlns:a16="http://schemas.microsoft.com/office/drawing/2014/main" id="{58CC393B-8358-B904-50F0-1BC712A58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450" y="8026066"/>
            <a:ext cx="4723361" cy="2548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5" name="Picture 11" descr="ícone de Ruby simples a marca logo">
            <a:extLst>
              <a:ext uri="{FF2B5EF4-FFF2-40B4-BE49-F238E27FC236}">
                <a16:creationId xmlns:a16="http://schemas.microsoft.com/office/drawing/2014/main" id="{067973BB-01C7-1E12-124B-9C66C18C8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2432" y="7332808"/>
            <a:ext cx="3425901" cy="342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0955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02BDF-731E-8384-C96F-B683068CE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C1F49C39-B26F-1916-E23C-53F93C3F077E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F829799-90D3-ECE0-61D4-58DAC689DF5C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424D621-A0C9-F36F-59C2-7D762EB82EF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D6CA1DE-B624-7988-9395-E9F9FD5AFC38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9C8175D-10AE-2599-5DC1-90698FFC6FDC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EC099FE-2F8F-B26D-8373-E4D614D284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37074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spc="-15" dirty="0">
                <a:latin typeface="Montserrat ExtraBold" panose="00000900000000000000" pitchFamily="2" charset="0"/>
                <a:cs typeface="Montserrat ExtraBold"/>
              </a:rPr>
              <a:t>Compilada X Interpretada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46B6DE72-26B5-6B55-EF04-364B0515A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708623"/>
              </p:ext>
            </p:extLst>
          </p:nvPr>
        </p:nvGraphicFramePr>
        <p:xfrm>
          <a:off x="1822450" y="3444876"/>
          <a:ext cx="16764000" cy="653937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5519436">
                  <a:extLst>
                    <a:ext uri="{9D8B030D-6E8A-4147-A177-3AD203B41FA5}">
                      <a16:colId xmlns:a16="http://schemas.microsoft.com/office/drawing/2014/main" val="2964530525"/>
                    </a:ext>
                  </a:extLst>
                </a:gridCol>
                <a:gridCol w="5622282">
                  <a:extLst>
                    <a:ext uri="{9D8B030D-6E8A-4147-A177-3AD203B41FA5}">
                      <a16:colId xmlns:a16="http://schemas.microsoft.com/office/drawing/2014/main" val="1301347749"/>
                    </a:ext>
                  </a:extLst>
                </a:gridCol>
                <a:gridCol w="5622282">
                  <a:extLst>
                    <a:ext uri="{9D8B030D-6E8A-4147-A177-3AD203B41FA5}">
                      <a16:colId xmlns:a16="http://schemas.microsoft.com/office/drawing/2014/main" val="1820631956"/>
                    </a:ext>
                  </a:extLst>
                </a:gridCol>
              </a:tblGrid>
              <a:tr h="11177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4400" b="1"/>
                        <a:t>Característica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4400" b="1"/>
                        <a:t>Compilada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4400" b="1" dirty="0"/>
                        <a:t>Interpretada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345793"/>
                  </a:ext>
                </a:extLst>
              </a:tr>
              <a:tr h="1117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Velocidade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Alta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Menor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8857691"/>
                  </a:ext>
                </a:extLst>
              </a:tr>
              <a:tr h="1117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Flexibilidade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Baixa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Alta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013860"/>
                  </a:ext>
                </a:extLst>
              </a:tr>
              <a:tr h="1117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 dirty="0"/>
                        <a:t>Facilidade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Média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Alta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6377249"/>
                  </a:ext>
                </a:extLst>
              </a:tr>
              <a:tr h="1117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Depuração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 dirty="0"/>
                        <a:t>Mais difícil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 dirty="0"/>
                        <a:t>Mais fácil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3982556"/>
                  </a:ext>
                </a:extLst>
              </a:tr>
              <a:tr h="950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Exemplo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C, C++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 dirty="0"/>
                        <a:t>Python, JS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9854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5333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32C79-876F-8BCA-8D12-D4F2BB551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36EDED2-0AD8-D73E-BC33-370CE9C79306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39B7059-B4B7-9ECD-2145-F7DFA1EA78A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ABEB08A-CD28-43C9-F728-778EA0AABA7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10737E5-88E5-8F78-242C-022CD77A1A1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F994BF1-8081-4507-FD5B-0E9BB55D8CB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9E71D00-A664-C3A1-DA05-4B69D011180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9EFEC6E-DDF2-7E10-1169-9F07853EAE6B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719C9A4-E42E-69F2-D740-79E7D7ADBD8A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A164F6C-03AF-82A0-4C7B-26442C3A01F4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D9D6A4D-9ED2-966D-3FD1-B1B805747483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69F371D6-36D1-3827-583E-CBD46FEDFB93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52F8A60A-F880-F79B-755A-EB3916E6E3EA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9F4AF6B-F234-2BEF-E2B2-B5F70D04D28C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9042008-CE9E-E81A-36F6-BDC7772B6152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4688A5F-9ED1-9D6D-21F4-25FFDFC9B303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366C110C-C67B-CFE0-EC27-6CCED0C9DD96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A8FB3BC-B7E2-5B39-1DA2-C46B7ED68467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B0EEDBD-B5DD-BAA2-8D78-6036AA1F45A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9087C3B-E86B-C77E-2FF5-036BBB0BCF78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FAEF9E9A-09D0-1C78-9449-DFB0E474D1D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254855F-55DD-DB07-69CC-56914308DBB2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567B985-9066-3F15-080A-9147D2EE62D6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A399721C-0FD9-EF7D-A065-A2B7003B775A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61DA38DD-6CE2-DE52-ED39-B8F197E5464B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841B397A-B5A8-7F96-A82A-3933C02F6CA2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E6EF9F64-01FD-1D6C-90DA-D0703DEB01C1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78D5B3B6-92A0-14F5-CD14-58213C224CC1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0C933A4-FBDB-BBEA-952C-F431EC0685BE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E30F71D-003E-8A31-2CAC-C1B290C3B8BA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110D9E37-6F63-5769-0ADC-03A5570B1F19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FCD99148-6146-CDF9-7BCD-118E4B0681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Dúvidas?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10242" name="Picture 2" descr="Pulp Fiction Travolta GIFs - Find &amp; Share on GIPHY">
            <a:extLst>
              <a:ext uri="{FF2B5EF4-FFF2-40B4-BE49-F238E27FC236}">
                <a16:creationId xmlns:a16="http://schemas.microsoft.com/office/drawing/2014/main" id="{0F93ECCB-FC30-C590-CEF8-40F96FEBA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396" y="3766122"/>
            <a:ext cx="11513308" cy="5756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668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0D1E2450D2CCF4B94B30D13213EC305" ma:contentTypeVersion="14" ma:contentTypeDescription="Crie um novo documento." ma:contentTypeScope="" ma:versionID="80af2ae99a390bb8f99db6a6f71dbd11">
  <xsd:schema xmlns:xsd="http://www.w3.org/2001/XMLSchema" xmlns:xs="http://www.w3.org/2001/XMLSchema" xmlns:p="http://schemas.microsoft.com/office/2006/metadata/properties" xmlns:ns3="e2750cde-43d6-4eda-a582-fdf0d091b109" xmlns:ns4="b37a9e9f-dabd-4ec4-96f1-5ea18684f50e" targetNamespace="http://schemas.microsoft.com/office/2006/metadata/properties" ma:root="true" ma:fieldsID="2dc6d4c45140fd29241634ff7e109878" ns3:_="" ns4:_="">
    <xsd:import namespace="e2750cde-43d6-4eda-a582-fdf0d091b109"/>
    <xsd:import namespace="b37a9e9f-dabd-4ec4-96f1-5ea18684f50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750cde-43d6-4eda-a582-fdf0d091b1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a9e9f-dabd-4ec4-96f1-5ea18684f50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1169B78-FDA6-4A96-82D9-CDF50108CD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750cde-43d6-4eda-a582-fdf0d091b109"/>
    <ds:schemaRef ds:uri="b37a9e9f-dabd-4ec4-96f1-5ea18684f5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A42D19-56A1-4D0B-AB84-67451006DC5A}">
  <ds:schemaRefs>
    <ds:schemaRef ds:uri="http://purl.org/dc/elements/1.1/"/>
    <ds:schemaRef ds:uri="http://schemas.microsoft.com/office/2006/metadata/properties"/>
    <ds:schemaRef ds:uri="b37a9e9f-dabd-4ec4-96f1-5ea18684f50e"/>
    <ds:schemaRef ds:uri="http://purl.org/dc/terms/"/>
    <ds:schemaRef ds:uri="http://schemas.openxmlformats.org/package/2006/metadata/core-properties"/>
    <ds:schemaRef ds:uri="e2750cde-43d6-4eda-a582-fdf0d091b109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4148a6de-0dd1-4d04-a4c5-78e374e4f6d6}" enabled="0" method="" siteId="{4148a6de-0dd1-4d04-a4c5-78e374e4f6d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4806</TotalTime>
  <Words>2111</Words>
  <Application>Microsoft Office PowerPoint</Application>
  <PresentationFormat>Personalizar</PresentationFormat>
  <Paragraphs>137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Calibri</vt:lpstr>
      <vt:lpstr>Montserrat Light</vt:lpstr>
      <vt:lpstr>Montserrat ExtraBold</vt:lpstr>
      <vt:lpstr>Montserrat</vt:lpstr>
      <vt:lpstr>Arial</vt:lpstr>
      <vt:lpstr>Office Theme</vt:lpstr>
      <vt:lpstr>Apresentação do PowerPoint</vt:lpstr>
      <vt:lpstr>Lógica de Programação </vt:lpstr>
      <vt:lpstr>O que é uma linguagem de programação?</vt:lpstr>
      <vt:lpstr>O que é Sintaxe??</vt:lpstr>
      <vt:lpstr>Semânticas</vt:lpstr>
      <vt:lpstr>Linguagem Compilada</vt:lpstr>
      <vt:lpstr>Linguagem Compilada</vt:lpstr>
      <vt:lpstr>Linguagem Compilada</vt:lpstr>
      <vt:lpstr>Linguagem Interpretada</vt:lpstr>
      <vt:lpstr>Linguagem Interpretada</vt:lpstr>
      <vt:lpstr>Linguagem Interpretada</vt:lpstr>
      <vt:lpstr>Compilada X Interpretada</vt:lpstr>
      <vt:lpstr>Dúvidas?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Luis Fernando Spoljaric</cp:lastModifiedBy>
  <cp:revision>540</cp:revision>
  <cp:lastPrinted>2025-02-13T13:17:19Z</cp:lastPrinted>
  <dcterms:created xsi:type="dcterms:W3CDTF">2021-08-24T16:20:14Z</dcterms:created>
  <dcterms:modified xsi:type="dcterms:W3CDTF">2026-02-24T20:09:58Z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0x010100A0D1E2450D2CCF4B94B30D13213EC305</vt:lpwstr>
  </property>
</Properties>
</file>