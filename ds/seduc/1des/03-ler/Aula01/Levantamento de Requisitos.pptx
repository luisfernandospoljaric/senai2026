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25"/>
  </p:notesMasterIdLst>
  <p:sldIdLst>
    <p:sldId id="278" r:id="rId5"/>
    <p:sldId id="1450" r:id="rId6"/>
    <p:sldId id="282" r:id="rId7"/>
    <p:sldId id="1351" r:id="rId8"/>
    <p:sldId id="1385" r:id="rId9"/>
    <p:sldId id="1436" r:id="rId10"/>
    <p:sldId id="1437" r:id="rId11"/>
    <p:sldId id="1439" r:id="rId12"/>
    <p:sldId id="1440" r:id="rId13"/>
    <p:sldId id="1445" r:id="rId14"/>
    <p:sldId id="1376" r:id="rId15"/>
    <p:sldId id="1441" r:id="rId16"/>
    <p:sldId id="1442" r:id="rId17"/>
    <p:sldId id="1443" r:id="rId18"/>
    <p:sldId id="1444" r:id="rId19"/>
    <p:sldId id="1433" r:id="rId20"/>
    <p:sldId id="1446" r:id="rId21"/>
    <p:sldId id="1448" r:id="rId22"/>
    <p:sldId id="1449" r:id="rId23"/>
    <p:sldId id="1383" r:id="rId24"/>
  </p:sldIdLst>
  <p:sldSz cx="20104100" cy="11309350"/>
  <p:notesSz cx="20104100" cy="1130935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ExtraBold" panose="00000900000000000000" pitchFamily="2" charset="0"/>
      <p:bold r:id="rId30"/>
      <p:boldItalic r:id="rId31"/>
    </p:embeddedFont>
    <p:embeddedFont>
      <p:font typeface="Montserrat Light" panose="00000400000000000000" pitchFamily="2" charset="0"/>
      <p:regular r:id="rId32"/>
      <p:italic r:id="rId3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858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BCE9-B568-BD07-B2FB-4496F6D9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5E46F4-5BA1-F081-05E2-E5916110B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80149C-139B-2828-101A-052B7915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937827-8306-4CFD-56CC-DAFA58E3B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468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C54A-C34A-35EC-3E7D-724C5EAB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31480F-5A81-ACFC-B078-2872CB3ED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8812EB-DB00-A9C0-FD68-416E88899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060B7B-3235-9738-7AEE-F18198BDD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532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3F72-BD2C-7833-A759-E4F7D82B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347061-4864-C9C9-8F14-3229B27E4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037810-18DE-60B7-C236-0C7E3D0BC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5C77D7-6155-BDF8-AE88-35F74755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148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65CA-8A95-5777-E06A-DF2FC9B8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9866C5-3215-8304-F9AD-BDE5A3462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7C65C1-A0C7-DF66-C174-FBAA21D0E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E027C3-E207-5FB4-B86B-3B6C5A56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61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DE79-3E8B-0FBF-830C-C9BEC503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5C4BB8-82D6-C17F-DC3D-4C031FA1C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B38368-69D4-DC2A-F71E-76FCFEE4F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D5109B-0F87-28CF-AB16-6E845DCEF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408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00BD-0318-577B-5902-F77A068F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152998-EFA5-C7F4-1B73-22ACA4276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5C5C0D-345B-D63B-57EC-1358B93A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9B7E8F-27A8-2FFB-8189-AA620E145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0022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13998-C9A0-242A-33CD-83005FED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C0767F-C11F-D4AE-F815-4129B8A53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9E21A6-3D1C-FCBB-44C7-9E3875EBE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26B84B-CAE1-CC8E-4D1C-F40CD1053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9210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320-9E11-F43C-D393-77ED3DE6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D2AC2E-349A-E4F4-1925-F78220CB5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791935-AB7F-0E47-6B60-0F3638F5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897171-5135-CCE5-D519-A674A1BC3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7999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529A-7EF0-3CA4-F441-5255847F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8F5F3EF-C1C2-BDB8-DA34-7F0A5D781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C3BD39-A5BF-168C-CDE6-72181A01C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4CD42F-876C-921F-A287-D8733EC80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22491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308D-0DAE-4F99-AFFC-0D0EDA8C6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1BA4BD-C0C4-096D-4A34-23B0F22EA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B56C09-660F-0C5B-85C0-27C232AE3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0F7F43-33A5-0E8F-7463-EFBE38817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980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7D79-E2A8-F6E1-599B-8AE6BE8A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29E7F7-343D-BA23-1F78-D43F4A663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62B9E1-FBDA-C37A-0EA3-40F1B1F5B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A220C0-5682-6108-E62B-89469445E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40714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10692178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Levantamento de Requisitos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Levantamento de Requisitos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32" name="Picture 2" descr="Quais são as principais funções, responsabilidades e preocupações da equipe  de desenvolvimento no Ciclo de Vida do Desenvolvimento de Software (SDLC) -  Ubiminds">
            <a:extLst>
              <a:ext uri="{FF2B5EF4-FFF2-40B4-BE49-F238E27FC236}">
                <a16:creationId xmlns:a16="http://schemas.microsoft.com/office/drawing/2014/main" id="{1A75F30D-01E1-EDCA-30ED-771FA44E3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996" y="1517820"/>
            <a:ext cx="9604473" cy="960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Levantamento de Requisitos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6" name="Picture 2" descr="Análise e levantamento de requisitos em histórias em quadrinhos – Parte 1:  O que são requisitos? - TI Especialistas">
            <a:extLst>
              <a:ext uri="{FF2B5EF4-FFF2-40B4-BE49-F238E27FC236}">
                <a16:creationId xmlns:a16="http://schemas.microsoft.com/office/drawing/2014/main" id="{83E73B37-EB2B-BB54-1EE9-DBAA4408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606" y="2323801"/>
            <a:ext cx="8001000" cy="800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729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Levantamento de Requisitos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- Definição (O que são Requisitos?)</a:t>
            </a:r>
            <a:br>
              <a:rPr lang="pt-BR" sz="4000" dirty="0"/>
            </a:br>
            <a:br>
              <a:rPr lang="pt-BR" sz="4000" dirty="0"/>
            </a:br>
            <a:r>
              <a:rPr lang="pt-BR" sz="4000" b="1" dirty="0"/>
              <a:t>Em outras palavras:</a:t>
            </a:r>
          </a:p>
          <a:p>
            <a:r>
              <a:rPr lang="pt-BR" sz="4000" dirty="0"/>
              <a:t>- Requisito é tudo aquilo que o sistema </a:t>
            </a:r>
            <a:r>
              <a:rPr lang="pt-BR" sz="4000" b="1" dirty="0"/>
              <a:t>precisa ter, fazer ou respeitar</a:t>
            </a:r>
            <a:r>
              <a:rPr lang="pt-BR" sz="4000" dirty="0"/>
              <a:t> para atender o usuário e o negócio.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61CA753-A932-BF82-1E17-D7A6DDBF8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Definição: O mundo dos requisitos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Imagine que você quer construir uma casa. Antes de chamar o pedreiro (o programador), você precisa dizer ao arquiteto (o analista) o que você precisa: quantos quartos, se é sobrado, se tem piscina. Isso são os </a:t>
            </a:r>
            <a:r>
              <a:rPr lang="pt-BR" sz="4000" b="1" dirty="0"/>
              <a:t>requisitos</a:t>
            </a:r>
            <a:r>
              <a:rPr lang="pt-BR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Definição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Em termos técnicos, um </a:t>
            </a:r>
            <a:r>
              <a:rPr lang="pt-BR" sz="4000" b="1" dirty="0"/>
              <a:t>Requisito</a:t>
            </a:r>
            <a:r>
              <a:rPr lang="pt-BR" sz="4000" dirty="0"/>
              <a:t> é uma condição ou capacidade que um sistema deve possuir para satisfazer uma necessidade do cliente ou atender a um contrato/norma.</a:t>
            </a:r>
            <a:br>
              <a:rPr lang="pt-BR" sz="4000" dirty="0"/>
            </a:b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É o </a:t>
            </a:r>
            <a:r>
              <a:rPr lang="pt-BR" sz="4000" b="1" dirty="0"/>
              <a:t>"O Quê"</a:t>
            </a:r>
            <a:r>
              <a:rPr lang="pt-BR" sz="4000" dirty="0"/>
              <a:t> o sistema deve fazer (antes de decidir o "Como" ele será codificado).</a:t>
            </a:r>
            <a:br>
              <a:rPr lang="pt-BR" sz="4000" dirty="0"/>
            </a:b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Serve como a "ponte" de comunicação entre o cliente (que entende do negócio) e a equipe técnica (que entende de código).</a:t>
            </a:r>
          </a:p>
        </p:txBody>
      </p:sp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Exemplos: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A60819-CE8B-7619-F5C7-D574835E354D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“O sistema deve permitir o cadastro de clientes.”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“O sistema deve responder às requisições em até 2 segundos.”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“Somente usuários autenticados podem acessar o sistema.”</a:t>
            </a:r>
            <a:br>
              <a:rPr lang="pt-BR" sz="4000" dirty="0"/>
            </a:br>
            <a:endParaRPr lang="pt-BR" sz="4000" dirty="0"/>
          </a:p>
          <a:p>
            <a:r>
              <a:rPr lang="pt-BR" sz="4000" dirty="0"/>
              <a:t>📌 </a:t>
            </a:r>
            <a:r>
              <a:rPr lang="pt-BR" sz="4000" b="1" dirty="0"/>
              <a:t>Importância:</a:t>
            </a:r>
            <a:br>
              <a:rPr lang="pt-BR" sz="4000" dirty="0"/>
            </a:b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Evita retrabalho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Diminui erros no desenvolvimento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Garante que o sistema atenda às necessidades reais</a:t>
            </a:r>
          </a:p>
        </p:txBody>
      </p:sp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são requisitos funcionais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F06D6A-76C8-C024-3F39-D81229770D15}"/>
              </a:ext>
            </a:extLst>
          </p:cNvPr>
          <p:cNvSpPr txBox="1"/>
          <p:nvPr/>
        </p:nvSpPr>
        <p:spPr>
          <a:xfrm>
            <a:off x="1526491" y="3063875"/>
            <a:ext cx="169118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“Descrevem o que um sistema deve fazer. Eles dependem do tipo de software a ser desenvolvido, de quem são seus possíveis usuários e da abordagem geral adotada pela organização ao escrever os requisitos”</a:t>
            </a:r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B56B-0578-668C-8376-1ADD7410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5F3A1A9-DFB0-5C43-3F4C-FA2D2F7401C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3590AE2-46D3-687B-DD8E-FC312D60671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31328C6-978A-8853-CFB1-665B74532A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C46B81-3977-C530-3F15-B6966698F5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1827312-055C-E1AF-5D3B-45216D074CC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DE0EF67-0016-84C0-C38D-DEFED4FE1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Requisitos Não Funcionais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48E560A-2611-E0DC-CB00-4FF44D238448}"/>
              </a:ext>
            </a:extLst>
          </p:cNvPr>
          <p:cNvSpPr txBox="1"/>
          <p:nvPr/>
        </p:nvSpPr>
        <p:spPr>
          <a:xfrm>
            <a:off x="1526491" y="3063875"/>
            <a:ext cx="169118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“Estão relacionados às propriedades emergentes do sistema, como confiabilidade, tempo de resposta e ocupação de área. Uma alternativa a esse cenário seria os requisitos definirem restrições sobre a implementação do sistema, como as capacidades dos dispositivos de E/S ou as representações de dados usadas nas interfaces com outros sistemas.”</a:t>
            </a:r>
          </a:p>
        </p:txBody>
      </p:sp>
    </p:spTree>
    <p:extLst>
      <p:ext uri="{BB962C8B-B14F-4D97-AF65-F5344CB8AC3E}">
        <p14:creationId xmlns:p14="http://schemas.microsoft.com/office/powerpoint/2010/main" val="740955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2BDF-731E-8384-C96F-B683068C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1F49C39-B26F-1916-E23C-53F93C3F077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829799-90D3-ECE0-61D4-58DAC689DF5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24D621-A0C9-F36F-59C2-7D762EB82EF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D6CA1DE-B624-7988-9395-E9F9FD5AFC3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9C8175D-10AE-2599-5DC1-90698FFC6FD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EC099FE-2F8F-B26D-8373-E4D614D28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Regras de negócios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8DB7CDA-2A9E-9F53-3A81-C08815B1CA16}"/>
              </a:ext>
            </a:extLst>
          </p:cNvPr>
          <p:cNvSpPr txBox="1"/>
          <p:nvPr/>
        </p:nvSpPr>
        <p:spPr>
          <a:xfrm>
            <a:off x="1526491" y="3063875"/>
            <a:ext cx="169118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São diretrizes, políticas, leis, regulamentos ou definições que restringem ou ditam como uma organização opera. Elas representam a inteligência e a lógica da empresa.</a:t>
            </a:r>
            <a:br>
              <a:rPr lang="pt-BR" sz="4000" dirty="0"/>
            </a:br>
            <a:endParaRPr lang="pt-BR" sz="4000" dirty="0"/>
          </a:p>
          <a:p>
            <a:r>
              <a:rPr lang="pt-BR" sz="4000" dirty="0"/>
              <a:t>O ponto chave é: </a:t>
            </a:r>
            <a:r>
              <a:rPr lang="pt-BR" sz="4000" b="1" dirty="0"/>
              <a:t>A Regra de Negócio existe mesmo se o software não existir.</a:t>
            </a:r>
            <a:br>
              <a:rPr lang="pt-BR" sz="4000" b="1" dirty="0"/>
            </a:br>
            <a:br>
              <a:rPr lang="pt-BR" sz="4000" b="1" dirty="0"/>
            </a:br>
            <a:r>
              <a:rPr lang="pt-BR" sz="4000" b="1" dirty="0"/>
              <a:t>Exemplo: </a:t>
            </a:r>
            <a:r>
              <a:rPr lang="pt-BR" sz="4000" dirty="0"/>
              <a:t>Meia entrada somente com carteira de estudante.</a:t>
            </a:r>
          </a:p>
        </p:txBody>
      </p:sp>
    </p:spTree>
    <p:extLst>
      <p:ext uri="{BB962C8B-B14F-4D97-AF65-F5344CB8AC3E}">
        <p14:creationId xmlns:p14="http://schemas.microsoft.com/office/powerpoint/2010/main" val="3775333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E169-0244-03A0-E180-5E8DF046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0814FE-CC5A-223C-62D0-670EB5F61869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0FBC48-7910-D081-15DA-9D6B7BC6120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B5C48A-BB15-54DE-8A88-F0129223904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5A58F6-C196-CC1B-42D9-A82D4C23D9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4C3E8E-0647-ABA6-C41F-E3DC69938D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7995DC-8044-491A-DDFC-EE38BAF621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9471ACE-E2BF-52DA-609D-5D23BDD5FFEE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4A2676-4005-AB9D-6A3A-B9C5DD9FF5E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FECDBA6-D6B8-A9A3-CC63-A75928F0F447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63D9249-8E46-0619-CE96-DBF0590161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4F5A2F-23C0-CB31-7DF3-638E67D268CE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C220023-9DCC-4C0C-8149-7FDC5048C3D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618201-3607-4AD2-2311-BC6AD3D552A4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117D290-036B-82FB-DC4E-790F31DCB379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49B9765-DC5C-06D4-367C-E9FC5FD87D9E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FA4A3FA-4B8D-4977-5A72-3CEBA6A6C833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A1A86C4-4AAB-B843-ABA4-FF889D800E9F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6DD9CB6-469F-6215-D04F-9E8742932D6A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D4B5768-BEFE-C9D8-D50C-AB5C5223B3A7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468CA4-56BA-37A0-5F0C-903FFA91EC5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B4CF61E-0CEC-DE4D-3EB5-EBC128A1CE7A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B454F8-5C09-299A-CCCD-FE79BE7F0C0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2FE9206-20BD-6317-231D-6549EB36579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EADF822-E3F9-25F7-3481-2556F541416A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78B0AAA-CECB-6B04-100E-D6F84600EFF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D733C8F-F0A3-CEC5-CC37-FC1377547B7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561AE32-6704-764D-185D-00AB51B936D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1B30187-A875-0688-D117-A3986CC4C90B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2515AD9-C24D-EDFA-34CA-1D27F140D0B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CDBF6C7-3B0F-E589-891E-3A5F6258B1AF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84680C0-68A2-3AB4-EC1E-ABBDB6D06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95143CF8-195F-C5A5-17A9-D28D755B9B55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📌Exemplo: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4EA2B1A-02EA-8E19-3752-55E5C7C33C4A}"/>
              </a:ext>
            </a:extLst>
          </p:cNvPr>
          <p:cNvSpPr txBox="1"/>
          <p:nvPr/>
        </p:nvSpPr>
        <p:spPr>
          <a:xfrm>
            <a:off x="1343689" y="2690268"/>
            <a:ext cx="16454642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"Olá, nós somos a rede de cinemas </a:t>
            </a:r>
            <a:r>
              <a:rPr lang="pt-BR" sz="3600" b="1" dirty="0" err="1">
                <a:solidFill>
                  <a:schemeClr val="bg1"/>
                </a:solidFill>
              </a:rPr>
              <a:t>CineTicket</a:t>
            </a:r>
            <a:r>
              <a:rPr lang="pt-BR" sz="3600" dirty="0">
                <a:solidFill>
                  <a:schemeClr val="bg1"/>
                </a:solidFill>
              </a:rPr>
              <a:t>. Estamos precisando de um sistema novo porque as filas na bilheteria física estão gigantescas.</a:t>
            </a:r>
          </a:p>
          <a:p>
            <a:r>
              <a:rPr lang="pt-BR" sz="3600" dirty="0">
                <a:solidFill>
                  <a:schemeClr val="bg1"/>
                </a:solidFill>
              </a:rPr>
              <a:t>	Queremos que o cliente consiga entrar no nosso site ou aplicativo e ver quais filmes estão em cartaz. Ele precisa clicar no filme, escolher o horário e, o mais importante: </a:t>
            </a:r>
            <a:r>
              <a:rPr lang="pt-BR" sz="3600" b="1" dirty="0">
                <a:solidFill>
                  <a:schemeClr val="bg1"/>
                </a:solidFill>
              </a:rPr>
              <a:t>visualizar o mapa da sala para escolher a poltrona exata</a:t>
            </a:r>
            <a:r>
              <a:rPr lang="pt-BR" sz="3600" dirty="0">
                <a:solidFill>
                  <a:schemeClr val="bg1"/>
                </a:solidFill>
              </a:rPr>
              <a:t> onde quer sentar.</a:t>
            </a:r>
          </a:p>
          <a:p>
            <a:r>
              <a:rPr lang="pt-BR" sz="3600" dirty="0">
                <a:solidFill>
                  <a:schemeClr val="bg1"/>
                </a:solidFill>
              </a:rPr>
              <a:t>	Depois de escolher, ele paga com cartão de crédito ou PIX. O sistema deve gerar um ingresso digital (QR </a:t>
            </a:r>
            <a:r>
              <a:rPr lang="pt-BR" sz="3600" dirty="0" err="1">
                <a:solidFill>
                  <a:schemeClr val="bg1"/>
                </a:solidFill>
              </a:rPr>
              <a:t>Code</a:t>
            </a:r>
            <a:r>
              <a:rPr lang="pt-BR" sz="3600" dirty="0">
                <a:solidFill>
                  <a:schemeClr val="bg1"/>
                </a:solidFill>
              </a:rPr>
              <a:t>) para ele mostrar na entrada.</a:t>
            </a:r>
            <a:br>
              <a:rPr lang="pt-BR" sz="3600" dirty="0">
                <a:solidFill>
                  <a:schemeClr val="bg1"/>
                </a:solidFill>
              </a:rPr>
            </a:br>
            <a:endParaRPr lang="pt-BR" sz="3600" dirty="0">
              <a:solidFill>
                <a:schemeClr val="bg1"/>
              </a:solidFill>
            </a:endParaRPr>
          </a:p>
          <a:p>
            <a:r>
              <a:rPr lang="pt-BR" sz="3600" dirty="0">
                <a:solidFill>
                  <a:schemeClr val="bg1"/>
                </a:solidFill>
              </a:rPr>
              <a:t>	Ah, um detalhe técnico: sexta-feira à noite é uma loucura. O sistema </a:t>
            </a:r>
            <a:r>
              <a:rPr lang="pt-BR" sz="3600" b="1" dirty="0">
                <a:solidFill>
                  <a:schemeClr val="bg1"/>
                </a:solidFill>
              </a:rPr>
              <a:t>não pode travar</a:t>
            </a:r>
            <a:r>
              <a:rPr lang="pt-BR" sz="3600" dirty="0">
                <a:solidFill>
                  <a:schemeClr val="bg1"/>
                </a:solidFill>
              </a:rPr>
              <a:t> mesmo se tiver 5 mil pessoas tentando comprar ingresso ao mesmo tempo. E como lidamos com dinheiro, os dados do cartão do cliente precisam ser </a:t>
            </a:r>
            <a:r>
              <a:rPr lang="pt-BR" sz="3600" b="1" dirty="0">
                <a:solidFill>
                  <a:schemeClr val="bg1"/>
                </a:solidFill>
              </a:rPr>
              <a:t>blindados</a:t>
            </a:r>
            <a:r>
              <a:rPr lang="pt-BR" sz="3600" dirty="0">
                <a:solidFill>
                  <a:schemeClr val="bg1"/>
                </a:solidFill>
              </a:rPr>
              <a:t> contra hackers. O sistema também precisa funcionar tanto em </a:t>
            </a:r>
            <a:r>
              <a:rPr lang="pt-BR" sz="3600" b="1" dirty="0">
                <a:solidFill>
                  <a:schemeClr val="bg1"/>
                </a:solidFill>
              </a:rPr>
              <a:t>Android quanto em iOS</a:t>
            </a:r>
            <a:r>
              <a:rPr lang="pt-BR" sz="3600" dirty="0">
                <a:solidFill>
                  <a:schemeClr val="bg1"/>
                </a:solidFill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4200642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1722-E55B-DBD8-20C1-64CE3511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CF6692-F033-A689-08A3-E5BBE841446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FB69EC-AE15-18B1-9040-955F55A1300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74B2FB-24B9-FDE1-89C3-594375147C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80F8C67-CCA2-7DA8-6BB1-BCCC7DC94DC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4926827-D644-80F1-7015-05B1ABAAAE4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BB1365C-5261-9880-30D8-5B7493F7A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Extração dos Requisitos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2CEDAD-519D-6759-B271-ACE000A7020B}"/>
              </a:ext>
            </a:extLst>
          </p:cNvPr>
          <p:cNvSpPr txBox="1"/>
          <p:nvPr/>
        </p:nvSpPr>
        <p:spPr>
          <a:xfrm>
            <a:off x="1526491" y="3063875"/>
            <a:ext cx="169118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Vamos "traduzir" a fala do cliente para a documentação técnica, separando o que é funcionalidade do que é qualidade/restrição.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CBF71C7-642F-DD79-E481-4C5186E397C2}"/>
              </a:ext>
            </a:extLst>
          </p:cNvPr>
          <p:cNvSpPr txBox="1"/>
          <p:nvPr/>
        </p:nvSpPr>
        <p:spPr>
          <a:xfrm>
            <a:off x="1746250" y="5349875"/>
            <a:ext cx="16154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Referente ao contexto informado no slide anterior: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Faça a coleta dos requisitos </a:t>
            </a:r>
            <a:r>
              <a:rPr lang="pt-BR" sz="4000" b="1" dirty="0"/>
              <a:t>FUNCIONAIS. </a:t>
            </a:r>
            <a:r>
              <a:rPr lang="pt-BR" sz="4000" dirty="0"/>
              <a:t>(O que o sistema FAZ)</a:t>
            </a:r>
            <a:endParaRPr lang="pt-BR" sz="4000" b="1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Faça a coleta dos requisitos </a:t>
            </a:r>
            <a:r>
              <a:rPr lang="pt-BR" sz="4000" b="1" dirty="0"/>
              <a:t>NÃO FUNCIONAIS. </a:t>
            </a:r>
            <a:r>
              <a:rPr lang="pt-BR" sz="4000" dirty="0"/>
              <a:t>(Como o sistema É)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Colete regras de negócio.</a:t>
            </a:r>
          </a:p>
        </p:txBody>
      </p:sp>
    </p:spTree>
    <p:extLst>
      <p:ext uri="{BB962C8B-B14F-4D97-AF65-F5344CB8AC3E}">
        <p14:creationId xmlns:p14="http://schemas.microsoft.com/office/powerpoint/2010/main" val="4140224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0002-E94D-5E82-1F69-99CB6B93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BA7DAD4-36B2-3164-68F1-92199163041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5AF6D5-0DC8-8D05-7D87-4736BAEF3D9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5E845A-36CD-B8E9-8F03-2B67B70B84B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8824D4-6421-331C-AD02-943F89E9374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A6D8624-3E0A-A951-EED5-3143C7ECAE9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B79A315-9C53-55A7-4251-14558DBFA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Requisitos Funcionais: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FE5A07-1014-88FE-EF2C-260417C76C0C}"/>
              </a:ext>
            </a:extLst>
          </p:cNvPr>
          <p:cNvSpPr txBox="1"/>
          <p:nvPr/>
        </p:nvSpPr>
        <p:spPr>
          <a:xfrm>
            <a:off x="1526490" y="2276759"/>
            <a:ext cx="1698376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RF01</a:t>
            </a:r>
            <a:r>
              <a:rPr lang="pt-BR" sz="3600" dirty="0"/>
              <a:t> - Consultar Programação: O sistema deve permitir que o usuário visualize a lista de filmes em cartaz e seus respectivos horários.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RF02</a:t>
            </a:r>
            <a:r>
              <a:rPr lang="pt-BR" sz="3600" dirty="0"/>
              <a:t> - Seleção de Assentos: O sistema deve apresentar o mapa da sala e permitir que o usuário selecione assentos disponíveis.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RF03</a:t>
            </a:r>
            <a:r>
              <a:rPr lang="pt-BR" sz="3600" dirty="0"/>
              <a:t> - Pagamento Online: O sistema deve processar pagamentos via Cartão de Crédito e PIX.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RF04</a:t>
            </a:r>
            <a:r>
              <a:rPr lang="pt-BR" sz="3600" dirty="0"/>
              <a:t> - Emissão de Ingresso: O sistema deve gerar um comprovante digital (QR </a:t>
            </a:r>
            <a:r>
              <a:rPr lang="pt-BR" sz="3600" dirty="0" err="1"/>
              <a:t>Code</a:t>
            </a:r>
            <a:r>
              <a:rPr lang="pt-BR" sz="3600" dirty="0"/>
              <a:t>) após a confirmação do pagamento.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RF05</a:t>
            </a:r>
            <a:r>
              <a:rPr lang="pt-BR" sz="3600" dirty="0"/>
              <a:t> - Gestão de Filmes (Backoffice): O sistema deve permitir que o gerente do cinema cadastre novos filmes e altere os horários das sessões.</a:t>
            </a:r>
          </a:p>
        </p:txBody>
      </p:sp>
    </p:spTree>
    <p:extLst>
      <p:ext uri="{BB962C8B-B14F-4D97-AF65-F5344CB8AC3E}">
        <p14:creationId xmlns:p14="http://schemas.microsoft.com/office/powerpoint/2010/main" val="2118745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AB4C-EF2E-A4DE-D402-27DCECE0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A7DCF29-2D8E-907F-F1E8-8F6A3279F1D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528264-E332-8D87-D63D-DC233908F60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3793B9-3316-078B-CB58-81A8B429609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B26C5B-BA35-062C-5146-2108678F0DC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43227F-F82A-D800-644E-CD72D699DFB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0660E14-4978-E3F0-34C6-3BA6E146E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Requisitos NÃO Funcionais: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EFBD2EF-8B3A-3F92-DDF6-1D42EBDE9CB8}"/>
              </a:ext>
            </a:extLst>
          </p:cNvPr>
          <p:cNvSpPr txBox="1"/>
          <p:nvPr/>
        </p:nvSpPr>
        <p:spPr>
          <a:xfrm>
            <a:off x="1526490" y="2276759"/>
            <a:ext cx="1698376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RNF01</a:t>
            </a:r>
            <a:r>
              <a:rPr lang="pt-BR" sz="3600" dirty="0"/>
              <a:t> - Desempenho (Performance): O sistema deve suportar até 5.000 usuários simultâneos sem degradação do tempo de resposta (o site não pode ficar lento).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RNF02</a:t>
            </a:r>
            <a:r>
              <a:rPr lang="pt-BR" sz="3600" dirty="0"/>
              <a:t> - Segurança: Todos os dados de pagamento devem ser criptografados seguindo o padrão PCI-DSS (para proteger o cartão).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RNF03</a:t>
            </a:r>
            <a:r>
              <a:rPr lang="pt-BR" sz="3600" dirty="0"/>
              <a:t> - Portabilidade: O sistema deve possuir aplicativos nativos compatíveis com os sistemas operacionais Android e iOS.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RNF04</a:t>
            </a:r>
            <a:r>
              <a:rPr lang="pt-BR" sz="3600" dirty="0"/>
              <a:t> - Disponibilidade: O sistema deve estar operacional 99,9% do tempo, especialmente em horários de pico (finais de semana).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RNF05</a:t>
            </a:r>
            <a:r>
              <a:rPr lang="pt-BR" sz="3600" dirty="0"/>
              <a:t> - Usabilidade: O processo de compra deve ser concluído em no máximo 4 telas/cliques para garantir agilidade.</a:t>
            </a:r>
          </a:p>
        </p:txBody>
      </p:sp>
    </p:spTree>
    <p:extLst>
      <p:ext uri="{BB962C8B-B14F-4D97-AF65-F5344CB8AC3E}">
        <p14:creationId xmlns:p14="http://schemas.microsoft.com/office/powerpoint/2010/main" val="2445456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1B4D-C89F-7E26-4C4D-16A9D68F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7E7C128-F6BF-6D8A-970A-1B5646A64C1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14D3832-F3B4-BCD6-D522-8CFD82D775C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D3676F0-46A5-FC69-4CFC-38186EF77D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312A3DD-012B-BB25-7106-9CA3281A852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57FC369-23C2-0E51-779E-C71167B5F2F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B64169-C6AC-9809-B4DE-9FFD201ED8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Regras de negócio – As leis do sistemas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B691F8C-D3F7-B013-A0CB-EF867F72CCE3}"/>
              </a:ext>
            </a:extLst>
          </p:cNvPr>
          <p:cNvSpPr txBox="1"/>
          <p:nvPr/>
        </p:nvSpPr>
        <p:spPr>
          <a:xfrm>
            <a:off x="1511673" y="2513303"/>
            <a:ext cx="169837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RN01</a:t>
            </a:r>
            <a:r>
              <a:rPr lang="pt-BR" sz="3600" dirty="0"/>
              <a:t> - Meia-Entrada: O sistema deve exigir documento comprobatório caso o usuário selecione a opção "Meia-entrada".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/>
              <a:t>RN02</a:t>
            </a:r>
            <a:r>
              <a:rPr lang="pt-BR" sz="3600" dirty="0"/>
              <a:t> - Bloqueio de Assento: Um assento selecionado por um usuário deve ficar bloqueado para outros por 5 minutos enquanto ele finaliza a compra. Se não pagar, o assento é liberado.</a:t>
            </a:r>
          </a:p>
        </p:txBody>
      </p:sp>
    </p:spTree>
    <p:extLst>
      <p:ext uri="{BB962C8B-B14F-4D97-AF65-F5344CB8AC3E}">
        <p14:creationId xmlns:p14="http://schemas.microsoft.com/office/powerpoint/2010/main" val="1024628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CB5D-358A-B9DD-BE02-0C3C2DAD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DD3548-AF7C-B368-D119-7CFB3F4343DC}"/>
              </a:ext>
            </a:extLst>
          </p:cNvPr>
          <p:cNvSpPr/>
          <p:nvPr/>
        </p:nvSpPr>
        <p:spPr>
          <a:xfrm>
            <a:off x="0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BBD0D-FE5B-E96C-0EE1-AD7C2D77AA6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75BD9FB-47F3-64A2-ADF6-E95D0D2DEDD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09C65C-0795-DCEE-68AD-6538C633C76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3A853DB-B6EB-CD99-0104-B383845FCB5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13AEA7C-9D54-57D4-34F8-11C8E2BF940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451BFD3-9F0C-5ED8-85DF-9FEE9FDE6193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6BF4167-1CD6-3DD9-1CB0-1480CA1E931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EAF5E71-CEE7-A0B3-8E03-E05B0D72AD7E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C9F8839-64C8-3357-56BA-E50EE42718A7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47FC0FC-F628-F936-AF80-FB5AD8CD491D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FE5FC79-D3F1-E49E-9F0F-F2CC3A791707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25FA882-DF6C-A640-9391-0268CC1B408D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5589FD8-A495-DB96-687D-822FD6AF5C68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764CD0E-A784-CBDD-0F87-827B2FE433F2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62DF0BC-C3C9-0960-2A8A-91B2A763D57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56A8F0E-8F26-A928-B679-EE5E01D06E4B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F402AB8-BBAA-4171-1C6F-9E6C523D020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B22FD1E-6610-5D01-F43D-9CCBE9D5D9C9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5B5FC3A-C0BD-7994-16B8-7A8B985D55A4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8E17F7F-15A1-1502-5D4B-9CEBE74240E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AC1FDA1-2FF1-5DC1-D7E5-F58344DC5861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3C6F5-F182-DA06-F65F-576DC9C9BC9E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1771873-6EFC-B924-0B0F-2C274485CB8E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F02C9A3-171A-4490-7D12-CC48AE9CA01A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E0E74E0-C7D4-8FF6-0E30-E28A80B31F55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CC876DD-D8F4-F6C5-7E21-A093DD7FA35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A70044B-2A0B-02DF-B73C-999B176D3CA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70063C1-ECA5-CB37-9467-B0EE2960A305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FCF0F12-751F-28CA-E001-2422C1617773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C754D85-A032-234A-FF15-EFA58FD29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C64F80E9-5F8C-66D5-340D-846F3D43C460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📌Resumo: 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935DCCA-B1C6-E0E2-6307-45FEC95057B3}"/>
              </a:ext>
            </a:extLst>
          </p:cNvPr>
          <p:cNvSpPr txBox="1"/>
          <p:nvPr/>
        </p:nvSpPr>
        <p:spPr>
          <a:xfrm>
            <a:off x="1367760" y="2987675"/>
            <a:ext cx="164546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chemeClr val="bg1"/>
                </a:solidFill>
              </a:rPr>
              <a:t>O </a:t>
            </a:r>
            <a:r>
              <a:rPr lang="pt-BR" sz="4000" b="1" dirty="0">
                <a:solidFill>
                  <a:schemeClr val="bg1"/>
                </a:solidFill>
              </a:rPr>
              <a:t>Levantamento de Requisitos</a:t>
            </a:r>
            <a:r>
              <a:rPr lang="pt-BR" sz="4000" dirty="0">
                <a:solidFill>
                  <a:schemeClr val="bg1"/>
                </a:solidFill>
              </a:rPr>
              <a:t> é a fase de "descoberta". É o processo de interagir com clientes e usuários para entender o que o software deve resolver. Se essa fase falha, o projeto todo corre risco.</a:t>
            </a:r>
          </a:p>
        </p:txBody>
      </p:sp>
    </p:spTree>
    <p:extLst>
      <p:ext uri="{BB962C8B-B14F-4D97-AF65-F5344CB8AC3E}">
        <p14:creationId xmlns:p14="http://schemas.microsoft.com/office/powerpoint/2010/main" val="3401755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C1D4D-3B77-A649-BC0D-33A1A152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76B1A1-0D9A-970B-2FD7-3801C097EB01}"/>
              </a:ext>
            </a:extLst>
          </p:cNvPr>
          <p:cNvSpPr/>
          <p:nvPr/>
        </p:nvSpPr>
        <p:spPr>
          <a:xfrm>
            <a:off x="0" y="-136525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122DDF5-8010-AF1C-20BD-EEB2569FA86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406CBD3-A64D-2EE5-F7A7-1B0118397A4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4DB9707-2941-CF85-F0AC-514686D71E0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73ABA30-AC1B-346D-7AB4-16698C064F3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4E021F3-48EF-E200-5928-39F3C46C30D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09E7359-1671-14F7-9CC7-7049731E0606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54F4353-7896-85B4-5A6E-F6AFC23D1E5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83D6FD3-90FF-6302-588E-3F2A63E6F68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76BA2-09B7-13EE-C48F-048DC9F0C071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63E66FD-756F-6283-89FE-D170573B24EE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A0D5161-2689-50D0-C5A2-B250ED1A1BB3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58B1C0F-53DB-E27D-443C-541C4505F9EA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3643421-4E7D-3954-B85A-A23628BA66E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FA08EE5B-F542-1AFC-EC26-2219B4019DA5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91A39CA-CAC6-2FAA-B825-A74E42C679EC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D40935F-413F-ADFA-1FF7-77DBB799403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B0C1A1E-FB11-74B6-A2E4-6F20672508B9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6D7B6BF7-6D16-85D1-3182-60A810EFC9B0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796E7D9A-0CE0-8674-501E-1AFEE718E19F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3CF37938-84BF-3343-CDBE-A37DFBBCA13C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AF433D3-1055-FA07-6AA8-8E3858BD1B0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20CEA712-40B0-6773-3AAE-967924281390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51C2892-2705-CF39-BA89-48E532859B6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DB510E9-11E6-30B3-065A-21B63C96D97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5D38596A-AF73-18B8-DA77-94378723E5FB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0287DA3-5F6A-51D8-FD47-E85E007FC324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7733750B-808E-A24B-4632-17655E1EADA5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572AFE39-6B0E-4289-ADFB-8B178A66BCA1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6E0C591F-6279-A378-4054-24C7697E47A3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9CDE751A-F013-AD96-D8BE-D7FD526874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61445339-394A-D17E-8C26-C015B4BE1D66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📌Resumo: 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0DE2DBB-BABD-1DEA-E05B-F2CDACE381DA}"/>
              </a:ext>
            </a:extLst>
          </p:cNvPr>
          <p:cNvSpPr txBox="1"/>
          <p:nvPr/>
        </p:nvSpPr>
        <p:spPr>
          <a:xfrm>
            <a:off x="1367760" y="2987675"/>
            <a:ext cx="164546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4000" b="1" dirty="0">
                <a:solidFill>
                  <a:schemeClr val="bg1"/>
                </a:solidFill>
              </a:rPr>
              <a:t> Requisitos Funcionais (RF)</a:t>
            </a:r>
          </a:p>
          <a:p>
            <a:pPr marL="742950" indent="-742950">
              <a:buFont typeface="+mj-lt"/>
              <a:buAutoNum type="arabicPeriod"/>
            </a:pPr>
            <a:endParaRPr lang="pt-BR" sz="4000" b="1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O que é:</a:t>
            </a:r>
            <a:r>
              <a:rPr lang="pt-BR" sz="4000" dirty="0">
                <a:solidFill>
                  <a:schemeClr val="bg1"/>
                </a:solidFill>
              </a:rPr>
              <a:t> Descrevem as </a:t>
            </a:r>
            <a:r>
              <a:rPr lang="pt-BR" sz="4000" b="1" dirty="0">
                <a:solidFill>
                  <a:schemeClr val="bg1"/>
                </a:solidFill>
              </a:rPr>
              <a:t>funções</a:t>
            </a:r>
            <a:r>
              <a:rPr lang="pt-BR" sz="4000" dirty="0">
                <a:solidFill>
                  <a:schemeClr val="bg1"/>
                </a:solidFill>
              </a:rPr>
              <a:t> e comportamentos do sistema.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Foco:</a:t>
            </a:r>
            <a:r>
              <a:rPr lang="pt-BR" sz="4000" dirty="0">
                <a:solidFill>
                  <a:schemeClr val="bg1"/>
                </a:solidFill>
              </a:rPr>
              <a:t> Ações do usuário e respostas do software.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Pergunta chave:</a:t>
            </a:r>
            <a:r>
              <a:rPr lang="pt-BR" sz="4000" dirty="0">
                <a:solidFill>
                  <a:schemeClr val="bg1"/>
                </a:solidFill>
              </a:rPr>
              <a:t> "O que o sistema faz?“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Exemplo:</a:t>
            </a:r>
            <a:r>
              <a:rPr lang="pt-BR" sz="4000" dirty="0">
                <a:solidFill>
                  <a:schemeClr val="bg1"/>
                </a:solidFill>
              </a:rPr>
              <a:t> "O sistema deve permitir que o usuário recupere a senha via e-mail.“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B0990889-F6CA-F67A-57C4-F69DC770B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Projeto: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um software a ser desenvolvido (exemplo: aplicativo de delivery, plataforma de ensino online, sistema de gestão empresarial,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Descreva brevemente o propósito do software e seus principais objetivos.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011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ED53D-98FC-4583-0465-3822249D4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8144380-CA6B-0715-79BC-67031CA755F0}"/>
              </a:ext>
            </a:extLst>
          </p:cNvPr>
          <p:cNvSpPr/>
          <p:nvPr/>
        </p:nvSpPr>
        <p:spPr>
          <a:xfrm>
            <a:off x="0" y="-2471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C2958A9-9CF4-15D8-20E9-FAF618F40D6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AB363E8-3A0D-92CD-1151-1F956219114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DB5452-9957-6257-E92F-076F8DB2CFD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9118284-F746-7951-5141-045839908E1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3295BEF-2A76-539D-7356-FAA5A21A206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40B4814-09F4-18F3-13DF-01FD35370C37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23685A7-BBB4-9713-7258-F5E567156510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833066A-20F6-7492-CF47-C1E7ED3DB64C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7DE1AF5-1040-9288-6CA2-193019564D7D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F8410FC-1269-2E1D-FA8A-528C69E75888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8467ECA-F712-BE96-9A99-BB09514FD77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B43893B-C003-E7DD-B4C9-C06F15372A74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C5642D4-ABC6-41A1-664F-03BED73D796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DF3563E-BDB0-297B-B229-BBD56C8A376B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3147D2A-C351-FD46-20BB-7BB873E124EF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BD9BB75-07D3-53FC-30D6-FC66A47EABD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F42BD08-E93D-AF59-23C9-2488B33DE17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7CDB673-D20E-B0D0-9DBD-E90079D17BA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CB0237E-A658-E5D4-D9CD-5555DE1E6B6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1895809E-0879-966E-8ED3-CD7F46CDD3FA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747E074F-A86C-4713-5046-4C8525169F2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A3ADEFA-3BE6-1D60-D456-D093BDA3E07C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15E642C-8622-733C-2604-B82939752033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58E21F80-0F08-84D3-4787-EA0A2CB6FDD0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A47FF57-0F7D-CCB7-8586-D592A56235CD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87A07D51-E030-E213-0599-E05619A526DF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45E07058-FD1F-0C34-042A-766AD85E8A61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9114FEE7-FA66-0E34-FC8F-A001EE97A1D1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278959E-F63A-6E92-69C1-BB7BE462D1AE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D6C4C812-FF0F-A144-AB10-B701F22EF8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7F84B87B-12F1-41F2-8F71-657EEB1AF239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📌Resumo: 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669677D2-E86F-3C70-F052-DF2A64571FC1}"/>
              </a:ext>
            </a:extLst>
          </p:cNvPr>
          <p:cNvSpPr txBox="1"/>
          <p:nvPr/>
        </p:nvSpPr>
        <p:spPr>
          <a:xfrm>
            <a:off x="1367760" y="2987675"/>
            <a:ext cx="164546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</a:rPr>
              <a:t> 2. 	Requisitos Não Funcionais (RNF)</a:t>
            </a:r>
            <a:br>
              <a:rPr lang="pt-BR" sz="4000" b="1" dirty="0">
                <a:solidFill>
                  <a:schemeClr val="bg1"/>
                </a:solidFill>
              </a:rPr>
            </a:br>
            <a:endParaRPr lang="pt-BR" sz="4000" b="1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O que é:</a:t>
            </a:r>
            <a:r>
              <a:rPr lang="pt-BR" sz="4000" dirty="0">
                <a:solidFill>
                  <a:schemeClr val="bg1"/>
                </a:solidFill>
              </a:rPr>
              <a:t> Descrevem as </a:t>
            </a:r>
            <a:r>
              <a:rPr lang="pt-BR" sz="4000" b="1" dirty="0">
                <a:solidFill>
                  <a:schemeClr val="bg1"/>
                </a:solidFill>
              </a:rPr>
              <a:t>qualidades</a:t>
            </a:r>
            <a:r>
              <a:rPr lang="pt-BR" sz="4000" dirty="0">
                <a:solidFill>
                  <a:schemeClr val="bg1"/>
                </a:solidFill>
              </a:rPr>
              <a:t> ou restrições técnicas.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Foco:</a:t>
            </a:r>
            <a:r>
              <a:rPr lang="pt-BR" sz="4000" dirty="0">
                <a:solidFill>
                  <a:schemeClr val="bg1"/>
                </a:solidFill>
              </a:rPr>
              <a:t> Desempenho, segurança, usabilidade, confiabilidade e plataforma.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Pergunta chave:</a:t>
            </a:r>
            <a:r>
              <a:rPr lang="pt-BR" sz="4000" dirty="0">
                <a:solidFill>
                  <a:schemeClr val="bg1"/>
                </a:solidFill>
              </a:rPr>
              <a:t> "Como o sistema deve ser/se comportar?“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  <a:p>
            <a:r>
              <a:rPr lang="pt-BR" sz="4000" b="1" dirty="0">
                <a:solidFill>
                  <a:schemeClr val="bg1"/>
                </a:solidFill>
              </a:rPr>
              <a:t>Exemplo:</a:t>
            </a:r>
            <a:r>
              <a:rPr lang="pt-BR" sz="4000" dirty="0">
                <a:solidFill>
                  <a:schemeClr val="bg1"/>
                </a:solidFill>
              </a:rPr>
              <a:t> "O sistema deve criptografar todos os dados sensíveis (Segurança)."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983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78FD2-1134-6654-D974-3A5E7842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4316570-6B88-0E58-6005-B73A57C110B8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DA454DA-6D06-973A-5652-ED356531E77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AA63F0-EB6F-AD68-620E-ED34253B3E2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58A889-59FD-7CF1-0B30-81369FDA87B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FB12BE2-7184-C09A-6288-757B2034053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A2A1A5D-DC25-1EF9-64A6-A2D43CC4EBF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0BE37C2-F527-D766-29D9-675D01938AAD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20B1D1F-EDAD-421D-5265-6BE2F0C28320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98DD028-3336-6DA2-2FDB-EAE672A95573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717BE75-10B4-E337-A6A1-0474F5F2FDF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D0DCF32-C419-659B-77DF-546A36D98C6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113D53A-29F8-0C93-E70D-75B57047E117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235C709D-A069-E28E-7662-1D527D4B0588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1124A0B-9A87-B708-18AB-BA5E7DD40BCD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1B6CB8A8-498E-14CB-9FE5-C560AD6FDBFB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5D1339D-4678-F59C-4DEE-40D035F40B47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7AC4089-22FA-FD7B-6307-DCD375065152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119ED18-1758-74AB-8ECC-F4DCB757E278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AC5F538-A526-D767-652F-E5632E7E3082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3FBEF63C-1B84-B341-5E71-99DD74DD5DEF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C3075152-8E44-CC09-D654-1329F5170569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5B50D2F-10F3-B649-CDFA-1133870BA1A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E723BFBB-A986-8814-B331-3AF9FD095E0E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BD8831F-911D-7832-C035-DF835D24E1D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F628860F-52DF-664C-AAC1-EA0D409CF56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CEBAAE54-40F4-D753-D3F7-4433FB9A538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2F26F49-73B2-2C67-A3F4-61509FD95A57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2302A17-6B8F-49B7-53A0-6DEB9D0F83C7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39FFFE4-87A2-1B9D-DC1E-97B4E40BFF9F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6C04B2C1-3C50-154E-7DD2-0B5294955840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816A290-3B35-8405-9FA1-AB0B7BDDA4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970121A1-0B5A-86BB-6224-1F8094292E3F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📌Resumo: 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8077122-D543-031B-3AEB-CB43CBCC947E}"/>
              </a:ext>
            </a:extLst>
          </p:cNvPr>
          <p:cNvSpPr txBox="1"/>
          <p:nvPr/>
        </p:nvSpPr>
        <p:spPr>
          <a:xfrm>
            <a:off x="1367760" y="2987675"/>
            <a:ext cx="164546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</a:rPr>
              <a:t> 3. 	Regras de Negócio (RN)</a:t>
            </a:r>
          </a:p>
          <a:p>
            <a:endParaRPr lang="pt-BR" sz="4000" b="1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O que é:</a:t>
            </a:r>
            <a:r>
              <a:rPr lang="pt-BR" sz="4000" dirty="0">
                <a:solidFill>
                  <a:schemeClr val="bg1"/>
                </a:solidFill>
              </a:rPr>
              <a:t> São as </a:t>
            </a:r>
            <a:r>
              <a:rPr lang="pt-BR" sz="4000" b="1" dirty="0">
                <a:solidFill>
                  <a:schemeClr val="bg1"/>
                </a:solidFill>
              </a:rPr>
              <a:t>políticas e leis</a:t>
            </a:r>
            <a:r>
              <a:rPr lang="pt-BR" sz="4000" dirty="0">
                <a:solidFill>
                  <a:schemeClr val="bg1"/>
                </a:solidFill>
              </a:rPr>
              <a:t> da organização. Elas existem antes do software.</a:t>
            </a:r>
          </a:p>
          <a:p>
            <a:endParaRPr lang="pt-BR" sz="4000" b="1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Foco:</a:t>
            </a:r>
            <a:r>
              <a:rPr lang="pt-BR" sz="4000" dirty="0">
                <a:solidFill>
                  <a:schemeClr val="bg1"/>
                </a:solidFill>
              </a:rPr>
              <a:t> Restrições de lógica de negócio e tomadas de decisão.</a:t>
            </a:r>
          </a:p>
          <a:p>
            <a:endParaRPr lang="pt-BR" sz="4000" b="1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>
                <a:solidFill>
                  <a:schemeClr val="bg1"/>
                </a:solidFill>
              </a:rPr>
              <a:t>Pergunta chave:</a:t>
            </a:r>
            <a:r>
              <a:rPr lang="pt-BR" sz="4000" dirty="0">
                <a:solidFill>
                  <a:schemeClr val="bg1"/>
                </a:solidFill>
              </a:rPr>
              <a:t> "Quais são as regras que regem esse negócio?"</a:t>
            </a:r>
          </a:p>
          <a:p>
            <a:endParaRPr lang="pt-BR" sz="4000" b="1" dirty="0">
              <a:solidFill>
                <a:schemeClr val="bg1"/>
              </a:solidFill>
            </a:endParaRPr>
          </a:p>
          <a:p>
            <a:r>
              <a:rPr lang="pt-BR" sz="4000" b="1" dirty="0">
                <a:solidFill>
                  <a:schemeClr val="bg1"/>
                </a:solidFill>
              </a:rPr>
              <a:t>Exemplo:</a:t>
            </a:r>
            <a:r>
              <a:rPr lang="pt-BR" sz="4000" dirty="0">
                <a:solidFill>
                  <a:schemeClr val="bg1"/>
                </a:solidFill>
              </a:rPr>
              <a:t> "Apenas alunos com mais de 90% de presença podem solicitar o abono de faltas."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525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4399</TotalTime>
  <Words>3301</Words>
  <Application>Microsoft Office PowerPoint</Application>
  <PresentationFormat>Personalizar</PresentationFormat>
  <Paragraphs>171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Montserrat ExtraBold</vt:lpstr>
      <vt:lpstr>Arial</vt:lpstr>
      <vt:lpstr>Montserrat</vt:lpstr>
      <vt:lpstr>Calibri</vt:lpstr>
      <vt:lpstr>Montserrat Light</vt:lpstr>
      <vt:lpstr>Office Theme</vt:lpstr>
      <vt:lpstr>Apresentação do PowerPoint</vt:lpstr>
      <vt:lpstr>Levantamento de Requisitos </vt:lpstr>
      <vt:lpstr>Levantamento de Requisitos </vt:lpstr>
      <vt:lpstr>Levantamento de Requisitos</vt:lpstr>
      <vt:lpstr>Definição: O mundo dos requisitos</vt:lpstr>
      <vt:lpstr>Definição</vt:lpstr>
      <vt:lpstr>Exemplos:</vt:lpstr>
      <vt:lpstr>O que são requisitos funcionais</vt:lpstr>
      <vt:lpstr>Requisitos Não Funcionais</vt:lpstr>
      <vt:lpstr>Regras de negócios</vt:lpstr>
      <vt:lpstr> </vt:lpstr>
      <vt:lpstr>Extração dos Requisitos</vt:lpstr>
      <vt:lpstr>Requisitos Funcionais:</vt:lpstr>
      <vt:lpstr>Requisitos NÃO Funcionais:</vt:lpstr>
      <vt:lpstr>Regras de negócio – As leis do sistemas</vt:lpstr>
      <vt:lpstr> </vt:lpstr>
      <vt:lpstr> </vt:lpstr>
      <vt:lpstr> </vt:lpstr>
      <vt:lpstr> 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540</cp:revision>
  <cp:lastPrinted>2025-02-13T13:17:19Z</cp:lastPrinted>
  <dcterms:created xsi:type="dcterms:W3CDTF">2021-08-24T16:20:14Z</dcterms:created>
  <dcterms:modified xsi:type="dcterms:W3CDTF">2026-02-10T19:11:27Z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