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4"/>
  </p:sldMasterIdLst>
  <p:notesMasterIdLst>
    <p:notesMasterId r:id="rId25"/>
  </p:notesMasterIdLst>
  <p:sldIdLst>
    <p:sldId id="278" r:id="rId5"/>
    <p:sldId id="1450" r:id="rId6"/>
    <p:sldId id="282" r:id="rId7"/>
    <p:sldId id="1351" r:id="rId8"/>
    <p:sldId id="1385" r:id="rId9"/>
    <p:sldId id="1436" r:id="rId10"/>
    <p:sldId id="1437" r:id="rId11"/>
    <p:sldId id="1439" r:id="rId12"/>
    <p:sldId id="1440" r:id="rId13"/>
    <p:sldId id="1445" r:id="rId14"/>
    <p:sldId id="1376" r:id="rId15"/>
    <p:sldId id="1441" r:id="rId16"/>
    <p:sldId id="1442" r:id="rId17"/>
    <p:sldId id="1443" r:id="rId18"/>
    <p:sldId id="1444" r:id="rId19"/>
    <p:sldId id="1433" r:id="rId20"/>
    <p:sldId id="1446" r:id="rId21"/>
    <p:sldId id="1448" r:id="rId22"/>
    <p:sldId id="1449" r:id="rId23"/>
    <p:sldId id="1383" r:id="rId24"/>
  </p:sldIdLst>
  <p:sldSz cx="20104100" cy="11309350"/>
  <p:notesSz cx="20104100" cy="11309350"/>
  <p:embeddedFontLst>
    <p:embeddedFont>
      <p:font typeface="Montserrat" panose="00000500000000000000" pitchFamily="2" charset="0"/>
      <p:regular r:id="rId26"/>
      <p:bold r:id="rId27"/>
      <p:italic r:id="rId28"/>
      <p:boldItalic r:id="rId29"/>
    </p:embeddedFont>
    <p:embeddedFont>
      <p:font typeface="Montserrat ExtraBold" panose="00000900000000000000" pitchFamily="2" charset="0"/>
      <p:bold r:id="rId30"/>
      <p:boldItalic r:id="rId31"/>
    </p:embeddedFont>
    <p:embeddedFont>
      <p:font typeface="Montserrat Light" panose="00000400000000000000" pitchFamily="2" charset="0"/>
      <p:regular r:id="rId32"/>
      <p:italic r:id="rId33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verton Fernando Souza Ribeiro" initials="WFSR [2]" lastIdx="5" clrIdx="0">
    <p:extLst>
      <p:ext uri="{19B8F6BF-5375-455C-9EA6-DF929625EA0E}">
        <p15:presenceInfo xmlns:p15="http://schemas.microsoft.com/office/powerpoint/2012/main" userId="S::weverton.ribeiro@sp.senai.br::98c758d7-d0b8-461f-a4ce-ab5e52e2556b" providerId="AD"/>
      </p:ext>
    </p:extLst>
  </p:cmAuthor>
  <p:cmAuthor id="2" name="Weverton Fernando Souza Ribeiro" initials="WFSR" lastIdx="21" clrIdx="1">
    <p:extLst>
      <p:ext uri="{19B8F6BF-5375-455C-9EA6-DF929625EA0E}">
        <p15:presenceInfo xmlns:p15="http://schemas.microsoft.com/office/powerpoint/2012/main" userId="S-1-5-21-3467313907-1213806960-2174068774-2498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94" autoAdjust="0"/>
  </p:normalViewPr>
  <p:slideViewPr>
    <p:cSldViewPr>
      <p:cViewPr varScale="1">
        <p:scale>
          <a:sx n="38" d="100"/>
          <a:sy n="38" d="100"/>
        </p:scale>
        <p:origin x="804" y="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7.fntdata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3.fntdata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11300-05A8-42F5-84F5-2A0388843EF7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25586-B76B-45BD-812B-997E365A37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26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Agradecimentos paroquiais:</a:t>
            </a:r>
          </a:p>
          <a:p>
            <a:pPr marL="171450" indent="-171450">
              <a:buFontTx/>
              <a:buChar char="-"/>
            </a:pPr>
            <a:r>
              <a:rPr lang="pt-BR" dirty="0"/>
              <a:t>Ao publico</a:t>
            </a:r>
          </a:p>
          <a:p>
            <a:pPr marL="171450" indent="-171450">
              <a:buFontTx/>
              <a:buChar char="-"/>
            </a:pPr>
            <a:r>
              <a:rPr lang="pt-BR" dirty="0"/>
              <a:t>A organização da </a:t>
            </a:r>
            <a:r>
              <a:rPr lang="pt-BR" dirty="0" err="1"/>
              <a:t>Fenasucro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420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B0C93-8C4D-D342-0751-DFAFFC3A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D4DA30-F33C-A2F7-F92A-DB0DDF479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FC1E1E-52E2-0E7D-856E-315F556A6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2ECF61-001D-548A-6B73-EF7A0CE53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9025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9858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B18-D916-058E-EADA-B6D3EB09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85CCC1-3AA3-B2D8-B9FF-8D4924C3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10EC8CE-4C3C-10AB-AC05-D5D96FB6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2404A-876F-B4CD-9738-58FBA1E87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4530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70D5-D78B-2AE9-8D97-551E75B4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9F964E-AC07-B5D0-53A5-3E49E8167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1D073F-637C-67B3-18F2-9BD68E5CF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DE46CA-E8C4-78B3-6C95-FD0CCE109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865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7B97-2F35-C755-9483-FA93C8477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5DEDE7-5C61-CB66-ED8B-153E3D37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9A7E664-2E11-EC62-4BAB-8E2FE557B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73EE7A-14B3-98BC-1EC8-00183FB20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1668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489D-FB49-F7A2-E302-075988D4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B15743-B70A-1B50-EEA3-4106C0DE6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0A0550-2792-D41E-72AB-97F3C1C71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74D301-64B1-0A06-D040-65EBDAC06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33032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8B1D-366B-4175-CC1F-70BF8E6A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B9F202-D839-13D8-09F0-CBDC550F7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343D9D-4788-8D75-56EA-D4CCD1441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3CD274-26A0-5F4F-1484-BF58BA109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413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BCE9-B568-BD07-B2FB-4496F6D9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5E46F4-5BA1-F081-05E2-E5916110B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80149C-139B-2828-101A-052B7915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937827-8306-4CFD-56CC-DAFA58E3B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4680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C54A-C34A-35EC-3E7D-724C5EAB5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431480F-5A81-ACFC-B078-2872CB3ED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8812EB-DB00-A9C0-FD68-416E88899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060B7B-3235-9738-7AEE-F18198BDD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4532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3F72-BD2C-7833-A759-E4F7D82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47061-4864-C9C9-8F14-3229B27E4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037810-18DE-60B7-C236-0C7E3D0BC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5C77D7-6155-BDF8-AE88-35F74755B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71480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C65CA-8A95-5777-E06A-DF2FC9B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9866C5-3215-8304-F9AD-BDE5A3462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A7C65C1-A0C7-DF66-C174-FBAA21D0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E027C3-E207-5FB4-B86B-3B6C5A563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461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DE79-3E8B-0FBF-830C-C9BEC503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5C4BB8-82D6-C17F-DC3D-4C031FA1C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B38368-69D4-DC2A-F71E-76FCFEE4F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D5109B-0F87-28CF-AB16-6E845DCEF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4086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D00BD-0318-577B-5902-F77A068F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2152998-EFA5-C7F4-1B73-22ACA4276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5C5C0D-345B-D63B-57EC-1358B93A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9B7E8F-27A8-2FFB-8189-AA620E145C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002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998-C9A0-242A-33CD-83005FED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9C0767F-C11F-D4AE-F815-4129B8A5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69E21A6-3D1C-FCBB-44C7-9E3875EBE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26B84B-CAE1-CC8E-4D1C-F40CD1053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9210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320-9E11-F43C-D393-77ED3DE6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D2AC2E-349A-E4F4-1925-F78220CB5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791935-AB7F-0E47-6B60-0F3638F50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97171-5135-CCE5-D519-A674A1BC3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17999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529A-7EF0-3CA4-F441-5255847FF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F5F3EF-C1C2-BDB8-DA34-7F0A5D781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C3BD39-A5BF-168C-CDE6-72181A01C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CD42F-876C-921F-A287-D8733EC80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22491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308D-0DAE-4F99-AFFC-0D0EDA8C6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1BA4BD-C0C4-096D-4A34-23B0F22EA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B56C09-660F-0C5B-85C0-27C232AE3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0F7F43-33A5-0E8F-7463-EFBE3881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9808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7D79-E2A8-F6E1-599B-8AE6BE8AA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29E7F7-343D-BA23-1F78-D43F4A663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62B9E1-FBDA-C37A-0EA3-40F1B1F5B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A220C0-5682-6108-E62B-89469445E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0714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2EFB-EDEE-3B16-E36E-574FD694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9A819D2-E95F-C169-504B-27710A7F8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43577B-6B26-D3E0-57EF-BD0B7EF28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6045AF-A5AB-3CC4-7E80-4E881D1B1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16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6" name="Espaço Reservado para Texto 14">
            <a:extLst>
              <a:ext uri="{FF2B5EF4-FFF2-40B4-BE49-F238E27FC236}">
                <a16:creationId xmlns:a16="http://schemas.microsoft.com/office/drawing/2014/main" id="{741322F5-93ED-4D68-A8FF-9359DF6E75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5099" y="448220"/>
            <a:ext cx="15513191" cy="1116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56" b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  <a:lvl2pPr>
              <a:defRPr sz="5277"/>
            </a:lvl2pPr>
            <a:lvl3pPr>
              <a:defRPr sz="4617"/>
            </a:lvl3pPr>
            <a:lvl4pPr>
              <a:defRPr sz="3958"/>
            </a:lvl4pPr>
            <a:lvl5pPr>
              <a:defRPr sz="3958"/>
            </a:lvl5pPr>
          </a:lstStyle>
          <a:p>
            <a:pPr lvl="0"/>
            <a:r>
              <a:rPr lang="pt-BR"/>
              <a:t>Digitar seu título aqui</a:t>
            </a:r>
          </a:p>
        </p:txBody>
      </p:sp>
      <p:sp>
        <p:nvSpPr>
          <p:cNvPr id="7" name="Espaço Reservado para Texto 16">
            <a:extLst>
              <a:ext uri="{FF2B5EF4-FFF2-40B4-BE49-F238E27FC236}">
                <a16:creationId xmlns:a16="http://schemas.microsoft.com/office/drawing/2014/main" id="{2B77ECB5-455F-48E1-AC6C-CB94B5AD6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3929" y="2063797"/>
            <a:ext cx="15514360" cy="507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98" b="1">
                <a:solidFill>
                  <a:srgbClr val="E51E3C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Digitar seu subtítulo aqui</a:t>
            </a:r>
          </a:p>
        </p:txBody>
      </p:sp>
      <p:sp>
        <p:nvSpPr>
          <p:cNvPr id="8" name="Espaço Reservado para Texto 18">
            <a:extLst>
              <a:ext uri="{FF2B5EF4-FFF2-40B4-BE49-F238E27FC236}">
                <a16:creationId xmlns:a16="http://schemas.microsoft.com/office/drawing/2014/main" id="{94A25BC8-06B9-4702-900E-C725EC8984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3930" y="3105603"/>
            <a:ext cx="14341622" cy="1872116"/>
          </a:xfrm>
          <a:prstGeom prst="rect">
            <a:avLst/>
          </a:prstGeom>
        </p:spPr>
        <p:txBody>
          <a:bodyPr/>
          <a:lstStyle>
            <a:lvl1pPr marL="0" marR="0" indent="0" algn="l" defTabSz="1507846" rtl="0" eaLnBrk="1" fontAlgn="auto" latinLnBrk="0" hangingPunct="1">
              <a:lnSpc>
                <a:spcPct val="90000"/>
              </a:lnSpc>
              <a:spcBef>
                <a:spcPts val="164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958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 vero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eos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accusamus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iusto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odio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dignissimos</a:t>
            </a:r>
            <a:endParaRPr lang="pt-BR" sz="3298">
              <a:solidFill>
                <a:schemeClr val="tx1">
                  <a:lumMod val="65000"/>
                  <a:lumOff val="35000"/>
                </a:schemeClr>
              </a:solidFill>
              <a:latin typeface="Montserrat" pitchFamily="2" charset="77"/>
            </a:endParaRPr>
          </a:p>
          <a:p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praesentium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voluptatum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deleniti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atque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.</a:t>
            </a:r>
          </a:p>
          <a:p>
            <a:pPr lvl="0"/>
            <a:r>
              <a:rPr lang="pt-B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2902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6" y="398"/>
            <a:ext cx="20102688" cy="11307763"/>
          </a:xfrm>
          <a:prstGeom prst="rect">
            <a:avLst/>
          </a:prstGeom>
        </p:spPr>
      </p:pic>
      <p:sp>
        <p:nvSpPr>
          <p:cNvPr id="12" name="object 10">
            <a:extLst>
              <a:ext uri="{FF2B5EF4-FFF2-40B4-BE49-F238E27FC236}">
                <a16:creationId xmlns:a16="http://schemas.microsoft.com/office/drawing/2014/main" id="{4D48E881-58D3-4B18-B397-6971EA7E7E23}"/>
              </a:ext>
            </a:extLst>
          </p:cNvPr>
          <p:cNvSpPr/>
          <p:nvPr/>
        </p:nvSpPr>
        <p:spPr>
          <a:xfrm>
            <a:off x="706" y="11131431"/>
            <a:ext cx="20102688" cy="162044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299A9214-8828-4B4B-9941-B4CFBF09BDD0}"/>
              </a:ext>
            </a:extLst>
          </p:cNvPr>
          <p:cNvSpPr txBox="1">
            <a:spLocks/>
          </p:cNvSpPr>
          <p:nvPr/>
        </p:nvSpPr>
        <p:spPr>
          <a:xfrm>
            <a:off x="8884870" y="2759075"/>
            <a:ext cx="10692178" cy="1028486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699" defTabSz="1507846">
              <a:spcBef>
                <a:spcPts val="101"/>
              </a:spcBef>
            </a:pPr>
            <a:r>
              <a:rPr lang="pt-BR" sz="6600" b="1" i="1" kern="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Levantamento de Requisitos</a:t>
            </a: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9DB5E0E8-CC40-4125-A2AE-B830D0D73C7D}"/>
              </a:ext>
            </a:extLst>
          </p:cNvPr>
          <p:cNvSpPr/>
          <p:nvPr/>
        </p:nvSpPr>
        <p:spPr>
          <a:xfrm>
            <a:off x="8017902" y="2454275"/>
            <a:ext cx="0" cy="3087979"/>
          </a:xfrm>
          <a:custGeom>
            <a:avLst/>
            <a:gdLst/>
            <a:ahLst/>
            <a:cxnLst/>
            <a:rect l="l" t="t" r="r" b="b"/>
            <a:pathLst>
              <a:path h="3001009">
                <a:moveTo>
                  <a:pt x="0" y="3000400"/>
                </a:moveTo>
                <a:lnTo>
                  <a:pt x="0" y="0"/>
                </a:lnTo>
              </a:path>
            </a:pathLst>
          </a:custGeom>
          <a:ln w="27831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3" name="object 3">
            <a:extLst>
              <a:ext uri="{FF2B5EF4-FFF2-40B4-BE49-F238E27FC236}">
                <a16:creationId xmlns:a16="http://schemas.microsoft.com/office/drawing/2014/main" id="{F6A5027A-E215-4339-A81A-70A4E1B2C71F}"/>
              </a:ext>
            </a:extLst>
          </p:cNvPr>
          <p:cNvGrpSpPr/>
          <p:nvPr/>
        </p:nvGrpSpPr>
        <p:grpSpPr>
          <a:xfrm>
            <a:off x="2243795" y="3261247"/>
            <a:ext cx="4357813" cy="1145007"/>
            <a:chOff x="15364003" y="1047088"/>
            <a:chExt cx="3693160" cy="942975"/>
          </a:xfrm>
        </p:grpSpPr>
        <p:sp>
          <p:nvSpPr>
            <p:cNvPr id="14" name="object 4">
              <a:extLst>
                <a:ext uri="{FF2B5EF4-FFF2-40B4-BE49-F238E27FC236}">
                  <a16:creationId xmlns:a16="http://schemas.microsoft.com/office/drawing/2014/main" id="{35C6579F-DD30-4CD7-8A2C-1FFFDBA4E0E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object 5">
              <a:extLst>
                <a:ext uri="{FF2B5EF4-FFF2-40B4-BE49-F238E27FC236}">
                  <a16:creationId xmlns:a16="http://schemas.microsoft.com/office/drawing/2014/main" id="{CD579FB6-1ED6-4812-81D3-EB30E18FC70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258380-2930-47F4-ACEA-A6BA1F6CA553}"/>
              </a:ext>
            </a:extLst>
          </p:cNvPr>
          <p:cNvGrpSpPr/>
          <p:nvPr/>
        </p:nvGrpSpPr>
        <p:grpSpPr>
          <a:xfrm>
            <a:off x="9201247" y="6873875"/>
            <a:ext cx="9994803" cy="2033890"/>
            <a:chOff x="9201247" y="6873875"/>
            <a:chExt cx="9994803" cy="2033890"/>
          </a:xfrm>
        </p:grpSpPr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2F76E57F-4516-44C1-B269-693C768D9ADE}"/>
                </a:ext>
              </a:extLst>
            </p:cNvPr>
            <p:cNvSpPr txBox="1">
              <a:spLocks/>
            </p:cNvSpPr>
            <p:nvPr/>
          </p:nvSpPr>
          <p:spPr>
            <a:xfrm>
              <a:off x="9201247" y="6873875"/>
              <a:ext cx="9994803" cy="2033890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600" b="1" kern="0" spc="-25" dirty="0">
                <a:solidFill>
                  <a:srgbClr val="C00000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FENASUCRO 2022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Auditório ...</a:t>
              </a:r>
            </a:p>
            <a:p>
              <a:pPr marL="12700" algn="r">
                <a:spcBef>
                  <a:spcPts val="100"/>
                </a:spcBef>
              </a:pPr>
              <a:endParaRPr lang="pt-BR" sz="2400" i="1" kern="0" spc="-25" dirty="0">
                <a:solidFill>
                  <a:srgbClr val="C00000"/>
                </a:solidFill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2400" kern="0" spc="-25" dirty="0">
                  <a:solidFill>
                    <a:srgbClr val="C00000"/>
                  </a:solidFill>
                </a:rPr>
                <a:t>Sertãozinho/SP 19 de ago. de 2022</a:t>
              </a:r>
              <a:endParaRPr lang="pt-BR" sz="2800" kern="0" dirty="0">
                <a:solidFill>
                  <a:srgbClr val="C00000"/>
                </a:solidFill>
              </a:endParaRPr>
            </a:p>
          </p:txBody>
        </p:sp>
        <p:sp>
          <p:nvSpPr>
            <p:cNvPr id="18" name="object 6">
              <a:extLst>
                <a:ext uri="{FF2B5EF4-FFF2-40B4-BE49-F238E27FC236}">
                  <a16:creationId xmlns:a16="http://schemas.microsoft.com/office/drawing/2014/main" id="{7A133603-A712-4ECF-9A36-36E433CC4C03}"/>
                </a:ext>
              </a:extLst>
            </p:cNvPr>
            <p:cNvSpPr txBox="1">
              <a:spLocks/>
            </p:cNvSpPr>
            <p:nvPr/>
          </p:nvSpPr>
          <p:spPr>
            <a:xfrm>
              <a:off x="10270078" y="7360398"/>
              <a:ext cx="6857992" cy="1084912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4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FFFFFF"/>
                  </a:solidFill>
                  <a:latin typeface="Montserrat ExtraBold" panose="020B0604020202020204" charset="0"/>
                </a:rPr>
                <a:t>SENAI 5.13 - Jaguariúna</a:t>
              </a:r>
              <a:endParaRPr lang="pt-BR" sz="28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endParaRPr lang="pt-BR" sz="1800" i="1" kern="0" spc="-25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B79C395-5E26-4C89-A9E4-FA649F6D8416}"/>
              </a:ext>
            </a:extLst>
          </p:cNvPr>
          <p:cNvGrpSpPr/>
          <p:nvPr/>
        </p:nvGrpSpPr>
        <p:grpSpPr>
          <a:xfrm>
            <a:off x="12871450" y="9118387"/>
            <a:ext cx="6254754" cy="825868"/>
            <a:chOff x="12871450" y="9118387"/>
            <a:chExt cx="6254754" cy="825868"/>
          </a:xfrm>
        </p:grpSpPr>
        <p:sp>
          <p:nvSpPr>
            <p:cNvPr id="16" name="object 6">
              <a:extLst>
                <a:ext uri="{FF2B5EF4-FFF2-40B4-BE49-F238E27FC236}">
                  <a16:creationId xmlns:a16="http://schemas.microsoft.com/office/drawing/2014/main" id="{6CF72D63-5AAF-4BE9-AFFC-BCAFEEB76FB9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8"/>
              <a:ext cx="6254754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chemeClr val="bg2">
                      <a:lumMod val="25000"/>
                    </a:schemeClr>
                  </a:solidFill>
                </a:rPr>
                <a:t>Paulo Rogério Ferreira Tescaro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chemeClr val="bg2">
                      <a:lumMod val="25000"/>
                    </a:schemeClr>
                  </a:solidFill>
                </a:rPr>
                <a:t>Especialista em Tecnologia</a:t>
              </a:r>
              <a:endParaRPr lang="pt-BR" sz="2800" kern="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C0F3FD7B-98E7-4252-8F7C-5224E77E0354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7"/>
              <a:ext cx="6019800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rgbClr val="FFFFFF"/>
                  </a:solidFill>
                </a:rPr>
                <a:t>Luis Fernando Spoljaric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rgbClr val="FFFFFF"/>
                  </a:solidFill>
                </a:rPr>
                <a:t>Instrutor de formação profissional III</a:t>
              </a:r>
              <a:endParaRPr lang="pt-BR" sz="2800" kern="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7EE7E-4B9E-84FC-A879-3D23CF0B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01EAD97-7E48-D804-DF8E-E8432D9ABDDD}"/>
              </a:ext>
            </a:extLst>
          </p:cNvPr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E147C2A-AEFD-A4B1-12B7-EAE2931EBD1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0C93F40-920B-99B6-DD14-BF409634303F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3AB46CB-D7AF-F4FB-625E-DB63B2FD6A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8847225-EA29-B263-4AAB-7A6A07F4A722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BC0A9A9-0832-B2FC-B348-49820B93E2C8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5F5C4AF6-1144-D15E-8D31-C4DDA4EDC3D4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4A75463-75D1-30ED-7BE3-9BB6D9872C01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46A9B463-D921-6C9C-78FA-4B9CFED140CB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6B2C8C6-D565-5BB4-2118-BDD5919A82C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9B9CD50-41A5-5E01-1AA2-EFE2065620E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1D8A778E-9BD6-1B80-64AE-178F9B6F541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3ECCEAFB-96A9-BD83-94C2-01C46CAD6E23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EEC3AB2-45CC-0515-2441-B58A9C0C49F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7F582F1-4263-BA22-A0B1-44D65A249821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C2D0E1A2-61B9-5B7B-58EE-144587213048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D22A34-9985-75DF-59C3-17A4E46B3C5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2D0A9A9-C7C7-B9C7-B43D-C26633AC6E4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E6C24C5-1FB4-FBE7-6736-799FF197A484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18B91537-915C-F06D-D199-40F9E667C15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F205ADDA-6173-9F10-61D9-0BCC19981C4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D9A6A54-E90D-456E-B44F-D59E94516943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EB6CDA5-54BC-4390-E511-2DB1615DCDF1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47025E88-C48C-4425-662F-F79E8B30A77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F39FE87-4E26-E884-821C-ADA9886E2FA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737AFA5-D653-DA93-FA86-6933893E9F59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DC846E0B-0519-7B71-8716-1AD780537D2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8E58707-6519-9AB1-CA20-740792B93FF9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CDC35C44-6054-6C3D-2450-C770EC1668D8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AA5C7764-3DEA-35F5-AD84-D31BAE58BC66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0F3849E0-35F5-8B5D-31AE-2CD2CF724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79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Levantamento de Requisitos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32" name="Picture 2" descr="Quais são as principais funções, responsabilidades e preocupações da equipe  de desenvolvimento no Ciclo de Vida do Desenvolvimento de Software (SDLC) -  Ubiminds">
            <a:extLst>
              <a:ext uri="{FF2B5EF4-FFF2-40B4-BE49-F238E27FC236}">
                <a16:creationId xmlns:a16="http://schemas.microsoft.com/office/drawing/2014/main" id="{1A75F30D-01E1-EDCA-30ED-771FA44E3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4996" y="1517820"/>
            <a:ext cx="9604473" cy="960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988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Levantamento de Requisitos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6" name="Picture 2" descr="Análise e levantamento de requisitos em histórias em quadrinhos – Parte 1:  O que são requisitos? - TI Especialistas">
            <a:extLst>
              <a:ext uri="{FF2B5EF4-FFF2-40B4-BE49-F238E27FC236}">
                <a16:creationId xmlns:a16="http://schemas.microsoft.com/office/drawing/2014/main" id="{83E73B37-EB2B-BB54-1EE9-DBAA44081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2606" y="2323801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4729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3C8F-B663-0463-E887-B4CAFB68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BB05AB8-E681-D36B-C2D6-65F979C00D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4B1B6C-6FD2-C4BD-4934-1D43C1B34C2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7678B0-47B8-9FEA-CDAA-AD777BE4475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4E5F8F3-9610-6FE9-2AD2-C5BC8496E5E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519059-48BB-77C4-E999-9DE30F423B7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23E162-8BED-FF78-C48A-780A25D8E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2208" y="1605663"/>
            <a:ext cx="11057582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Levantamento de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2CE79D-FBBD-1F15-A0C0-4C1623434A09}"/>
              </a:ext>
            </a:extLst>
          </p:cNvPr>
          <p:cNvSpPr txBox="1"/>
          <p:nvPr/>
        </p:nvSpPr>
        <p:spPr>
          <a:xfrm>
            <a:off x="1526491" y="3063875"/>
            <a:ext cx="169118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- Definição (O que são Requisitos?)</a:t>
            </a:r>
            <a:br>
              <a:rPr lang="pt-BR" sz="4000" dirty="0"/>
            </a:br>
            <a:br>
              <a:rPr lang="pt-BR" sz="4000" dirty="0"/>
            </a:br>
            <a:r>
              <a:rPr lang="pt-BR" sz="4000" b="1" dirty="0"/>
              <a:t>Em outras palavras:</a:t>
            </a:r>
          </a:p>
          <a:p>
            <a:r>
              <a:rPr lang="pt-BR" sz="4000" dirty="0"/>
              <a:t>- Requisito é tudo aquilo que o sistema </a:t>
            </a:r>
            <a:r>
              <a:rPr lang="pt-BR" sz="4000" b="1" dirty="0"/>
              <a:t>precisa ter, fazer ou respeitar</a:t>
            </a:r>
            <a:r>
              <a:rPr lang="pt-BR" sz="4000" dirty="0"/>
              <a:t> para atender o usuário e o negócio.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231613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2FC6B-4A73-3666-DFCF-E153B3E7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0FCC871-585E-CBE6-5F4C-0DEF290EC00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5CEFCF-BB14-7A6F-CCF9-8D65540216A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3CDEF7E-A9DF-223A-6717-BD6E880A22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A4961C-7C03-F84F-5795-8A5F4E11D75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2A5131-5932-902F-779D-252A6B81276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61CA753-A932-BF82-1E17-D7A6DDBF87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Definição: O mundo dos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925B0-592C-2216-07C5-699A06B41D38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Imagine que você quer construir uma casa. Antes de chamar o pedreiro (o programador), você precisa dizer ao arquiteto (o analista) o que você precisa: quantos quartos, se é sobrado, se tem piscina. Isso são os </a:t>
            </a:r>
            <a:r>
              <a:rPr lang="pt-BR" sz="4000" b="1" dirty="0"/>
              <a:t>requisitos</a:t>
            </a:r>
            <a:r>
              <a:rPr lang="pt-BR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6446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8FEE-1638-5E9E-73E1-031C1E54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EFB6DC2-0C47-D4C7-716D-D41C4BC56FB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A2AAD6E-D5BF-44AD-5411-8BBE8D6A1BD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FA91FA0-B669-EAF4-9502-620F2D3EF2D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631F33D-AB25-7CD9-3965-A52A93BDEC1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69D8B77-840C-6C5E-2C13-0F038F47572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3D9B4A4-08F7-F5C8-9EAC-7639EFFA4A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322D1F-32A3-FB69-5EF3-F5F88BD6B8D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Em termos técnicos, um </a:t>
            </a:r>
            <a:r>
              <a:rPr lang="pt-BR" sz="4000" b="1" dirty="0"/>
              <a:t>Requisito</a:t>
            </a:r>
            <a:r>
              <a:rPr lang="pt-BR" sz="4000" dirty="0"/>
              <a:t> é uma condição ou capacidade que um sistema deve possuir para satisfazer uma necessidade do cliente ou atender a um contrato/norma.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É o </a:t>
            </a:r>
            <a:r>
              <a:rPr lang="pt-BR" sz="4000" b="1" dirty="0"/>
              <a:t>"O Quê"</a:t>
            </a:r>
            <a:r>
              <a:rPr lang="pt-BR" sz="4000" dirty="0"/>
              <a:t> o sistema deve fazer (antes de decidir o "Como" ele será codificado).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Serve como a "ponte" de comunicação entre o cliente (que entende do negócio) e a equipe técnica (que entende de código).</a:t>
            </a:r>
          </a:p>
        </p:txBody>
      </p:sp>
    </p:spTree>
    <p:extLst>
      <p:ext uri="{BB962C8B-B14F-4D97-AF65-F5344CB8AC3E}">
        <p14:creationId xmlns:p14="http://schemas.microsoft.com/office/powerpoint/2010/main" val="2757714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7C53-729D-F4BE-15CC-ADA2C4415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C3F61A4-0FC9-BD0F-48C1-FEB1E076EDC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AC48CF-B0D1-21DB-865F-648657E9BC4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489227-2007-9DAC-850E-840E66DA7F5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86C3D0-A94D-4384-18FB-A4DCD857C5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2AD92FF-1B7B-3AA3-BBBA-A98A0650A22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8D6344-D3FF-B10C-19AF-C4B87955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Exemplos: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CA60819-CE8B-7619-F5C7-D574835E354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permitir o cadastro de clientes.”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responder às requisições em até 2 segundos.”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“Somente usuários autenticados podem acessar o sistema.”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📌 </a:t>
            </a:r>
            <a:r>
              <a:rPr lang="pt-BR" sz="4000" b="1" dirty="0"/>
              <a:t>Importância: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Evita retrabalho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Diminui erros no desenvolvimento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Garante que o sistema atenda às necessidades reais</a:t>
            </a:r>
          </a:p>
        </p:txBody>
      </p:sp>
    </p:spTree>
    <p:extLst>
      <p:ext uri="{BB962C8B-B14F-4D97-AF65-F5344CB8AC3E}">
        <p14:creationId xmlns:p14="http://schemas.microsoft.com/office/powerpoint/2010/main" val="2949675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8163-78B1-0566-A2BB-E496019CB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4A8737-9039-D33A-048B-4995CE5EDE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2F26487-C564-2C81-C32C-0F35D5511E6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8B9E85-E9CD-41C9-D942-0DB61B67A2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4112E9B-BADE-910A-D15A-2C774B03BE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65DCCD0-6B11-510B-6A10-2AD84D7D191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785AC3E-B791-07C6-8D63-4783A72456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são requisitos funcionais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F06D6A-76C8-C024-3F39-D81229770D15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“Descrevem o que um sistema deve fazer. Eles dependem do tipo de software a ser desenvolvido, de quem são seus possíveis usuários e da abordagem geral adotada pela organização ao escrever os requisitos”</a:t>
            </a:r>
          </a:p>
        </p:txBody>
      </p:sp>
    </p:spTree>
    <p:extLst>
      <p:ext uri="{BB962C8B-B14F-4D97-AF65-F5344CB8AC3E}">
        <p14:creationId xmlns:p14="http://schemas.microsoft.com/office/powerpoint/2010/main" val="377133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B56B-0578-668C-8376-1ADD741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5F3A1A9-DFB0-5C43-3F4C-FA2D2F7401C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3590AE2-46D3-687B-DD8E-FC312D60671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31328C6-978A-8853-CFB1-665B74532A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1C46B81-3977-C530-3F15-B6966698F53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1827312-055C-E1AF-5D3B-45216D074CC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DE0EF67-0016-84C0-C38D-DEFED4FE1D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48E560A-2611-E0DC-CB00-4FF44D238448}"/>
              </a:ext>
            </a:extLst>
          </p:cNvPr>
          <p:cNvSpPr txBox="1"/>
          <p:nvPr/>
        </p:nvSpPr>
        <p:spPr>
          <a:xfrm>
            <a:off x="1526491" y="3063875"/>
            <a:ext cx="169118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“Estão relacionados às propriedades emergentes do sistema, como confiabilidade, tempo de resposta e ocupação de área. Uma alternativa a esse cenário seria os requisitos definirem restrições sobre a implementação do sistema, como as capacidades dos dispositivos de E/S ou as representações de dados usadas nas interfaces com outros sistemas.”</a:t>
            </a:r>
          </a:p>
        </p:txBody>
      </p:sp>
    </p:spTree>
    <p:extLst>
      <p:ext uri="{BB962C8B-B14F-4D97-AF65-F5344CB8AC3E}">
        <p14:creationId xmlns:p14="http://schemas.microsoft.com/office/powerpoint/2010/main" val="740955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2BDF-731E-8384-C96F-B683068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C1F49C39-B26F-1916-E23C-53F93C3F077E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F829799-90D3-ECE0-61D4-58DAC689DF5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424D621-A0C9-F36F-59C2-7D762EB82EF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D6CA1DE-B624-7988-9395-E9F9FD5AFC3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9C8175D-10AE-2599-5DC1-90698FFC6FD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EC099FE-2F8F-B26D-8373-E4D614D28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Regras de negócios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8DB7CDA-2A9E-9F53-3A81-C08815B1CA16}"/>
              </a:ext>
            </a:extLst>
          </p:cNvPr>
          <p:cNvSpPr txBox="1"/>
          <p:nvPr/>
        </p:nvSpPr>
        <p:spPr>
          <a:xfrm>
            <a:off x="1526491" y="3063875"/>
            <a:ext cx="1691184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São diretrizes, políticas, leis, regulamentos ou definições que restringem ou ditam como uma organização opera. Elas representam a inteligência e a lógica da empresa.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O ponto chave é: </a:t>
            </a:r>
            <a:r>
              <a:rPr lang="pt-BR" sz="4000" b="1" dirty="0"/>
              <a:t>A Regra de Negócio existe mesmo se o software não existir.</a:t>
            </a:r>
            <a:br>
              <a:rPr lang="pt-BR" sz="4000" b="1" dirty="0"/>
            </a:br>
            <a:br>
              <a:rPr lang="pt-BR" sz="4000" b="1" dirty="0"/>
            </a:br>
            <a:r>
              <a:rPr lang="pt-BR" sz="4000" b="1" dirty="0"/>
              <a:t>Exemplo: </a:t>
            </a:r>
            <a:r>
              <a:rPr lang="pt-BR" sz="4000" dirty="0"/>
              <a:t>Meia entrada somente com carteira de estudante.</a:t>
            </a:r>
          </a:p>
        </p:txBody>
      </p:sp>
    </p:spTree>
    <p:extLst>
      <p:ext uri="{BB962C8B-B14F-4D97-AF65-F5344CB8AC3E}">
        <p14:creationId xmlns:p14="http://schemas.microsoft.com/office/powerpoint/2010/main" val="3775333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CE169-0244-03A0-E180-5E8DF046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0814FE-CC5A-223C-62D0-670EB5F61869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30FBC48-7910-D081-15DA-9D6B7BC6120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B5C48A-BB15-54DE-8A88-F0129223904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05A58F6-C196-CC1B-42D9-A82D4C23D9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D4C3E8E-0647-ABA6-C41F-E3DC69938D4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7995DC-8044-491A-DDFC-EE38BAF6212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9471ACE-E2BF-52DA-609D-5D23BDD5FFE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34A2676-4005-AB9D-6A3A-B9C5DD9FF5E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FECDBA6-D6B8-A9A3-CC63-A75928F0F447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63D9249-8E46-0619-CE96-DBF05901619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5B4F5A2F-23C0-CB31-7DF3-638E67D268C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C220023-9DCC-4C0C-8149-7FDC5048C3D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618201-3607-4AD2-2311-BC6AD3D552A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117D290-036B-82FB-DC4E-790F31DCB379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49B9765-DC5C-06D4-367C-E9FC5FD87D9E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FFA4A3FA-4B8D-4977-5A72-3CEBA6A6C83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A1A86C4-4AAB-B843-ABA4-FF889D800E9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6DD9CB6-469F-6215-D04F-9E8742932D6A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D4B5768-BEFE-C9D8-D50C-AB5C5223B3A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E468CA4-56BA-37A0-5F0C-903FFA91EC5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EB4CF61E-0CEC-DE4D-3EB5-EBC128A1CE7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B454F8-5C09-299A-CCCD-FE79BE7F0C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52FE9206-20BD-6317-231D-6549EB36579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EADF822-E3F9-25F7-3481-2556F541416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78B0AAA-CECB-6B04-100E-D6F84600EFF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D733C8F-F0A3-CEC5-CC37-FC1377547B7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561AE32-6704-764D-185D-00AB51B936D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1B30187-A875-0688-D117-A3986CC4C90B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B2515AD9-C24D-EDFA-34CA-1D27F140D0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CDBF6C7-3B0F-E589-891E-3A5F6258B1AF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84680C0-68A2-3AB4-EC1E-ABBDB6D06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5143CF8-195F-C5A5-17A9-D28D755B9B55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📌Exemplo: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4EA2B1A-02EA-8E19-3752-55E5C7C33C4A}"/>
              </a:ext>
            </a:extLst>
          </p:cNvPr>
          <p:cNvSpPr txBox="1"/>
          <p:nvPr/>
        </p:nvSpPr>
        <p:spPr>
          <a:xfrm>
            <a:off x="1343689" y="2690268"/>
            <a:ext cx="16454642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"Olá, nós somos a rede de cinemas </a:t>
            </a:r>
            <a:r>
              <a:rPr lang="pt-BR" sz="3600" b="1" dirty="0" err="1">
                <a:solidFill>
                  <a:schemeClr val="bg1"/>
                </a:solidFill>
              </a:rPr>
              <a:t>CineTicket</a:t>
            </a:r>
            <a:r>
              <a:rPr lang="pt-BR" sz="3600" dirty="0">
                <a:solidFill>
                  <a:schemeClr val="bg1"/>
                </a:solidFill>
              </a:rPr>
              <a:t>. Estamos precisando de um sistema novo porque as filas na bilheteria física estão gigantescas.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Queremos que o cliente consiga entrar no nosso site ou aplicativo e ver quais filmes estão em cartaz. Ele precisa clicar no filme, escolher o horário e, o mais importante: </a:t>
            </a:r>
            <a:r>
              <a:rPr lang="pt-BR" sz="3600" b="1" dirty="0">
                <a:solidFill>
                  <a:schemeClr val="bg1"/>
                </a:solidFill>
              </a:rPr>
              <a:t>visualizar o mapa da sala para escolher a poltrona exata</a:t>
            </a:r>
            <a:r>
              <a:rPr lang="pt-BR" sz="3600" dirty="0">
                <a:solidFill>
                  <a:schemeClr val="bg1"/>
                </a:solidFill>
              </a:rPr>
              <a:t> onde quer sentar.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Depois de escolher, ele paga com cartão de crédito ou PIX. O sistema deve gerar um ingresso digital (QR </a:t>
            </a:r>
            <a:r>
              <a:rPr lang="pt-BR" sz="3600" dirty="0" err="1">
                <a:solidFill>
                  <a:schemeClr val="bg1"/>
                </a:solidFill>
              </a:rPr>
              <a:t>Code</a:t>
            </a:r>
            <a:r>
              <a:rPr lang="pt-BR" sz="3600" dirty="0">
                <a:solidFill>
                  <a:schemeClr val="bg1"/>
                </a:solidFill>
              </a:rPr>
              <a:t>) para ele mostrar na entrada.</a:t>
            </a:r>
            <a:br>
              <a:rPr lang="pt-BR" sz="3600" dirty="0">
                <a:solidFill>
                  <a:schemeClr val="bg1"/>
                </a:solidFill>
              </a:rPr>
            </a:br>
            <a:endParaRPr lang="pt-BR" sz="3600" dirty="0">
              <a:solidFill>
                <a:schemeClr val="bg1"/>
              </a:solidFill>
            </a:endParaRPr>
          </a:p>
          <a:p>
            <a:r>
              <a:rPr lang="pt-BR" sz="3600" dirty="0">
                <a:solidFill>
                  <a:schemeClr val="bg1"/>
                </a:solidFill>
              </a:rPr>
              <a:t>	Ah, um detalhe técnico: sexta-feira à noite é uma loucura. O sistema </a:t>
            </a:r>
            <a:r>
              <a:rPr lang="pt-BR" sz="3600" b="1" dirty="0">
                <a:solidFill>
                  <a:schemeClr val="bg1"/>
                </a:solidFill>
              </a:rPr>
              <a:t>não pode travar</a:t>
            </a:r>
            <a:r>
              <a:rPr lang="pt-BR" sz="3600" dirty="0">
                <a:solidFill>
                  <a:schemeClr val="bg1"/>
                </a:solidFill>
              </a:rPr>
              <a:t> mesmo se tiver 5 mil pessoas tentando comprar ingresso ao mesmo tempo. E como lidamos com dinheiro, os dados do cartão do cliente precisam ser </a:t>
            </a:r>
            <a:r>
              <a:rPr lang="pt-BR" sz="3600" b="1" dirty="0">
                <a:solidFill>
                  <a:schemeClr val="bg1"/>
                </a:solidFill>
              </a:rPr>
              <a:t>blindados</a:t>
            </a:r>
            <a:r>
              <a:rPr lang="pt-BR" sz="3600" dirty="0">
                <a:solidFill>
                  <a:schemeClr val="bg1"/>
                </a:solidFill>
              </a:rPr>
              <a:t> contra hackers. O sistema também precisa funcionar tanto em </a:t>
            </a:r>
            <a:r>
              <a:rPr lang="pt-BR" sz="3600" b="1" dirty="0">
                <a:solidFill>
                  <a:schemeClr val="bg1"/>
                </a:solidFill>
              </a:rPr>
              <a:t>Android quanto em iOS</a:t>
            </a:r>
            <a:r>
              <a:rPr lang="pt-BR" sz="3600" dirty="0">
                <a:solidFill>
                  <a:schemeClr val="bg1"/>
                </a:solidFill>
              </a:rPr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4200642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1722-E55B-DBD8-20C1-64CE3511B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CF6692-F033-A689-08A3-E5BBE841446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FFB69EC-AE15-18B1-9040-955F55A1300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274B2FB-24B9-FDE1-89C3-594375147C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80F8C67-CCA2-7DA8-6BB1-BCCC7DC94DC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926827-D644-80F1-7015-05B1ABAAAE4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B1365C-5261-9880-30D8-5B7493F7A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Extração dos Requisitos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62CEDAD-519D-6759-B271-ACE000A7020B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Vamos "traduzir" a fala do cliente para a documentação técnica, separando o que é funcionalidade do que é qualidade/restrição.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CBF71C7-642F-DD79-E481-4C5186E397C2}"/>
              </a:ext>
            </a:extLst>
          </p:cNvPr>
          <p:cNvSpPr txBox="1"/>
          <p:nvPr/>
        </p:nvSpPr>
        <p:spPr>
          <a:xfrm>
            <a:off x="1746250" y="5349875"/>
            <a:ext cx="1615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Referente ao contexto informado no slide anterior: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FUNCIONAIS. </a:t>
            </a:r>
            <a:r>
              <a:rPr lang="pt-BR" sz="4000" dirty="0"/>
              <a:t>(O que o sistema FAZ)</a:t>
            </a:r>
            <a:endParaRPr lang="pt-BR" sz="4000" b="1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NÃO FUNCIONAIS. </a:t>
            </a:r>
            <a:r>
              <a:rPr lang="pt-BR" sz="4000" dirty="0"/>
              <a:t>(Como o sistema É)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Colete regras de negócio.</a:t>
            </a:r>
          </a:p>
        </p:txBody>
      </p:sp>
    </p:spTree>
    <p:extLst>
      <p:ext uri="{BB962C8B-B14F-4D97-AF65-F5344CB8AC3E}">
        <p14:creationId xmlns:p14="http://schemas.microsoft.com/office/powerpoint/2010/main" val="4140224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002-E94D-5E82-1F69-99CB6B93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BA7DAD4-36B2-3164-68F1-92199163041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5AF6D5-0DC8-8D05-7D87-4736BAEF3D9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15E845A-36CD-B8E9-8F03-2B67B70B84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8824D4-6421-331C-AD02-943F89E9374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6D8624-3E0A-A951-EED5-3143C7ECAE9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79A315-9C53-55A7-4251-14558DBFA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EFE5A07-1014-88FE-EF2C-260417C76C0C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RF01</a:t>
            </a:r>
            <a:r>
              <a:rPr lang="pt-BR" sz="3600" dirty="0"/>
              <a:t> - Consultar Programação: O sistema deve permitir que o usuário visualize a lista de filmes em cartaz e seus respectivos horários.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RF02</a:t>
            </a:r>
            <a:r>
              <a:rPr lang="pt-BR" sz="3600" dirty="0"/>
              <a:t> - Seleção de Assentos: O sistema deve apresentar o mapa da sala e permitir que o usuário selecione assentos disponíveis.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RF03</a:t>
            </a:r>
            <a:r>
              <a:rPr lang="pt-BR" sz="3600" dirty="0"/>
              <a:t> - Pagamento Online: O sistema deve processar pagamentos via Cartão de Crédito e PIX.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RF04</a:t>
            </a:r>
            <a:r>
              <a:rPr lang="pt-BR" sz="3600" dirty="0"/>
              <a:t> - Emissão de Ingresso: O sistema deve gerar um comprovante digital (QR </a:t>
            </a:r>
            <a:r>
              <a:rPr lang="pt-BR" sz="3600" dirty="0" err="1"/>
              <a:t>Code</a:t>
            </a:r>
            <a:r>
              <a:rPr lang="pt-BR" sz="3600" dirty="0"/>
              <a:t>) após a confirmação do pagamento.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RF05</a:t>
            </a:r>
            <a:r>
              <a:rPr lang="pt-BR" sz="3600" dirty="0"/>
              <a:t> - Gestão de Filmes (Backoffice): O sistema deve permitir que o gerente do cinema cadastre novos filmes e altere os horários das sessões.</a:t>
            </a:r>
          </a:p>
        </p:txBody>
      </p:sp>
    </p:spTree>
    <p:extLst>
      <p:ext uri="{BB962C8B-B14F-4D97-AF65-F5344CB8AC3E}">
        <p14:creationId xmlns:p14="http://schemas.microsoft.com/office/powerpoint/2010/main" val="2118745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AB4C-EF2E-A4DE-D402-27DCECE0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A7DCF29-2D8E-907F-F1E8-8F6A3279F1D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528264-E332-8D87-D63D-DC233908F60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B3793B9-3316-078B-CB58-81A8B429609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B26C5B-BA35-062C-5146-2108678F0DC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043227F-F82A-D800-644E-CD72D699DFB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0660E14-4978-E3F0-34C6-3BA6E146E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FBD2EF-8B3A-3F92-DDF6-1D42EBDE9CB8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RNF01</a:t>
            </a:r>
            <a:r>
              <a:rPr lang="pt-BR" sz="3600" dirty="0"/>
              <a:t> - Desempenho (Performance): O sistema deve suportar até 5.000 usuários simultâneos sem degradação do tempo de resposta (o site não pode ficar lento).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RNF02</a:t>
            </a:r>
            <a:r>
              <a:rPr lang="pt-BR" sz="3600" dirty="0"/>
              <a:t> - Segurança: Todos os dados de pagamento devem ser criptografados seguindo o padrão PCI-DSS (para proteger o cartão).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RNF03</a:t>
            </a:r>
            <a:r>
              <a:rPr lang="pt-BR" sz="3600" dirty="0"/>
              <a:t> - Portabilidade: O sistema deve possuir aplicativos nativos compatíveis com os sistemas operacionais Android e 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RNF04</a:t>
            </a:r>
            <a:r>
              <a:rPr lang="pt-BR" sz="3600" dirty="0"/>
              <a:t> - Disponibilidade: O sistema deve estar operacional 99,9% do tempo, especialmente em horários de pico (finais de semana).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RNF05</a:t>
            </a:r>
            <a:r>
              <a:rPr lang="pt-BR" sz="3600" dirty="0"/>
              <a:t> - Usabilidade: O processo de compra deve ser concluído em no máximo 4 telas/cliques para garantir agilidade.</a:t>
            </a:r>
          </a:p>
        </p:txBody>
      </p:sp>
    </p:spTree>
    <p:extLst>
      <p:ext uri="{BB962C8B-B14F-4D97-AF65-F5344CB8AC3E}">
        <p14:creationId xmlns:p14="http://schemas.microsoft.com/office/powerpoint/2010/main" val="2445456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1B4D-C89F-7E26-4C4D-16A9D68F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47E7C128-F6BF-6D8A-970A-1B5646A64C1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14D3832-F3B4-BCD6-D522-8CFD82D775C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D3676F0-46A5-FC69-4CFC-38186EF77D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312A3DD-012B-BB25-7106-9CA3281A852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57FC369-23C2-0E51-779E-C71167B5F2F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B64169-C6AC-9809-B4DE-9FFD201ED8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3478560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Regras de negócio – As leis do sistemas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B691F8C-D3F7-B013-A0CB-EF867F72CCE3}"/>
              </a:ext>
            </a:extLst>
          </p:cNvPr>
          <p:cNvSpPr txBox="1"/>
          <p:nvPr/>
        </p:nvSpPr>
        <p:spPr>
          <a:xfrm>
            <a:off x="1511673" y="2513303"/>
            <a:ext cx="169837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RN01</a:t>
            </a:r>
            <a:r>
              <a:rPr lang="pt-BR" sz="3600" dirty="0"/>
              <a:t> - Meia-Entrada: O sistema deve exigir documento comprobatório caso o usuário selecione a opção "Meia-entrada".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RN02</a:t>
            </a:r>
            <a:r>
              <a:rPr lang="pt-BR" sz="3600" dirty="0"/>
              <a:t> - Bloqueio de Assento: Um assento selecionado por um usuário deve ficar bloqueado para outros por 5 minutos enquanto ele finaliza a compra. Se não pagar, o assento é liberado.</a:t>
            </a:r>
          </a:p>
        </p:txBody>
      </p:sp>
    </p:spTree>
    <p:extLst>
      <p:ext uri="{BB962C8B-B14F-4D97-AF65-F5344CB8AC3E}">
        <p14:creationId xmlns:p14="http://schemas.microsoft.com/office/powerpoint/2010/main" val="1024628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CB5D-358A-B9DD-BE02-0C3C2DAD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DD3548-AF7C-B368-D119-7CFB3F4343DC}"/>
              </a:ext>
            </a:extLst>
          </p:cNvPr>
          <p:cNvSpPr/>
          <p:nvPr/>
        </p:nvSpPr>
        <p:spPr>
          <a:xfrm>
            <a:off x="0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1D8BBD0D-FE5B-E96C-0EE1-AD7C2D77AA6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75BD9FB-47F3-64A2-ADF6-E95D0D2DEDD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109C65C-0795-DCEE-68AD-6538C633C76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3A853DB-B6EB-CD99-0104-B383845FCB5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13AEA7C-9D54-57D4-34F8-11C8E2BF9403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451BFD3-9F0C-5ED8-85DF-9FEE9FDE6193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6BF4167-1CD6-3DD9-1CB0-1480CA1E931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EAF5E71-CEE7-A0B3-8E03-E05B0D72AD7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C9F8839-64C8-3357-56BA-E50EE42718A7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47FC0FC-F628-F936-AF80-FB5AD8CD491D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FE5FC79-D3F1-E49E-9F0F-F2CC3A79170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5FA882-DF6C-A640-9391-0268CC1B40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5589FD8-A495-DB96-687D-822FD6AF5C68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764CD0E-A784-CBDD-0F87-827B2FE433F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2DF0BC-C3C9-0960-2A8A-91B2A763D57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56A8F0E-8F26-A928-B679-EE5E01D06E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02AB8-BBAA-4171-1C6F-9E6C523D02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B22FD1E-6610-5D01-F43D-9CCBE9D5D9C9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5B5FC3A-C0BD-7994-16B8-7A8B985D55A4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8E17F7F-15A1-1502-5D4B-9CEBE74240E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EAC1FDA1-2FF1-5DC1-D7E5-F58344DC5861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3C6F5-F182-DA06-F65F-576DC9C9BC9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1771873-6EFC-B924-0B0F-2C274485CB8E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DF02C9A3-171A-4490-7D12-CC48AE9CA01A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E0E74E0-C7D4-8FF6-0E30-E28A80B31F55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CC876DD-D8F4-F6C5-7E21-A093DD7FA35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A70044B-2A0B-02DF-B73C-999B176D3CA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70063C1-ECA5-CB37-9467-B0EE2960A30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FCF0F12-751F-28CA-E001-2422C161777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C754D85-A032-234A-FF15-EFA58FD295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C64F80E9-5F8C-66D5-340D-846F3D43C460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935DCCA-B1C6-E0E2-6307-45FEC95057B3}"/>
              </a:ext>
            </a:extLst>
          </p:cNvPr>
          <p:cNvSpPr txBox="1"/>
          <p:nvPr/>
        </p:nvSpPr>
        <p:spPr>
          <a:xfrm>
            <a:off x="1367760" y="2987675"/>
            <a:ext cx="164546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chemeClr val="bg1"/>
                </a:solidFill>
              </a:rPr>
              <a:t>O </a:t>
            </a:r>
            <a:r>
              <a:rPr lang="pt-BR" sz="4000" b="1" dirty="0">
                <a:solidFill>
                  <a:schemeClr val="bg1"/>
                </a:solidFill>
              </a:rPr>
              <a:t>Levantamento de Requisitos</a:t>
            </a:r>
            <a:r>
              <a:rPr lang="pt-BR" sz="4000" dirty="0">
                <a:solidFill>
                  <a:schemeClr val="bg1"/>
                </a:solidFill>
              </a:rPr>
              <a:t> é a fase de "descoberta". É o processo de interagir com clientes e usuários para entender o que o software deve resolver. Se essa fase falha, o projeto todo corre risco.</a:t>
            </a:r>
          </a:p>
        </p:txBody>
      </p:sp>
    </p:spTree>
    <p:extLst>
      <p:ext uri="{BB962C8B-B14F-4D97-AF65-F5344CB8AC3E}">
        <p14:creationId xmlns:p14="http://schemas.microsoft.com/office/powerpoint/2010/main" val="3401755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1D4D-3B77-A649-BC0D-33A1A152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76B1A1-0D9A-970B-2FD7-3801C097EB01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122DDF5-8010-AF1C-20BD-EEB2569FA86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406CBD3-A64D-2EE5-F7A7-1B0118397A4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4DB9707-2941-CF85-F0AC-514686D71E0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73ABA30-AC1B-346D-7AB4-16698C064F3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4E021F3-48EF-E200-5928-39F3C46C30D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09E7359-1671-14F7-9CC7-7049731E0606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54F4353-7896-85B4-5A6E-F6AFC23D1E5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83D6FD3-90FF-6302-588E-3F2A63E6F68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76BA2-09B7-13EE-C48F-048DC9F0C071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63E66FD-756F-6283-89FE-D170573B24E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0D5161-2689-50D0-C5A2-B250ED1A1BB3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058B1C0F-53DB-E27D-443C-541C4505F9EA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3643421-4E7D-3954-B85A-A23628BA66E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A08EE5B-F542-1AFC-EC26-2219B4019DA5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A91A39CA-CAC6-2FAA-B825-A74E42C679EC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40935F-413F-ADFA-1FF7-77DBB799403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B0C1A1E-FB11-74B6-A2E4-6F20672508B9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6D7B6BF7-6D16-85D1-3182-60A810EFC9B0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96E7D9A-0CE0-8674-501E-1AFEE718E19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3CF37938-84BF-3343-CDBE-A37DFBBCA13C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AF433D3-1055-FA07-6AA8-8E3858BD1B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0CEA712-40B0-6773-3AAE-967924281390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51C2892-2705-CF39-BA89-48E532859B6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DB510E9-11E6-30B3-065A-21B63C96D97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5D38596A-AF73-18B8-DA77-94378723E5FB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0287DA3-5F6A-51D8-FD47-E85E007FC324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733750B-808E-A24B-4632-17655E1EADA5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572AFE39-6B0E-4289-ADFB-8B178A66BCA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E0C591F-6279-A378-4054-24C7697E47A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9CDE751A-F013-AD96-D8BE-D7FD526874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61445339-394A-D17E-8C26-C015B4BE1D66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DE2DBB-BABD-1DEA-E05B-F2CDACE381DA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pt-BR" sz="4000" b="1" dirty="0">
                <a:solidFill>
                  <a:schemeClr val="bg1"/>
                </a:solidFill>
              </a:rPr>
              <a:t> Requisitos Funcionais (RF)</a:t>
            </a:r>
          </a:p>
          <a:p>
            <a:pPr marL="742950" indent="-742950">
              <a:buFont typeface="+mj-lt"/>
              <a:buAutoNum type="arabicPeriod"/>
            </a:pP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funções</a:t>
            </a:r>
            <a:r>
              <a:rPr lang="pt-BR" sz="4000" dirty="0">
                <a:solidFill>
                  <a:schemeClr val="bg1"/>
                </a:solidFill>
              </a:rPr>
              <a:t> e comportamentos do sistema.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Ações do usuário e respostas do software.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"O que o sistema faz?“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permitir que o usuário recupere a senha via e-mail.“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B0990889-F6CA-F67A-57C4-F69DC770B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011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D53D-98FC-4583-0465-3822249D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144380-CA6B-0715-79BC-67031CA755F0}"/>
              </a:ext>
            </a:extLst>
          </p:cNvPr>
          <p:cNvSpPr/>
          <p:nvPr/>
        </p:nvSpPr>
        <p:spPr>
          <a:xfrm>
            <a:off x="0" y="-2471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C2958A9-9CF4-15D8-20E9-FAF618F40D6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AB363E8-3A0D-92CD-1151-1F956219114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2DB5452-9957-6257-E92F-076F8DB2CFD1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9118284-F746-7951-5141-045839908E1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3295BEF-2A76-539D-7356-FAA5A21A206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40B4814-09F4-18F3-13DF-01FD35370C3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23685A7-BBB4-9713-7258-F5E56715651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833066A-20F6-7492-CF47-C1E7ED3DB64C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7DE1AF5-1040-9288-6CA2-193019564D7D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F8410FC-1269-2E1D-FA8A-528C69E75888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8467ECA-F712-BE96-9A99-BB09514FD77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B43893B-C003-E7DD-B4C9-C06F15372A7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C5642D4-ABC6-41A1-664F-03BED73D796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DF3563E-BDB0-297B-B229-BBD56C8A376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3147D2A-C351-FD46-20BB-7BB873E124EF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BD9BB75-07D3-53FC-30D6-FC66A47EABD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2BD08-E93D-AF59-23C9-2488B33DE17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7CDB673-D20E-B0D0-9DBD-E90079D17BA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CB0237E-A658-E5D4-D9CD-5555DE1E6B6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1895809E-0879-966E-8ED3-CD7F46CDD3F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47E074F-A86C-4713-5046-4C8525169F2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A3ADEFA-3BE6-1D60-D456-D093BDA3E07C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15E642C-8622-733C-2604-B82939752033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58E21F80-0F08-84D3-4787-EA0A2CB6FDD0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9A47FF57-0F7D-CCB7-8586-D592A56235CD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87A07D51-E030-E213-0599-E05619A526DF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45E07058-FD1F-0C34-042A-766AD85E8A61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9114FEE7-FA66-0E34-FC8F-A001EE97A1D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278959E-F63A-6E92-69C1-BB7BE462D1AE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D6C4C812-FF0F-A144-AB10-B701F22EF8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7F84B87B-12F1-41F2-8F71-657EEB1AF239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69677D2-E86F-3C70-F052-DF2A64571FC1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2. 	Requisitos Não Funcionais (RNF)</a:t>
            </a:r>
            <a:br>
              <a:rPr lang="pt-BR" sz="4000" b="1" dirty="0">
                <a:solidFill>
                  <a:schemeClr val="bg1"/>
                </a:solidFill>
              </a:rPr>
            </a:b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qualidades</a:t>
            </a:r>
            <a:r>
              <a:rPr lang="pt-BR" sz="4000" dirty="0">
                <a:solidFill>
                  <a:schemeClr val="bg1"/>
                </a:solidFill>
              </a:rPr>
              <a:t> ou restrições técnicas.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Desempenho, segurança, usabilidade, confiabilidade e plataforma.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"Como o sistema deve ser/se comportar?“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criptografar todos os dados sensíveis (Segurança)."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0983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78FD2-1134-6654-D974-3A5E7842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4316570-6B88-0E58-6005-B73A57C110B8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3DA454DA-6D06-973A-5652-ED356531E77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6AA63F0-EB6F-AD68-620E-ED34253B3E2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B58A889-59FD-7CF1-0B30-81369FDA87B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FB12BE2-7184-C09A-6288-757B2034053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A2A1A5D-DC25-1EF9-64A6-A2D43CC4EBF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BE37C2-F527-D766-29D9-675D01938AAD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20B1D1F-EDAD-421D-5265-6BE2F0C2832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98DD028-3336-6DA2-2FDB-EAE672A95573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717BE75-10B4-E337-A6A1-0474F5F2FDF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D0DCF32-C419-659B-77DF-546A36D98C6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113D53A-29F8-0C93-E70D-75B57047E11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35C709D-A069-E28E-7662-1D527D4B0588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1124A0B-9A87-B708-18AB-BA5E7DD40BC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B6CB8A8-498E-14CB-9FE5-C560AD6FDBF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5D1339D-4678-F59C-4DEE-40D035F40B47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7AC4089-22FA-FD7B-6307-DCD375065152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119ED18-1758-74AB-8ECC-F4DCB757E278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AC5F538-A526-D767-652F-E5632E7E3082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FBEF63C-1B84-B341-5E71-99DD74DD5DE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C3075152-8E44-CC09-D654-1329F5170569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B5B50D2F-10F3-B649-CDFA-1133870BA1A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E723BFBB-A986-8814-B331-3AF9FD095E0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BD8831F-911D-7832-C035-DF835D24E1D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628860F-52DF-664C-AAC1-EA0D409CF56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EBAAE54-40F4-D753-D3F7-4433FB9A538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2F26F49-73B2-2C67-A3F4-61509FD95A57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92302A17-6B8F-49B7-53A0-6DEB9D0F83C7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39FFFE4-87A2-1B9D-DC1E-97B4E40BFF9F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C04B2C1-3C50-154E-7DD2-0B5294955840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5816A290-3B35-8405-9FA1-AB0B7BDDA4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70121A1-0B5A-86BB-6224-1F8094292E3F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8077122-D543-031B-3AEB-CB43CBCC947E}"/>
              </a:ext>
            </a:extLst>
          </p:cNvPr>
          <p:cNvSpPr txBox="1"/>
          <p:nvPr/>
        </p:nvSpPr>
        <p:spPr>
          <a:xfrm>
            <a:off x="1367760" y="2987675"/>
            <a:ext cx="16454642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3. 	Regras de Negócio (RN)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São as </a:t>
            </a:r>
            <a:r>
              <a:rPr lang="pt-BR" sz="4000" b="1" dirty="0">
                <a:solidFill>
                  <a:schemeClr val="bg1"/>
                </a:solidFill>
              </a:rPr>
              <a:t>políticas e leis</a:t>
            </a:r>
            <a:r>
              <a:rPr lang="pt-BR" sz="4000" dirty="0">
                <a:solidFill>
                  <a:schemeClr val="bg1"/>
                </a:solidFill>
              </a:rPr>
              <a:t> da organização. Elas existem antes do software.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Restrições de lógica de negócio e tomadas de decisão.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"Quais são as regras que regem esse negócio?"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"Apenas alunos com mais de 90% de presença podem solicitar o abono de faltas."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525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2C79-876F-8BCA-8D12-D4F2BB5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36EDED2-0AD8-D73E-BC33-370CE9C79306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839B7059-B4B7-9ECD-2145-F7DFA1EA78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ABEB08A-CD28-43C9-F728-778EA0AABA7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10737E5-88E5-8F78-242C-022CD77A1A1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F994BF1-8081-4507-FD5B-0E9BB55D8CB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E71D00-A664-C3A1-DA05-4B69D011180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9EFEC6E-DDF2-7E10-1169-9F07853EAE6B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19C9A4-E42E-69F2-D740-79E7D7ADBD8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A164F6C-03AF-82A0-4C7B-26442C3A01F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D6A4D-9ED2-966D-3FD1-B1B80574748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9F371D6-36D1-3827-583E-CBD46FEDFB93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2F8A60A-F880-F79B-755A-EB3916E6E3E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9F4AF6B-F234-2BEF-E2B2-B5F70D04D28C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9042008-CE9E-E81A-36F6-BDC7772B615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4688A5F-9ED1-9D6D-21F4-25FFDFC9B303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66C110C-C67B-CFE0-EC27-6CCED0C9DD9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A8FB3BC-B7E2-5B39-1DA2-C46B7ED6846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B0EEDBD-B5DD-BAA2-8D78-6036AA1F45A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9087C3B-E86B-C77E-2FF5-036BBB0BCF7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AEF9E9A-09D0-1C78-9449-DFB0E474D1D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4855F-55DD-DB07-69CC-56914308DBB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567B985-9066-3F15-080A-9147D2EE62D6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399721C-0FD9-EF7D-A065-A2B7003B775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61DA38DD-6CE2-DE52-ED39-B8F197E5464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841B397A-B5A8-7F96-A82A-3933C02F6CA2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6EF9F64-01FD-1D6C-90DA-D0703DEB01C1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78D5B3B6-92A0-14F5-CD14-58213C224CC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D0C933A4-FBDB-BBEA-952C-F431EC0685BE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E30F71D-003E-8A31-2CAC-C1B290C3B8BA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110D9E37-6F63-5769-0ADC-03A5570B1F19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CD99148-6146-CDF9-7BCD-118E4B068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Dúvidas?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42" name="Picture 2" descr="Pulp Fiction Travolta GIFs - Find &amp; Share on GIPHY">
            <a:extLst>
              <a:ext uri="{FF2B5EF4-FFF2-40B4-BE49-F238E27FC236}">
                <a16:creationId xmlns:a16="http://schemas.microsoft.com/office/drawing/2014/main" id="{0F93ECCB-FC30-C590-CEF8-40F96FEBA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396" y="3766122"/>
            <a:ext cx="11513308" cy="575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668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0D1E2450D2CCF4B94B30D13213EC305" ma:contentTypeVersion="14" ma:contentTypeDescription="Crie um novo documento." ma:contentTypeScope="" ma:versionID="80af2ae99a390bb8f99db6a6f71dbd11">
  <xsd:schema xmlns:xsd="http://www.w3.org/2001/XMLSchema" xmlns:xs="http://www.w3.org/2001/XMLSchema" xmlns:p="http://schemas.microsoft.com/office/2006/metadata/properties" xmlns:ns3="e2750cde-43d6-4eda-a582-fdf0d091b109" xmlns:ns4="b37a9e9f-dabd-4ec4-96f1-5ea18684f50e" targetNamespace="http://schemas.microsoft.com/office/2006/metadata/properties" ma:root="true" ma:fieldsID="2dc6d4c45140fd29241634ff7e109878" ns3:_="" ns4:_="">
    <xsd:import namespace="e2750cde-43d6-4eda-a582-fdf0d091b109"/>
    <xsd:import namespace="b37a9e9f-dabd-4ec4-96f1-5ea18684f50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750cde-43d6-4eda-a582-fdf0d091b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a9e9f-dabd-4ec4-96f1-5ea18684f50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AA42D19-56A1-4D0B-AB84-67451006DC5A}">
  <ds:schemaRefs>
    <ds:schemaRef ds:uri="http://purl.org/dc/elements/1.1/"/>
    <ds:schemaRef ds:uri="http://schemas.microsoft.com/office/2006/metadata/properties"/>
    <ds:schemaRef ds:uri="b37a9e9f-dabd-4ec4-96f1-5ea18684f50e"/>
    <ds:schemaRef ds:uri="http://purl.org/dc/terms/"/>
    <ds:schemaRef ds:uri="http://schemas.openxmlformats.org/package/2006/metadata/core-properties"/>
    <ds:schemaRef ds:uri="e2750cde-43d6-4eda-a582-fdf0d091b109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169B78-FDA6-4A96-82D9-CDF50108CD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750cde-43d6-4eda-a582-fdf0d091b109"/>
    <ds:schemaRef ds:uri="b37a9e9f-dabd-4ec4-96f1-5ea18684f5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148a6de-0dd1-4d04-a4c5-78e374e4f6d6}" enabled="0" method="" siteId="{4148a6de-0dd1-4d04-a4c5-78e374e4f6d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3896</TotalTime>
  <Words>3301</Words>
  <Application>Microsoft Office PowerPoint</Application>
  <PresentationFormat>Personalizar</PresentationFormat>
  <Paragraphs>171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Arial</vt:lpstr>
      <vt:lpstr>Calibri</vt:lpstr>
      <vt:lpstr>Montserrat ExtraBold</vt:lpstr>
      <vt:lpstr>Montserrat Light</vt:lpstr>
      <vt:lpstr>Montserrat</vt:lpstr>
      <vt:lpstr>Office Theme</vt:lpstr>
      <vt:lpstr>Apresentação do PowerPoint</vt:lpstr>
      <vt:lpstr>Levantamento de Requisitos </vt:lpstr>
      <vt:lpstr>Levantamento de Requisitos </vt:lpstr>
      <vt:lpstr>Levantamento de Requisitos</vt:lpstr>
      <vt:lpstr>Definição: O mundo dos requisitos</vt:lpstr>
      <vt:lpstr>Definição</vt:lpstr>
      <vt:lpstr>Exemplos:</vt:lpstr>
      <vt:lpstr>O que são requisitos funcionais</vt:lpstr>
      <vt:lpstr>Requisitos Não Funcionais</vt:lpstr>
      <vt:lpstr>Regras de negócios</vt:lpstr>
      <vt:lpstr> </vt:lpstr>
      <vt:lpstr>Extração dos Requisitos</vt:lpstr>
      <vt:lpstr>Requisitos Funcionais:</vt:lpstr>
      <vt:lpstr>Requisitos NÃO Funcionais:</vt:lpstr>
      <vt:lpstr>Regras de negócio – As leis do sistemas</vt:lpstr>
      <vt:lpstr> </vt:lpstr>
      <vt:lpstr> </vt:lpstr>
      <vt:lpstr> </vt:lpstr>
      <vt:lpstr> </vt:lpstr>
      <vt:lpstr>Dúvidas?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Luis Fernando Spoljaric</cp:lastModifiedBy>
  <cp:revision>540</cp:revision>
  <cp:lastPrinted>2025-02-13T13:17:19Z</cp:lastPrinted>
  <dcterms:created xsi:type="dcterms:W3CDTF">2021-08-24T16:20:14Z</dcterms:created>
  <dcterms:modified xsi:type="dcterms:W3CDTF">2026-02-09T19:29:39Z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0x010100A0D1E2450D2CCF4B94B30D13213EC305</vt:lpwstr>
  </property>
</Properties>
</file>