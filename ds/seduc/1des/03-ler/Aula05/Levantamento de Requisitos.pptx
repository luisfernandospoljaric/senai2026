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49"/>
  </p:notesMasterIdLst>
  <p:sldIdLst>
    <p:sldId id="278" r:id="rId5"/>
    <p:sldId id="282" r:id="rId6"/>
    <p:sldId id="1351" r:id="rId7"/>
    <p:sldId id="1385" r:id="rId8"/>
    <p:sldId id="1450" r:id="rId9"/>
    <p:sldId id="1436" r:id="rId10"/>
    <p:sldId id="1451" r:id="rId11"/>
    <p:sldId id="1452" r:id="rId12"/>
    <p:sldId id="1439" r:id="rId13"/>
    <p:sldId id="1453" r:id="rId14"/>
    <p:sldId id="1454" r:id="rId15"/>
    <p:sldId id="1455" r:id="rId16"/>
    <p:sldId id="1456" r:id="rId17"/>
    <p:sldId id="1457" r:id="rId18"/>
    <p:sldId id="1458" r:id="rId19"/>
    <p:sldId id="1459" r:id="rId20"/>
    <p:sldId id="1460" r:id="rId21"/>
    <p:sldId id="1461" r:id="rId22"/>
    <p:sldId id="1462" r:id="rId23"/>
    <p:sldId id="1463" r:id="rId24"/>
    <p:sldId id="1464" r:id="rId25"/>
    <p:sldId id="1465" r:id="rId26"/>
    <p:sldId id="1466" r:id="rId27"/>
    <p:sldId id="1467" r:id="rId28"/>
    <p:sldId id="1468" r:id="rId29"/>
    <p:sldId id="1469" r:id="rId30"/>
    <p:sldId id="1440" r:id="rId31"/>
    <p:sldId id="1470" r:id="rId32"/>
    <p:sldId id="1471" r:id="rId33"/>
    <p:sldId id="1472" r:id="rId34"/>
    <p:sldId id="1445" r:id="rId35"/>
    <p:sldId id="1473" r:id="rId36"/>
    <p:sldId id="1474" r:id="rId37"/>
    <p:sldId id="1475" r:id="rId38"/>
    <p:sldId id="1476" r:id="rId39"/>
    <p:sldId id="1477" r:id="rId40"/>
    <p:sldId id="1478" r:id="rId41"/>
    <p:sldId id="1479" r:id="rId42"/>
    <p:sldId id="1480" r:id="rId43"/>
    <p:sldId id="1481" r:id="rId44"/>
    <p:sldId id="1376" r:id="rId45"/>
    <p:sldId id="1441" r:id="rId46"/>
    <p:sldId id="1482" r:id="rId47"/>
    <p:sldId id="1383" r:id="rId48"/>
  </p:sldIdLst>
  <p:sldSz cx="20104100" cy="11309350"/>
  <p:notesSz cx="20104100" cy="11309350"/>
  <p:embeddedFontLst>
    <p:embeddedFont>
      <p:font typeface="Montserrat" panose="00000500000000000000" pitchFamily="2" charset="0"/>
      <p:regular r:id="rId50"/>
      <p:bold r:id="rId51"/>
      <p:italic r:id="rId52"/>
      <p:boldItalic r:id="rId53"/>
    </p:embeddedFont>
    <p:embeddedFont>
      <p:font typeface="Montserrat ExtraBold" panose="00000900000000000000" pitchFamily="2" charset="0"/>
      <p:bold r:id="rId54"/>
      <p:boldItalic r:id="rId55"/>
    </p:embeddedFont>
    <p:embeddedFont>
      <p:font typeface="Montserrat Light" panose="00000400000000000000" pitchFamily="2" charset="0"/>
      <p:regular r:id="rId56"/>
      <p:italic r:id="rId5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commentAuthors" Target="commentAuthors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7.fntdata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85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F467-BA77-C5D3-1F49-EAAF7FC5C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174C611-FCC7-B254-D1DE-B9D8D7682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DE7C0D-5B49-B3AB-D60D-BACBADB65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8B370-BB03-E1B6-EB2B-1BB553E62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03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BBD33-0B58-479C-79B9-12C201BB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486AE57-9337-AD56-9FF5-315E0817B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CDB179-1016-B452-39C5-55C3EAF51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6842156-850B-2AE3-9450-4757C1E702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057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49D67-E7FF-A517-E06E-35E3A0C2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22D4E0-449D-B388-6AFA-C6B7716ED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B6BFA5-1680-703B-9D92-5C7C1A590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3433FA-BF6E-7AAE-BC0F-B0D1174CF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12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41DA-C4DE-12E6-B888-9788CCB6B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1D4716-5974-E33B-446F-EAFE72CE2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069C85-8A88-E237-0DC5-8DAC1752F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DF4D3D-D752-A994-5074-2F8A8CB53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73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7D5DC-733C-C493-A9B6-15BCF96D2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6BBEA8E-AF0E-079F-A178-8EA37BE618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F2F372-6FB9-5C98-05EF-F9DAC6C7F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C09A87-0B81-A2BB-B549-0D75E2F24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937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9A1DF-934E-7F39-A0DC-79B466974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2258A8-61B4-E99C-FE94-7F63223A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475C16A-D10E-2578-FE4D-D521787CD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6B487C-5972-7F5D-2772-F20E939AC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77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BA94F-CB8F-3314-13A9-5B4C5781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E306EF-58B3-47B0-9117-F1B3E9A143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2961C6-4F6A-7601-F5E7-C92137D8B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117D95-DF39-4548-7BBB-B13791703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4512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239A7-1161-1782-4ACA-1C97FCC3C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E79B0B-7362-6909-A3D1-878A71077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CAFA3A-D92D-4456-19E5-DD2441F89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68490D0-0C16-2C55-2D8F-2DC9656B9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579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16CC-6FBF-296D-37C2-88D6C5B9E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20E786-1C9F-969A-BC61-D71487E93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1AA0806-CDCE-F8DE-AA5F-720B6F82C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B08708-B920-2A48-B9F0-752FD3BD2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374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F240-FEDB-9BAE-BC42-CBE298925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327201-ED72-1BBF-BD97-202976601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2CE9C0-1494-F570-984F-11EA30B38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946DD2-35C8-3BAA-6929-910B7076E1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2142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402B7-3906-4445-C41B-808AFC4F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A452FC-75EF-BA75-2D8C-C259E7A46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16BA460-1025-D8E8-3CAD-77CDF5226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752F14-91B2-E7C5-10D9-411D51F69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9596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342F5-656F-2B6F-9B14-DE728BCA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1EE5C1-D9C6-EF37-94B9-48E671B38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9928DB-FBDC-6567-0689-E2A133DC4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664542-F9D9-22AA-60BC-EEB736F3F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359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ECB5-634C-D4C7-E684-7F538D59A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4F2D2E5-2B4D-3AAD-2164-92D9CFE54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5EF150-8A53-090A-E541-74742A3DD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77984E-1B0F-EADA-AA35-CA0D53512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98246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E7ED2-A0D4-6891-33AD-9C77A698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C0F9A9-CB26-9494-25AF-548485484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1E0604-A8C0-6C14-DBCF-21F261DC4C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4CC04A-A385-FC76-EFE4-794965F5D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542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DBCA-7203-CDE7-FD10-140BC865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0863F0-1819-B972-2FB0-A2CC0E516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AE874A-3758-0894-5651-3A6E9DF33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19BF73-6AEE-4D97-1937-64EF169A8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187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D61ED-7DD4-4697-9AB4-D2AE7AE92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DF55C6-913A-B696-AF1E-33A32D6A9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22E8702-E34C-4837-9FB2-80E59B8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97C5A2-2949-BBF0-5722-919C17757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8940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CCC5-EAA6-58D1-F4BF-DC167199B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A8FFBB9-333B-131F-4523-D4BBD75F4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0B5BD7-88FB-1BF8-D7FE-D3B14D049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0684CD-3D65-50A9-9161-7ECE700A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5962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C1B86-E0F3-E92E-1E7C-9E41E9AA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68F223-4632-DCE2-265F-0A70D6B68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6699B6-DBCA-90ED-AA54-E290892F3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3F57EB-F0E5-EB56-8364-C2CC53B8F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403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0E24-5BCF-C4DF-13B5-0E8693F6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3B0AF8-829C-A1BA-CE30-797E680BF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97A06F-2A29-7645-A3CC-1CAB275E5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A8BF615-279D-24A4-BB37-0F97867113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822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212E-9264-98BF-6466-5B9445A6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9EF6DE8-48CA-D2E2-1043-13197E70CD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628D7B-4F71-7C61-39E7-6198923E2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CFF53B-74AB-1C13-C808-ECD0CFD0CF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20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BBCE9-B568-BD07-B2FB-4496F6D9A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5E46F4-5BA1-F081-05E2-E5916110B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80149C-139B-2828-101A-052B7915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937827-8306-4CFD-56CC-DAFA58E3B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4680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39D1-401E-829C-85E2-B4D1A30F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6096E9-64C6-2E75-3B6E-B5DFEF258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3192BF1-A939-7B7D-5515-189E99635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5C11F6-FD53-02B9-12C8-F52FE7077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3781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8C250-05FB-A039-CB91-CE7452D2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2531CB-F7A3-07C9-9C0C-64D61EFF6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C7FA267-65FB-09C9-924E-D7A7AC628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BB92D9-CE7C-E58C-2218-36FFBB973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364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7E9B-C746-ABD6-9311-3D53AE43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CEA967-1EE3-4355-D5A9-922BF3FEB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D4C639-27C0-F0CB-8562-1A8E6E238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A7C575-ECB4-AB4E-2452-AF62D36A7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2441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C0F7-046A-7270-D10E-FA0E3F4D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A1CABEF-89A2-6E4E-C413-CDEA20379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E7C0309-3838-5459-27CC-C42028B75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DA2751-4EBC-DFD2-28CC-40D5EB655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296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721D-6981-36D3-64E9-897469AB9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406B5D-995A-9419-306B-A58A2D52B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8D9A39-6B3A-DC52-4236-02403CD49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90906C-E89A-E868-5B69-4BA60BDD2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25247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56804-DEED-7A28-7E94-B245D424A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FA23F3-3938-B96D-0160-5FE3957F3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0A7350D-8960-C26C-99EA-509F3A26E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FB581C-C82C-4244-6AE6-D97B6EAA4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2142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2D3F2-0F7D-BAAA-9277-EFE189D4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063A26-32CA-91A7-A979-4B6535C0B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C457DE-5B5F-55BE-CCC0-24DB02525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719328-5B59-F1B2-FC87-003BB69ED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1098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19FD4-216C-5ECB-9E15-AB75F276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77E656-A44A-A954-68F4-B2C1FD1DA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04B8C2-2E93-34CF-9D86-66D948106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D8F553-36ED-9742-1163-91C145A7C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58723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D1F39-43AA-5C6E-294A-0D4A1721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B4F523-6292-C853-F47D-1CC2C9618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1EE6F15-426C-B540-A057-45A404518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820D79-314E-3C64-383E-590A9295E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906187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1714-843C-B2E1-D7D4-ED9025F73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F64B08-BEA2-F7B9-B75E-39DB96289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A0FD554-3227-D747-2D9F-E19E55C1E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5A6AE8-F5E2-F0B2-46F5-0D4D3D7C1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0971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BDD3-0550-6900-2C02-D713C99A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EBCF9C-1C94-0B2C-5645-91B7AA196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7C7B45-EB8F-F0FE-A766-E8F9A963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C6B8A0-2CA7-6CEC-7C82-CBA2631A9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7476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31504-A4A5-960E-348C-849AB40D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15FAB4-45D1-B812-160F-15F7E15B0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736D07-EDC3-DCED-FD14-F1679A2A8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4C6A5C-7894-CA7F-9097-010CDFAF0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8807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5505-6D9A-4D36-D635-F8E5FFF6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72D1CB-F2E0-36CE-1AA6-7B7E98FD9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F83018-8CE4-B63D-8EB2-DB90A5484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F9BC87-0B25-9BEC-F972-5AE4813C2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9574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10692178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Levantamento de Requisitos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Levantamento de Requisitos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Análise e levantamento de requisitos em histórias em quadrinhos – Parte 1:  O que são requisitos? - TI Especialistas">
            <a:extLst>
              <a:ext uri="{FF2B5EF4-FFF2-40B4-BE49-F238E27FC236}">
                <a16:creationId xmlns:a16="http://schemas.microsoft.com/office/drawing/2014/main" id="{83E73B37-EB2B-BB54-1EE9-DBAA44081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606" y="2323801"/>
            <a:ext cx="8001000" cy="800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729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2208" y="1605663"/>
            <a:ext cx="1105758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de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levantamento de requisitos é o processo de descobrir, entender e documentar as necessidades de um cliente ou usuário para desenvolver um sistema.</a:t>
            </a:r>
          </a:p>
          <a:p>
            <a:endParaRPr lang="pt-BR" sz="4000" dirty="0"/>
          </a:p>
          <a:p>
            <a:r>
              <a:rPr lang="pt-BR" sz="4000" dirty="0"/>
              <a:t>Antes de programar qualquer software, é necessário responder perguntas como: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que o sistema deve fazer?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Quem vai utilizar?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Qual problema será resolvido?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Quais funcionalidades são necessárias?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Quais regras o sistema deve seguir?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1CA753-A932-BF82-1E17-D7A6DDBF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83745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Objetivo do Levantamento de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principal objetivo é evitar problemas futuros no desenvolvimento do sistema.</a:t>
            </a:r>
          </a:p>
          <a:p>
            <a:r>
              <a:rPr lang="pt-BR" sz="4000" dirty="0"/>
              <a:t>Um levantamento mal feito pode causar: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Sistemas incompletos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Retrabalho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Perda de dinheiro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Atrasos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Insatisfação do cliente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3572-9D33-4487-4C0A-C39469619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5D1D92F-BD27-04C5-A1C0-DB6C9C3466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B1AE8EB-A6C3-8B56-25E5-55A82B9117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F1FB28-4582-6D16-C6B4-387ED6FF210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51B5FE6-05BA-25CA-6A04-03641981544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D51654-BBDE-462D-F207-F0831B4E6DE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CB2437-424A-DF73-BCCF-8BF31E567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83745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 Real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00E4E00-8F22-C998-5F2F-6B45F078AC07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Imagine que uma escola deseja um sistema acadêmico.</a:t>
            </a:r>
          </a:p>
          <a:p>
            <a:r>
              <a:rPr lang="pt-BR" sz="4000" dirty="0"/>
              <a:t>Se os requisitos não forem bem levantados: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sistema pode não emitir boletins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faltar cadastro de alunos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não possuir controle de notas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não permitir acesso dos professores </a:t>
            </a:r>
          </a:p>
          <a:p>
            <a:endParaRPr lang="pt-BR" sz="4000" b="1" dirty="0"/>
          </a:p>
          <a:p>
            <a:r>
              <a:rPr lang="pt-BR" sz="4000" b="1" dirty="0"/>
              <a:t>Resultado:</a:t>
            </a:r>
          </a:p>
          <a:p>
            <a:r>
              <a:rPr lang="pt-BR" sz="4000" dirty="0"/>
              <a:t>O sistema não atende às necessidades da escola.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4409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Tipos de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Requisitos Funcionais</a:t>
            </a:r>
          </a:p>
          <a:p>
            <a:r>
              <a:rPr lang="pt-BR" sz="4000" dirty="0"/>
              <a:t>	Descrevem o que o sistema deve fazer.</a:t>
            </a:r>
          </a:p>
          <a:p>
            <a:endParaRPr lang="pt-BR" sz="4000" b="1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Cadastrar usuários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Emitir relatórios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Fazer login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Gerar boletos</a:t>
            </a:r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8F6A-0E03-80D3-7D60-3C0CCF1D0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86BCD9C-7BF0-3676-E9CB-F4B831CBAB5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A5D830D-8BF3-051B-9E87-4F5A328957B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F31B302-D48A-7FD5-A54E-0F631BF9129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BCE6BAC-AA43-7E0C-6622-627FC78079E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4FBDCB-4DDE-E851-FA00-FAFAC0BA338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2DA61A7-0077-EC90-BC27-EEE3AB9D4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Tipos de Requisitos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4E62F47-928B-BFBB-CB7C-55717810E072}"/>
              </a:ext>
            </a:extLst>
          </p:cNvPr>
          <p:cNvSpPr txBox="1"/>
          <p:nvPr/>
        </p:nvSpPr>
        <p:spPr>
          <a:xfrm>
            <a:off x="1526491" y="30638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Requisitos Não Funcionais</a:t>
            </a:r>
          </a:p>
          <a:p>
            <a:r>
              <a:rPr lang="pt-BR" sz="4000" dirty="0"/>
              <a:t>	Descrevem características e restrições do sistema.</a:t>
            </a:r>
          </a:p>
          <a:p>
            <a:endParaRPr lang="pt-BR" sz="4000" b="1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Velocidade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Desempenho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Compatibilidade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Tempo de resposta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45000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B11F-202D-C696-1D8E-B1F5C261E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9CA12F-FDF5-8B50-2E56-7B0B59938E88}"/>
              </a:ext>
            </a:extLst>
          </p:cNvPr>
          <p:cNvSpPr/>
          <p:nvPr/>
        </p:nvSpPr>
        <p:spPr>
          <a:xfrm>
            <a:off x="-6350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pPr marL="342900" indent="-342900">
              <a:buFont typeface="+mj-lt"/>
              <a:buAutoNum type="arabicPeriod"/>
            </a:pPr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103B733-1A84-DF92-00CA-EDDEC73879A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278E61-1188-85FD-6E7A-541012E6806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5552E2-5A3A-E407-01B3-A0C0CBE346E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224D3C-A68A-8AA5-F8DB-A3275BC165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44BECB1-37A5-B470-3CC8-585B4E1D5ED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FBB6D36-8B02-E78D-6191-8F55D96B13BF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55E5F06-BAE7-E91E-3FD2-C42F35F70E8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3B975E3-63FA-1859-2CFE-741FBA6646D9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094BFAE-E018-6504-A6DF-4446CDCAC126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54D9EAB-33F5-4706-1B9C-4A05F61D4037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4A99FB9-402F-628B-73AF-ECF180929EBC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C4FD0C0-533F-BBE8-CF22-8DA3F5AE7CE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0CD61F7-7EEA-8703-4618-0A24A655655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23E99DD-CDDF-88FA-553A-9F4F3E67B47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411EB9F-07DC-C87B-29A1-D0FA98232805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72A8784-630D-862D-7F9E-202E53C3F079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948C60F-53DB-344C-FB84-31C2124FB0E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F738DB1-8FA1-0E7A-C7DD-059C1F15F825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878797F-9D49-98E4-8A85-3804E1C4DC6B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60F3503-948A-5612-4B45-122BC885DF01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1C3D7F01-7C2D-520D-CAAB-1E401502235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E9D8A3A-DDE6-4B99-DFDA-677642B1A43C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6EA205E-5456-1AFD-3437-BEAA9714C3F1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98B594D-0BB1-CAE9-2F14-8AE4FF84CBAB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E7AE6C1-D757-F7B7-C7CB-BAEC31B4A11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CB55E8CA-7709-717D-8BE9-F300C5CBDCAB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938AE205-1188-9585-91E9-451FFE564D1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4559D03-3B15-E5AE-FE70-AC503C9BD05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E5FCABD-836B-0D02-C4BE-19A1133CAA00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E3E123E-2C13-EE12-8174-4BDBF823C4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19801" y="1517820"/>
            <a:ext cx="14029385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chemeClr val="bg1"/>
                </a:solidFill>
                <a:latin typeface="Montserrat ExtraBold"/>
                <a:cs typeface="Montserrat ExtraBold"/>
              </a:rPr>
              <a:t>Técnicas de Levantamento de Requisitos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27E3FF8-F56D-63DE-BCF9-019FEC089BFA}"/>
              </a:ext>
            </a:extLst>
          </p:cNvPr>
          <p:cNvSpPr txBox="1"/>
          <p:nvPr/>
        </p:nvSpPr>
        <p:spPr>
          <a:xfrm>
            <a:off x="2203450" y="3371689"/>
            <a:ext cx="115603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</a:rPr>
              <a:t>Briefing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</a:rPr>
              <a:t>Levantamento orientado a pontos de vista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</a:rPr>
              <a:t>Etnografia (Observação)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</a:rPr>
              <a:t>Entrevistas</a:t>
            </a:r>
          </a:p>
          <a:p>
            <a:pPr marL="342900" indent="-342900">
              <a:buFont typeface="+mj-lt"/>
              <a:buAutoNum type="arabicPeriod"/>
            </a:pPr>
            <a:r>
              <a:rPr lang="pt-BR" sz="3600" dirty="0">
                <a:solidFill>
                  <a:schemeClr val="bg1"/>
                </a:solidFill>
              </a:rPr>
              <a:t>Brainstorming</a:t>
            </a:r>
          </a:p>
        </p:txBody>
      </p:sp>
    </p:spTree>
    <p:extLst>
      <p:ext uri="{BB962C8B-B14F-4D97-AF65-F5344CB8AC3E}">
        <p14:creationId xmlns:p14="http://schemas.microsoft.com/office/powerpoint/2010/main" val="1566944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Briefing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F06D6A-76C8-C024-3F39-D81229770D15}"/>
              </a:ext>
            </a:extLst>
          </p:cNvPr>
          <p:cNvSpPr txBox="1"/>
          <p:nvPr/>
        </p:nvSpPr>
        <p:spPr>
          <a:xfrm>
            <a:off x="1526491" y="2615148"/>
            <a:ext cx="16911842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que é?</a:t>
            </a:r>
          </a:p>
          <a:p>
            <a:r>
              <a:rPr lang="pt-BR" sz="4000" dirty="0"/>
              <a:t>	Briefing é um conjunto inicial de informações fornecidas pelo cliente sobre o 	projeto.</a:t>
            </a:r>
          </a:p>
          <a:p>
            <a:endParaRPr lang="pt-BR" sz="4000" dirty="0"/>
          </a:p>
          <a:p>
            <a:r>
              <a:rPr lang="pt-BR" sz="4000" dirty="0"/>
              <a:t>É como uma apresentação geral da ideia do sistema.</a:t>
            </a:r>
          </a:p>
          <a:p>
            <a:endParaRPr lang="pt-BR" sz="4000" dirty="0"/>
          </a:p>
          <a:p>
            <a:r>
              <a:rPr lang="pt-BR" sz="4000" b="1" dirty="0"/>
              <a:t>Objetivo do Briefing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Entender: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problema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objetivo do sistema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público-alvo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As necessidades iniciais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E53D-B063-001D-3E12-F66000BF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17AB1EB-373A-3E99-C154-23B0FBBA441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B3AE72-39F2-B222-D627-C3BCF25EEE1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C562E72-CFC2-CF41-E43E-05600C0AFF6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F442F7D-75E5-154C-EA69-C54C692090A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6CD65D-D926-CCC5-6AFF-81E9FED65C5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9CC76-B5CA-6E15-1878-CE89691AC4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3478558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Informações Comuns em um Briefing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665DEB5-47AD-2593-460E-A8E782C46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292" y="3323034"/>
            <a:ext cx="13450239" cy="58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4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42A0-4339-B009-2434-616EB89DD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E6577135-6A26-5D18-ED2A-ED2BE933DC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0DE390E-F71D-C52E-470E-EB426AA885C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ED7FD4-A353-AB53-0357-A0C6A376363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EDC0F2-DC07-114F-90CA-A2EFCB178A6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9F3AFC8-3E18-2654-E933-97BD6A59DB4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05278D1-881C-861D-8A38-42093D921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3478558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Exemplo prático: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882CABC-326A-7E65-F47D-F5920FDE6444}"/>
              </a:ext>
            </a:extLst>
          </p:cNvPr>
          <p:cNvSpPr txBox="1"/>
          <p:nvPr/>
        </p:nvSpPr>
        <p:spPr>
          <a:xfrm>
            <a:off x="1526491" y="2615148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Uma academia deseja um sistema.</a:t>
            </a:r>
          </a:p>
          <a:p>
            <a:endParaRPr lang="pt-BR" sz="4000" dirty="0"/>
          </a:p>
          <a:p>
            <a:r>
              <a:rPr lang="pt-BR" sz="4000" dirty="0"/>
              <a:t>No briefing ela informa: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Deseja controlar alunos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Emitir mensalidades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Registrar presença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planos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Essas informações servem como ponto de partida.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0719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8A963-9974-1117-9DDB-BCFD0437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2D7319E-147E-EC3B-758F-2CDFE9AD40A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BDE2D60-FAF3-ED39-A90C-0542249B048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44A4269-7364-4B83-8D2B-279548A8D25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1D557EA-ED9F-3DB7-4E22-36B3CEEF18D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C8EA82C-F36B-4FD9-8D66-8D44CDE8602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3766491-9AFB-81B4-3C11-B62EDCEE60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395795"/>
            <a:ext cx="13478558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Vantagens do Briefing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33AD1B-7902-D426-8CE1-8CD0E9630795}"/>
              </a:ext>
            </a:extLst>
          </p:cNvPr>
          <p:cNvSpPr txBox="1"/>
          <p:nvPr/>
        </p:nvSpPr>
        <p:spPr>
          <a:xfrm>
            <a:off x="1526491" y="2615148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Rapidez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Organização inicial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Direcionamento do projeto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Facilita o entendimento do problema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Limitações</a:t>
            </a:r>
          </a:p>
          <a:p>
            <a:r>
              <a:rPr lang="pt-BR" sz="4000" dirty="0"/>
              <a:t>O briefing geralmente: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Não possui detalhes técnicos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conter informações incompletas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Precisa de aprofundamento posterior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282252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2B16F-7A77-15DA-56A1-2B460011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54B8760-3583-4CAD-B0F1-C6BBF91DACC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0B72D5D-C8CC-8301-FB99-E2FF41001A2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09A9C9B-F8F3-5836-FE3A-15D15B1DEC2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06E360E-82C3-1F0F-DFE4-34FF5EA3A56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E814A2-3366-5BAD-7C77-9DAEFF649F3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E6F2F7-40B0-20BB-4C18-FF8501AF7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Orientado a Pontos de 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DCDEA43-2288-3F16-27FE-CDAE3E34B37D}"/>
              </a:ext>
            </a:extLst>
          </p:cNvPr>
          <p:cNvSpPr txBox="1"/>
          <p:nvPr/>
        </p:nvSpPr>
        <p:spPr>
          <a:xfrm>
            <a:off x="1494741" y="3339658"/>
            <a:ext cx="1691184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O que é?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É uma técnica que analisa o sistema sob diferentes perspectivas dos usuários.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Cada usuário possui necessidades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22845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54D11-2E7D-C029-E8B7-CDE7429F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473484E-24A0-49A0-F056-FB6CAD6B234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6150E4E-F892-42BA-009F-C524F9D0FA2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BA63CD-8B82-0674-E8C5-96FC71623B3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7B9EF6-1265-E6FC-C66B-37EC8F9EFCC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CC7E13-8F70-EB3F-04B1-0E22F82D7D9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AC0836E-3252-0075-686F-367FDE52D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Orientado a Pontos de 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E7BB1E3-8075-CDDB-3669-FBB1135045CC}"/>
              </a:ext>
            </a:extLst>
          </p:cNvPr>
          <p:cNvSpPr txBox="1"/>
          <p:nvPr/>
        </p:nvSpPr>
        <p:spPr>
          <a:xfrm>
            <a:off x="1494741" y="3339658"/>
            <a:ext cx="16911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Exemplo: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3CAA608-B965-9911-924B-ADAB1CB06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236" y="4438572"/>
            <a:ext cx="14190852" cy="529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761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4E61C-47E2-071A-8A1E-80E23BE8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3F5E494-EFA5-D4E1-33EA-1B86173F8F3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6549A59-000F-37D0-CCDF-6B0770D0C0C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5B5F473-FDE8-9001-70EC-2C6A7170093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2436163-C9AC-1E03-4C55-AEF881679DC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092DEDE-0778-A4F4-769D-91AE9A06A32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4B2C67C-A083-F9F1-13BE-507639D069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Orientado a Pontos de 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C87EBF-1783-5FB0-4D24-AEBE0CA7A311}"/>
              </a:ext>
            </a:extLst>
          </p:cNvPr>
          <p:cNvSpPr txBox="1"/>
          <p:nvPr/>
        </p:nvSpPr>
        <p:spPr>
          <a:xfrm>
            <a:off x="1494741" y="3339658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Objetivo</a:t>
            </a:r>
          </a:p>
          <a:p>
            <a:r>
              <a:rPr lang="pt-BR" sz="4000" dirty="0"/>
              <a:t>Entender: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que cada usuário precisa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Como cada setor utiliza o sistema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Quais regras existem em cada área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Vantagens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Reduz conflitos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Melhora a análise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 esquecer funcionalidades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Ajuda na organização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719553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F37EA-BB40-B32A-94AF-E662D729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0313FB9-4958-EC7E-F4E5-CFD5C7A30C7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98D999-99D9-2CB5-F382-A02F33FD6A2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845727E-A1CA-6123-31B0-9676BB09FFB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874BFF6-33FC-5D92-571E-389B0B03A29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7ACBC8F-F0B6-3453-936B-A112BCFD3F3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8955741-66BF-CB61-7EF7-910DBB745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Levantamento Orientado a Pontos de 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6579BA-D4F5-1A07-403F-BB0B53244FCC}"/>
              </a:ext>
            </a:extLst>
          </p:cNvPr>
          <p:cNvSpPr txBox="1"/>
          <p:nvPr/>
        </p:nvSpPr>
        <p:spPr>
          <a:xfrm>
            <a:off x="1494741" y="3339658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Problema Comum</a:t>
            </a:r>
          </a:p>
          <a:p>
            <a:r>
              <a:rPr lang="pt-BR" sz="4000" dirty="0"/>
              <a:t>Às vezes diferentes usuários possuem interesses diferentes</a:t>
            </a:r>
          </a:p>
          <a:p>
            <a:endParaRPr lang="pt-BR" sz="4000" dirty="0"/>
          </a:p>
          <a:p>
            <a:r>
              <a:rPr lang="pt-BR" sz="4000" b="1" dirty="0"/>
              <a:t>Exemplo</a:t>
            </a:r>
            <a:r>
              <a:rPr lang="pt-BR" sz="4000" dirty="0"/>
              <a:t>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gerente quer mais controle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funcionário quer mais rapidez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O analista deve equilibrar as necessidades.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1878127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E62C1-C61A-6878-4F1C-BDE7F21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184E4A1-A6F4-F92C-3F09-39F4183E1CE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87FF173-9ABB-1360-7608-B14829576F6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872B79-077D-4DF1-0A5F-BFDF961521D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3D38D03-422F-8441-4BCB-26103640CDA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2214332-2CE4-953B-9C32-1EA7FDB00AE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142C87E-FE0A-4174-83FA-15ACBD553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Etnografia (Observação)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82A17AA-EEF0-7DC3-7E32-8B8D45F125E3}"/>
              </a:ext>
            </a:extLst>
          </p:cNvPr>
          <p:cNvSpPr txBox="1"/>
          <p:nvPr/>
        </p:nvSpPr>
        <p:spPr>
          <a:xfrm>
            <a:off x="1494741" y="3339658"/>
            <a:ext cx="1691184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O que é?</a:t>
            </a:r>
          </a:p>
          <a:p>
            <a:endParaRPr lang="pt-BR" sz="4400" b="1" dirty="0"/>
          </a:p>
          <a:p>
            <a:r>
              <a:rPr lang="pt-BR" sz="4000" dirty="0"/>
              <a:t>É a técnica de observar usuários trabalhando no ambiente real.</a:t>
            </a:r>
          </a:p>
          <a:p>
            <a:endParaRPr lang="pt-BR" sz="4000" dirty="0"/>
          </a:p>
          <a:p>
            <a:r>
              <a:rPr lang="pt-BR" sz="4000" b="1" dirty="0"/>
              <a:t>O analista acompanha: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Rotinas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Processos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Dificuldades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Comportamentos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1049164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D0E2D-97D2-3D78-6192-44E13E97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FCF2E0D-CF85-E2E4-7EB0-69FB74A5208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0C33600-DE0A-F418-EEBA-2F4B541675D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1751818-D4AC-0D26-3281-B17CCC9D198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3641EAB-600D-DB4A-A364-F9031A769D8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AEAE2CF-A48F-1682-3FB4-ED61C5EA50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F17A24D-0209-53CB-8EAC-D7409E13E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Etnografia (Observação)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E00806A-6C27-815F-36AC-2E955AB909EC}"/>
              </a:ext>
            </a:extLst>
          </p:cNvPr>
          <p:cNvSpPr txBox="1"/>
          <p:nvPr/>
        </p:nvSpPr>
        <p:spPr>
          <a:xfrm>
            <a:off x="1503208" y="2961630"/>
            <a:ext cx="1691184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Exemplo</a:t>
            </a:r>
          </a:p>
          <a:p>
            <a:endParaRPr lang="pt-BR" sz="4400" b="1" dirty="0"/>
          </a:p>
          <a:p>
            <a:r>
              <a:rPr lang="pt-BR" sz="4400" dirty="0"/>
              <a:t>Em um supermercado: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O analista observa o caixa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os produtos são registrados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 sistema atual funciona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Quais dificuldades existem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67987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7B7A-575E-A931-F58F-62F56C78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A1BD904-1F75-0016-5AFD-8DF46D4DE0C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EFE8E89-548C-D091-0059-4AB85D00E2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8A793A-A5D0-531C-3659-0075F2FB8DC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C2EE703-0797-43B2-83D9-FB0DA1DB30D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BFFEE9B-13F8-91BE-6EF7-8D726A76A60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A6978DF-FB5E-B1B5-49AF-7E43BBA7FD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Etnografia (Observação)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43ECE9E-B8E7-8188-AD23-035F894869C7}"/>
              </a:ext>
            </a:extLst>
          </p:cNvPr>
          <p:cNvSpPr txBox="1"/>
          <p:nvPr/>
        </p:nvSpPr>
        <p:spPr>
          <a:xfrm>
            <a:off x="1503208" y="2961630"/>
            <a:ext cx="16911842" cy="7771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Objetivo</a:t>
            </a:r>
          </a:p>
          <a:p>
            <a:endParaRPr lang="pt-BR" sz="1200" b="1" dirty="0"/>
          </a:p>
          <a:p>
            <a:r>
              <a:rPr lang="pt-BR" sz="4400" dirty="0"/>
              <a:t>	Descobrir problemas que os usuários nem sempre conseguem 	explicar.</a:t>
            </a:r>
          </a:p>
          <a:p>
            <a:endParaRPr lang="pt-BR" sz="4400" dirty="0"/>
          </a:p>
          <a:p>
            <a:endParaRPr lang="pt-BR" sz="4400" dirty="0"/>
          </a:p>
          <a:p>
            <a:r>
              <a:rPr lang="pt-BR" sz="4400" b="1" dirty="0"/>
              <a:t>Vantagens</a:t>
            </a:r>
          </a:p>
          <a:p>
            <a:endParaRPr lang="pt-BR" sz="11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Identifica problemas reais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Mostra o funcionamento verdadeiro do ambiente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Ajuda a entender processos complexos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301841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BFD2-D5F9-920E-C14B-9FAEE2F4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A8674B0-8F0F-16DB-58E2-2C4470C8E42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ACAEE88-923C-4A10-B019-E971652ECF2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E59EAE-AC07-0D29-35BF-9FCCA23C184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E75707-B5CE-A3EA-6E28-4384BA857EB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42C04F4-78D0-6EDF-56C6-F77B568203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78D215D-542E-7CFC-0354-0672A2F7D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Etnografia (Observação)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492B604-8319-4E16-AB9C-1368AEF1F8CB}"/>
              </a:ext>
            </a:extLst>
          </p:cNvPr>
          <p:cNvSpPr txBox="1"/>
          <p:nvPr/>
        </p:nvSpPr>
        <p:spPr>
          <a:xfrm>
            <a:off x="1511674" y="3300184"/>
            <a:ext cx="1691184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Desvantagens</a:t>
            </a:r>
          </a:p>
          <a:p>
            <a:endParaRPr lang="pt-BR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Demanda tempo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Pode gerar desconforto nos usuários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Nem tudo observado é relevante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499430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92751-00FE-F8A0-5316-591D5E07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50E926F-EECC-AECD-19C1-A6E6B0BC448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53C022F-B442-44A8-443F-4CFEB06136A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51EF3CA-4E54-8D4F-18F6-DB0086ABCB5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2BE4588-5F88-3BA2-62F0-540A8A89E9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A71C8F2-714A-7655-BEBF-37594AE3866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FDA0878-A363-E64B-E841-6CA86212C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Etnografia (Observação)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67705A2-95AC-FEB8-0B5F-4635125C0DA7}"/>
              </a:ext>
            </a:extLst>
          </p:cNvPr>
          <p:cNvSpPr txBox="1"/>
          <p:nvPr/>
        </p:nvSpPr>
        <p:spPr>
          <a:xfrm>
            <a:off x="1526491" y="2682875"/>
            <a:ext cx="16911842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Exemplo Real</a:t>
            </a:r>
          </a:p>
          <a:p>
            <a:r>
              <a:rPr lang="pt-BR" sz="4400" b="1" dirty="0"/>
              <a:t>	</a:t>
            </a:r>
          </a:p>
          <a:p>
            <a:r>
              <a:rPr lang="pt-BR" sz="4400" dirty="0"/>
              <a:t>Muitos funcionários dizem: </a:t>
            </a:r>
            <a:r>
              <a:rPr lang="pt-BR" sz="4400" dirty="0">
                <a:solidFill>
                  <a:srgbClr val="FF0000"/>
                </a:solidFill>
              </a:rPr>
              <a:t>"O sistema funciona bem.“</a:t>
            </a:r>
          </a:p>
          <a:p>
            <a:endParaRPr lang="pt-BR" sz="4400" dirty="0">
              <a:solidFill>
                <a:srgbClr val="FF0000"/>
              </a:solidFill>
            </a:endParaRPr>
          </a:p>
          <a:p>
            <a:r>
              <a:rPr lang="pt-BR" sz="4400" b="1" dirty="0"/>
              <a:t>Mas observando:</a:t>
            </a:r>
          </a:p>
          <a:p>
            <a:endParaRPr lang="pt-BR" sz="2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Demoram para localizar informações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Fazem processos manuais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Utilizam planilhas paralelas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r>
              <a:rPr lang="pt-BR" sz="4400" dirty="0"/>
              <a:t>A observação revela problemas ocultos.</a:t>
            </a:r>
          </a:p>
          <a:p>
            <a:endParaRPr lang="pt-BR" sz="4400" dirty="0">
              <a:solidFill>
                <a:srgbClr val="FF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783380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C3C84-7CE6-6DFD-E4BC-F5AB1252E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C2259CC-417F-9B7F-FD66-4C2A32C54F5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BF67CA7-A009-BAEC-DE1A-1064931996B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384596E-FAC9-F5D7-DAED-68BA7460554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A205817-61D0-C638-CEB3-4D1C5169559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DA7ED8-6C7B-A0AA-0AA6-57134236577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C627DC2-DF5B-B2B6-433E-568205402A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Entrevista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1B8ADF-DDEF-8073-CE52-58C099C6F98E}"/>
              </a:ext>
            </a:extLst>
          </p:cNvPr>
          <p:cNvSpPr txBox="1"/>
          <p:nvPr/>
        </p:nvSpPr>
        <p:spPr>
          <a:xfrm>
            <a:off x="1526491" y="2682875"/>
            <a:ext cx="16911842" cy="8833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O que é?</a:t>
            </a:r>
          </a:p>
          <a:p>
            <a:r>
              <a:rPr lang="pt-BR" sz="4400" dirty="0"/>
              <a:t>	Consiste em conversar diretamente com usuários, clientes ou 	gestores.</a:t>
            </a:r>
          </a:p>
          <a:p>
            <a:endParaRPr lang="pt-BR" sz="4400" dirty="0"/>
          </a:p>
          <a:p>
            <a:endParaRPr lang="pt-BR" sz="4400" dirty="0"/>
          </a:p>
          <a:p>
            <a:r>
              <a:rPr lang="pt-BR" sz="4400" b="1" dirty="0"/>
              <a:t>Objetivos da Entrevista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Obter informações detalhadas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Entender necessidades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Descobrir regras do negócio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Tirar dúvidas </a:t>
            </a:r>
          </a:p>
          <a:p>
            <a:endParaRPr lang="pt-BR" sz="4400" dirty="0">
              <a:solidFill>
                <a:srgbClr val="FF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066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1046C-AD33-C61F-4390-5DF43ACBD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1F0CB75-4B6B-8755-7E55-C17E93E956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72276AA-C7B2-86DB-BA68-2DA75098169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922FE91-F59C-8B93-38D6-D3CDDD16047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ED2D51-7829-D1DC-E71F-24C3375F452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1903E3-0D42-E055-A212-F88B289949F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806D4B6-E86F-9BD5-AC68-51F558BDD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Entrevista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393E04-82C8-8E26-E924-42771C6B812B}"/>
              </a:ext>
            </a:extLst>
          </p:cNvPr>
          <p:cNvSpPr txBox="1"/>
          <p:nvPr/>
        </p:nvSpPr>
        <p:spPr>
          <a:xfrm>
            <a:off x="1526491" y="268287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Tipos de Perguntas</a:t>
            </a:r>
          </a:p>
          <a:p>
            <a:endParaRPr lang="pt-BR" sz="4800" b="1" dirty="0"/>
          </a:p>
          <a:p>
            <a:r>
              <a:rPr lang="pt-BR" sz="4400" b="1" dirty="0"/>
              <a:t>Perguntas Abertas</a:t>
            </a:r>
          </a:p>
          <a:p>
            <a:r>
              <a:rPr lang="pt-BR" sz="4800" dirty="0"/>
              <a:t>	Permitem respostas livres.</a:t>
            </a:r>
          </a:p>
          <a:p>
            <a:endParaRPr lang="pt-BR" sz="4800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r>
              <a:rPr lang="pt-BR" sz="4000" dirty="0">
                <a:solidFill>
                  <a:srgbClr val="FF0000"/>
                </a:solidFill>
              </a:rPr>
              <a:t>“Como funciona o processo de vendas atualmente?”</a:t>
            </a:r>
          </a:p>
          <a:p>
            <a:endParaRPr lang="pt-BR" sz="4400" dirty="0">
              <a:solidFill>
                <a:srgbClr val="FF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454148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ED25-5481-24BD-6361-40C8D5CB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7B358068-7926-2E93-2E45-D9F54AF6F4E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46E846-C848-D0F5-F397-AD4D9C89B9B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B30A586-0EB7-AE09-ED17-477319C9DC1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D6DB26-ED66-7710-F151-2174110CF7C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E8AD809-12C2-3F0B-E6A4-8DB12A06EDD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2DA9E04-8E2C-E54C-850B-1759A6F86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Entrevista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DDA797D-437C-6BBD-5FED-6828CC5277EA}"/>
              </a:ext>
            </a:extLst>
          </p:cNvPr>
          <p:cNvSpPr txBox="1"/>
          <p:nvPr/>
        </p:nvSpPr>
        <p:spPr>
          <a:xfrm>
            <a:off x="1526491" y="2682875"/>
            <a:ext cx="16911842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Tipos de Perguntas</a:t>
            </a:r>
          </a:p>
          <a:p>
            <a:endParaRPr lang="pt-BR" sz="4800" b="1" dirty="0"/>
          </a:p>
          <a:p>
            <a:r>
              <a:rPr lang="pt-BR" sz="4400" b="1" dirty="0"/>
              <a:t>Perguntas Fechadas</a:t>
            </a:r>
          </a:p>
          <a:p>
            <a:r>
              <a:rPr lang="pt-BR" sz="4400" dirty="0"/>
              <a:t>	Possuem respostas objetivas.</a:t>
            </a:r>
          </a:p>
          <a:p>
            <a:endParaRPr lang="pt-BR" sz="4400" dirty="0"/>
          </a:p>
          <a:p>
            <a:r>
              <a:rPr lang="pt-BR" sz="4400" b="1" dirty="0"/>
              <a:t>Exemplo:</a:t>
            </a:r>
          </a:p>
          <a:p>
            <a:endParaRPr lang="pt-BR" sz="4400" dirty="0">
              <a:solidFill>
                <a:srgbClr val="FF0000"/>
              </a:solidFill>
            </a:endParaRPr>
          </a:p>
          <a:p>
            <a:r>
              <a:rPr lang="pt-BR" sz="4400" dirty="0">
                <a:solidFill>
                  <a:srgbClr val="FF0000"/>
                </a:solidFill>
              </a:rPr>
              <a:t>O sistema possui controle de estoque?</a:t>
            </a:r>
          </a:p>
          <a:p>
            <a:r>
              <a:rPr lang="pt-BR" sz="4400" dirty="0">
                <a:solidFill>
                  <a:srgbClr val="FF0000"/>
                </a:solidFill>
              </a:rPr>
              <a:t>( ) Sim</a:t>
            </a:r>
          </a:p>
          <a:p>
            <a:r>
              <a:rPr lang="pt-BR" sz="4400" dirty="0">
                <a:solidFill>
                  <a:srgbClr val="FF0000"/>
                </a:solidFill>
              </a:rPr>
              <a:t>( ) Não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892963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FD6AA-96B0-3C27-E831-33131B65A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7F97E60-A2E2-FDC9-6E4A-C8A249FF604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89072B7-9CD4-3C39-870E-AE388D152B8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A1A6D20-0C29-60CF-E2A8-EB8FF70DAB0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DECE4C5-FDE6-E940-C8CD-8F3D775B429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588D97-5086-D141-0FBC-F0810372FF2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0D1A4CE-C56D-2C7D-F283-C1BA7A2BCF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Entrevista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54CC037-A333-605A-54BC-294209163DD7}"/>
              </a:ext>
            </a:extLst>
          </p:cNvPr>
          <p:cNvSpPr txBox="1"/>
          <p:nvPr/>
        </p:nvSpPr>
        <p:spPr>
          <a:xfrm>
            <a:off x="1526491" y="2682875"/>
            <a:ext cx="16911842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Boas Práticas:</a:t>
            </a:r>
          </a:p>
          <a:p>
            <a:endParaRPr lang="pt-BR" sz="4800" b="1" dirty="0"/>
          </a:p>
          <a:p>
            <a:r>
              <a:rPr lang="pt-BR" sz="4800" b="1" dirty="0"/>
              <a:t>O entrevistador deve:</a:t>
            </a:r>
          </a:p>
          <a:p>
            <a:endParaRPr lang="pt-BR" sz="4800" b="1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400" dirty="0"/>
              <a:t>Escutar atentamente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400" dirty="0"/>
              <a:t>Fazer anotações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400" dirty="0"/>
              <a:t>Evitar interrupções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400" dirty="0"/>
              <a:t>Fazer perguntas claras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400" dirty="0"/>
              <a:t>Confirmar entendimento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610484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D13E6-3200-828B-ECB7-1F5C9019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A6055C3-3106-C59C-B253-75DC6A8970F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CB25351-7D0A-B0C8-2665-05A27C9FA47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F7D8674-7704-34A7-25E6-11FDFF53E6E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C0C269E-AAAD-4817-946B-7705EEDCDA6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BFFE469-D532-C806-62EE-028FABDA977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1B2E689-5397-1C6E-2FFF-607FA934CC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105314"/>
            <a:ext cx="12868959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Entrevista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B8FCA0-B6A9-D639-37CC-B283CF27E003}"/>
              </a:ext>
            </a:extLst>
          </p:cNvPr>
          <p:cNvSpPr txBox="1"/>
          <p:nvPr/>
        </p:nvSpPr>
        <p:spPr>
          <a:xfrm>
            <a:off x="1526491" y="2682875"/>
            <a:ext cx="1691184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/>
              <a:t>Problemas Comuns</a:t>
            </a:r>
          </a:p>
          <a:p>
            <a:endParaRPr lang="pt-BR" sz="4800" b="1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/>
              <a:t>Usuários esquecem informações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/>
              <a:t>Respostas vagas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/>
              <a:t>Falta de conhecimento técnico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4800" dirty="0"/>
              <a:t>Contradições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951600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B56B-0578-668C-8376-1ADD7410C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5F3A1A9-DFB0-5C43-3F4C-FA2D2F7401C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3590AE2-46D3-687B-DD8E-FC312D60671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31328C6-978A-8853-CFB1-665B74532A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C46B81-3977-C530-3F15-B6966698F5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1827312-055C-E1AF-5D3B-45216D074CC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E0EF67-0016-84C0-C38D-DEFED4FE1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Brainstorming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48E560A-2611-E0DC-CB00-4FF44D238448}"/>
              </a:ext>
            </a:extLst>
          </p:cNvPr>
          <p:cNvSpPr txBox="1"/>
          <p:nvPr/>
        </p:nvSpPr>
        <p:spPr>
          <a:xfrm>
            <a:off x="1526491" y="3063875"/>
            <a:ext cx="16911842" cy="580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que é?</a:t>
            </a:r>
          </a:p>
          <a:p>
            <a:endParaRPr lang="pt-BR" sz="4000" b="1" dirty="0"/>
          </a:p>
          <a:p>
            <a:r>
              <a:rPr lang="pt-BR" sz="4000" dirty="0"/>
              <a:t>Brainstorming é uma reunião para geração de ideias.</a:t>
            </a:r>
          </a:p>
          <a:p>
            <a:endParaRPr lang="pt-BR" sz="4000" dirty="0"/>
          </a:p>
          <a:p>
            <a:r>
              <a:rPr lang="pt-BR" sz="4000" dirty="0"/>
              <a:t>Os participantes </a:t>
            </a:r>
            <a:r>
              <a:rPr lang="pt-BR" sz="4000" b="1" dirty="0"/>
              <a:t>sugerem</a:t>
            </a:r>
            <a:r>
              <a:rPr lang="pt-BR" sz="4000" dirty="0"/>
              <a:t>:</a:t>
            </a:r>
          </a:p>
          <a:p>
            <a:endParaRPr lang="pt-BR" sz="11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Funcionalidades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Melhorias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Soluções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Problemas</a:t>
            </a:r>
          </a:p>
        </p:txBody>
      </p:sp>
    </p:spTree>
    <p:extLst>
      <p:ext uri="{BB962C8B-B14F-4D97-AF65-F5344CB8AC3E}">
        <p14:creationId xmlns:p14="http://schemas.microsoft.com/office/powerpoint/2010/main" val="7409559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C1A3A-47D7-9B94-CC0F-E049B22F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3D71658-583B-0717-7EDD-EE4B533080B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576E1D8-6DE4-21C5-C32A-DB19E8F0B25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D07041-208F-0C13-4548-56D7F5276FE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BEE32BC-F1ED-1EF2-F8D8-A44FB399061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46EE2A1-2962-4882-BFE3-D76388CC405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747B060-E6AB-5DA0-5702-45B834B0B5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Brainstorming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47895D-A59C-0CF9-CDED-134046A2A543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Objetivo</a:t>
            </a:r>
          </a:p>
          <a:p>
            <a:endParaRPr lang="pt-BR" sz="4000" b="1" dirty="0"/>
          </a:p>
          <a:p>
            <a:r>
              <a:rPr lang="pt-BR" sz="4000" dirty="0"/>
              <a:t>Estimular criatividade e participação coletiva.</a:t>
            </a:r>
          </a:p>
          <a:p>
            <a:endParaRPr lang="pt-BR" sz="4000" b="1" dirty="0"/>
          </a:p>
          <a:p>
            <a:r>
              <a:rPr lang="pt-BR" sz="4000" b="1" dirty="0"/>
              <a:t>Regras do Brainstorming</a:t>
            </a:r>
          </a:p>
          <a:p>
            <a:endParaRPr lang="pt-BR" sz="4000" b="1" dirty="0"/>
          </a:p>
          <a:p>
            <a:r>
              <a:rPr lang="pt-BR" sz="4000" b="1" dirty="0"/>
              <a:t>Durante a reunião: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Nenhuma ideia deve ser criticada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Todas as ideias são anotadas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Quantidade de ideias é importante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Depois ocorre a seleção</a:t>
            </a:r>
          </a:p>
        </p:txBody>
      </p:sp>
    </p:spTree>
    <p:extLst>
      <p:ext uri="{BB962C8B-B14F-4D97-AF65-F5344CB8AC3E}">
        <p14:creationId xmlns:p14="http://schemas.microsoft.com/office/powerpoint/2010/main" val="2336180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003F0-F004-22D6-EFC4-8035AF23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CE5E6AA-F5B8-2EB1-06E6-7AB40CD6EE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9997EA8-8DBA-AFCA-4D4F-FE7A0A2D649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1252A07-A29A-41DA-9559-C0C2F9971C8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49D544B-FB49-26C9-40F1-18B5BEF3D36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F7D3DC5-3A18-B3CD-98B7-5EC013C6DFE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BE2F563-E123-23A1-B448-AAE4654FDA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Brainstorming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79EA2E-13B6-2395-0062-0BF52AD8687D}"/>
              </a:ext>
            </a:extLst>
          </p:cNvPr>
          <p:cNvSpPr txBox="1"/>
          <p:nvPr/>
        </p:nvSpPr>
        <p:spPr>
          <a:xfrm>
            <a:off x="1526490" y="29114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</a:t>
            </a:r>
          </a:p>
          <a:p>
            <a:endParaRPr lang="pt-BR" sz="4000" dirty="0"/>
          </a:p>
          <a:p>
            <a:r>
              <a:rPr lang="pt-BR" sz="4000" dirty="0"/>
              <a:t>Sistema para restaurante.</a:t>
            </a:r>
          </a:p>
          <a:p>
            <a:endParaRPr lang="pt-BR" sz="4000" dirty="0"/>
          </a:p>
          <a:p>
            <a:r>
              <a:rPr lang="pt-BR" sz="4000" b="1" dirty="0"/>
              <a:t>Ideias levantadas: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Cardápio digital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Pedido via tablet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Controle de mesas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Pagamento online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Programa de fidelidade </a:t>
            </a:r>
          </a:p>
        </p:txBody>
      </p:sp>
    </p:spTree>
    <p:extLst>
      <p:ext uri="{BB962C8B-B14F-4D97-AF65-F5344CB8AC3E}">
        <p14:creationId xmlns:p14="http://schemas.microsoft.com/office/powerpoint/2010/main" val="3594518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9317E-0580-031D-B4BD-042DFAA3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292EFB9-592B-786C-036C-68A53660BF0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E4C715-933C-8BA0-514B-BCDB40744A6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AA7CA2-19CF-B983-55BB-A3CCDABF53A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B0B756B-F5BA-FE20-8777-CD8DAB12EDC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AD42397-471A-3442-148B-2F59F86B05B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59DE07C-60C5-0245-AEC6-A996033BE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Brainstorming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05E7498-9E61-1ED2-9D21-ECAB331F702B}"/>
              </a:ext>
            </a:extLst>
          </p:cNvPr>
          <p:cNvSpPr txBox="1"/>
          <p:nvPr/>
        </p:nvSpPr>
        <p:spPr>
          <a:xfrm>
            <a:off x="1526490" y="2911475"/>
            <a:ext cx="16911842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Vantagens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Estimula criatividade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Gera soluções inovadoras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Envolve a equipe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Descobre novas funcionalidades</a:t>
            </a:r>
          </a:p>
          <a:p>
            <a:endParaRPr lang="pt-BR" sz="4000" b="1" dirty="0"/>
          </a:p>
          <a:p>
            <a:r>
              <a:rPr lang="pt-BR" sz="4000" b="1" dirty="0"/>
              <a:t>Desvantagens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gerar ideias irreais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Algumas pessoas falam mais que outras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Necessita organização </a:t>
            </a:r>
          </a:p>
        </p:txBody>
      </p:sp>
    </p:spTree>
    <p:extLst>
      <p:ext uri="{BB962C8B-B14F-4D97-AF65-F5344CB8AC3E}">
        <p14:creationId xmlns:p14="http://schemas.microsoft.com/office/powerpoint/2010/main" val="1386629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DB7CDA-2A9E-9F53-3A81-C08815B1CA16}"/>
              </a:ext>
            </a:extLst>
          </p:cNvPr>
          <p:cNvSpPr txBox="1"/>
          <p:nvPr/>
        </p:nvSpPr>
        <p:spPr>
          <a:xfrm>
            <a:off x="1526490" y="244141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levantamento de requisitos normalmente ocorre em etapas.</a:t>
            </a:r>
          </a:p>
          <a:p>
            <a:endParaRPr lang="pt-BR" sz="4000" b="1" dirty="0"/>
          </a:p>
          <a:p>
            <a:r>
              <a:rPr lang="pt-BR" sz="4000" b="1" dirty="0"/>
              <a:t>1. Coleta</a:t>
            </a:r>
          </a:p>
          <a:p>
            <a:r>
              <a:rPr lang="pt-BR" sz="4000" b="1" dirty="0"/>
              <a:t>O que é?</a:t>
            </a:r>
          </a:p>
          <a:p>
            <a:r>
              <a:rPr lang="pt-BR" sz="4000" dirty="0"/>
              <a:t>	É a fase de obtenção de informações.</a:t>
            </a:r>
          </a:p>
          <a:p>
            <a:endParaRPr lang="pt-BR" sz="4000" dirty="0"/>
          </a:p>
          <a:p>
            <a:r>
              <a:rPr lang="pt-BR" sz="4000" dirty="0"/>
              <a:t>Aqui o analista: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Faz entrevistas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Observações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Reuniões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Brainstormings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Questionários</a:t>
            </a:r>
          </a:p>
        </p:txBody>
      </p:sp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783C-649C-A116-8A67-2EA64C264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683277C-137F-8C55-DA67-A7CA083EE6B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08F83CC-780C-E4C5-28D4-2989DCDBB72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0BEC5D-00DA-EBEE-CC64-F808C58BB47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0700B42-367B-86EA-B4E1-7A839E04027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B5211C-992A-B692-BF5C-B7C3752A80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B1BE287-4D91-0B7D-875E-49B21669E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79160C-634C-2190-ACAF-1B84BB0340AF}"/>
              </a:ext>
            </a:extLst>
          </p:cNvPr>
          <p:cNvSpPr txBox="1"/>
          <p:nvPr/>
        </p:nvSpPr>
        <p:spPr>
          <a:xfrm>
            <a:off x="1526490" y="244141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Objetivo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Reunir o máximo de informações possíveis.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Exemplo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Durante a coleta: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 cliente informa necessidades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Usuários mostram dificuldades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Processos são observados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14206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2EA4-AE49-4350-178D-7030BB388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BA0EBC4-201D-0A91-12EA-7C898765FF4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11241A-3850-5251-37C2-69BAFFAAAE2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E671BC8-437A-9A5A-814D-44EAA1E286F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0AE9265-73E5-F32F-5EBC-B9082BF71CD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B520A2F-E4DA-C4FD-8326-1861EE0317A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E490E81-7108-43E6-9711-BCBFCE3A52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326A46-8C9B-5845-F653-2979F543BE09}"/>
              </a:ext>
            </a:extLst>
          </p:cNvPr>
          <p:cNvSpPr txBox="1"/>
          <p:nvPr/>
        </p:nvSpPr>
        <p:spPr>
          <a:xfrm>
            <a:off x="1526490" y="3146296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Cuidados Importantes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Registrar tudo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Fazer perguntas corretas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Confirmar informações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Evitar interpretações precipitadas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8804545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91BA-A3CD-07A4-6892-BCBAFD4A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4B03995-6A00-9372-A61F-68947D91EA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4EF599-EAFE-CACC-1D98-7E7AB72BD5A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779B6D0-D3A4-F6AF-1F46-FD7F66029FD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31F9A71-953C-37B9-B26B-E318B58DAA4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29337C4-4953-CA2D-359A-756B41F9666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382CD8-DF2D-36E5-31E9-043AEAE69E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00AC57-FA91-4FDD-B1BB-8D43F8BBD6AA}"/>
              </a:ext>
            </a:extLst>
          </p:cNvPr>
          <p:cNvSpPr txBox="1"/>
          <p:nvPr/>
        </p:nvSpPr>
        <p:spPr>
          <a:xfrm>
            <a:off x="1526490" y="2546111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Análise</a:t>
            </a:r>
          </a:p>
          <a:p>
            <a:r>
              <a:rPr lang="pt-BR" sz="4000" b="1" dirty="0"/>
              <a:t>	</a:t>
            </a:r>
          </a:p>
          <a:p>
            <a:r>
              <a:rPr lang="pt-BR" sz="4000" b="1" dirty="0"/>
              <a:t>O que é?</a:t>
            </a:r>
          </a:p>
          <a:p>
            <a:r>
              <a:rPr lang="pt-BR" sz="4000" dirty="0"/>
              <a:t>Após coletar informações, o analista precisa interpretar e organizar os requisitos.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Objetivos da Análise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Identificar inconsistências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Remover ambiguidades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Organizar prioridades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Verificar viabilidade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86640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95A5-AFED-A3CF-FE26-ED67A772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5F7FCA2-4413-D889-1315-91BF7BBAA7C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9641A43-910B-C21F-5744-02763F1212C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43437F6-3436-4C69-DFCB-E555E3A8032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C8C2B0B-074A-E8A0-C0F5-5B7FF9B4027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2FAA616-2DE9-0CBE-48D6-E55CC183CEB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25236E0-FF16-132D-1C68-3D216E386A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E73DB6-454D-A059-EBE1-47238546EF34}"/>
              </a:ext>
            </a:extLst>
          </p:cNvPr>
          <p:cNvSpPr txBox="1"/>
          <p:nvPr/>
        </p:nvSpPr>
        <p:spPr>
          <a:xfrm>
            <a:off x="1526490" y="2546111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</a:t>
            </a:r>
          </a:p>
          <a:p>
            <a:endParaRPr lang="pt-BR" sz="4000" b="1" dirty="0"/>
          </a:p>
          <a:p>
            <a:r>
              <a:rPr lang="pt-BR" sz="4000" dirty="0"/>
              <a:t>Dois usuários dizem: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“O sistema precisa ser rápido”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“O sistema precisa validar muitas informações”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O analista precisa equilibrar desempenho e segurança.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58226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B1F7F-28FC-CF27-FEAE-ADD1EE49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D2ADECB-A73E-24BD-17C8-FD18EEBE6FA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D35553F-7A06-7B26-1997-E918830348A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7750903-3335-01A6-0FEE-E57BEF4F51F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CA8585D-9B10-0B95-6404-878F1EE26D6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B196F90-155F-F00A-E4C3-C203D5A1AEE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5CD033-5EDA-086F-0761-C0D9811B18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DEEA303-9F9F-9DCC-FDF1-DE72E7596175}"/>
              </a:ext>
            </a:extLst>
          </p:cNvPr>
          <p:cNvSpPr txBox="1"/>
          <p:nvPr/>
        </p:nvSpPr>
        <p:spPr>
          <a:xfrm>
            <a:off x="1526490" y="2546111"/>
            <a:ext cx="169118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Atividades da Análise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DDC065E-2C3F-216D-82D0-32392D35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650" y="3983064"/>
            <a:ext cx="13290621" cy="47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92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151F-795D-7AF7-0AAF-E465CD3F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8A1D36-9B44-B70E-3109-86B5EE508DF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4430B0E-52D2-867F-95E7-E9AA554C597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9C6075-D57B-CED8-E896-BFEA63C5878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A68A711-8BF3-8EDF-348F-D6A98BB30D6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5BAF4BB-DFB7-36DC-7ED4-A54ED47D554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6DFB09B-40D7-BD56-DB0D-A0FF4E7C6E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5313935-A2DF-25E8-48F0-EF983F49F55D}"/>
              </a:ext>
            </a:extLst>
          </p:cNvPr>
          <p:cNvSpPr txBox="1"/>
          <p:nvPr/>
        </p:nvSpPr>
        <p:spPr>
          <a:xfrm>
            <a:off x="1503207" y="2134696"/>
            <a:ext cx="16911842" cy="1055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Registros</a:t>
            </a:r>
          </a:p>
          <a:p>
            <a:endParaRPr lang="pt-BR" sz="4000" b="1" dirty="0"/>
          </a:p>
          <a:p>
            <a:r>
              <a:rPr lang="pt-BR" sz="4000" b="1" dirty="0"/>
              <a:t>O que é?</a:t>
            </a:r>
          </a:p>
          <a:p>
            <a:endParaRPr lang="pt-BR" sz="4000" b="1" dirty="0"/>
          </a:p>
          <a:p>
            <a:r>
              <a:rPr lang="pt-BR" sz="4000" dirty="0"/>
              <a:t>É a documentação dos requisitos levantados.</a:t>
            </a:r>
          </a:p>
          <a:p>
            <a:r>
              <a:rPr lang="pt-BR" sz="4000" dirty="0"/>
              <a:t>Tudo precisa ser registrado oficialmente.</a:t>
            </a:r>
          </a:p>
          <a:p>
            <a:endParaRPr lang="pt-BR" sz="4000" dirty="0"/>
          </a:p>
          <a:p>
            <a:endParaRPr lang="pt-BR" sz="4000" dirty="0"/>
          </a:p>
          <a:p>
            <a:r>
              <a:rPr lang="pt-BR" sz="4000" b="1" dirty="0"/>
              <a:t>Importância dos Registros</a:t>
            </a:r>
          </a:p>
          <a:p>
            <a:endParaRPr lang="pt-BR" sz="4000" b="1" dirty="0"/>
          </a:p>
          <a:p>
            <a:r>
              <a:rPr lang="pt-BR" sz="4000" dirty="0"/>
              <a:t>Sem documentação: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Informações podem ser esquecidas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Equipe pode interpretar errado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Cliente pode contestar funcionalidades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4253889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320E-1074-B3C2-1CE2-5F01FD7ED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CFE0B97-D701-AAC5-4017-59E0E69257B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2D0ECAE-CAB6-4D28-9299-2A005C778E3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559715F-F091-5945-AB34-79EC1F31F5A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2F627D-1276-FC91-096A-E2DA5F6901A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13D742-FEBA-935A-6965-2DF226A8D81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D3E55CB-0057-94B4-EB45-CBD73A802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DBEE735-5C40-01F0-5FE6-3436F622F9AE}"/>
              </a:ext>
            </a:extLst>
          </p:cNvPr>
          <p:cNvSpPr txBox="1"/>
          <p:nvPr/>
        </p:nvSpPr>
        <p:spPr>
          <a:xfrm>
            <a:off x="1526490" y="2301875"/>
            <a:ext cx="169118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Formas de Registro:</a:t>
            </a:r>
            <a:endParaRPr lang="pt-BR" sz="4000" dirty="0"/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7942AD8-EA23-908E-5F8F-A0F309965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910" y="3972447"/>
            <a:ext cx="15864279" cy="570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35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BFD8-CEDF-7F34-160D-86C9446A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22F2E9F-503D-F909-EFBB-CEC7AF18334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37F2D4-C9DF-5EC7-285D-14595DE6B25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B9C27C-3BFE-539D-2085-5D1894E92C8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05908AF-6051-3508-DEB6-C44A6F4D1DC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822C20E-9882-818B-5CFB-6290CD67095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7509791-7427-81CF-06A3-ACB8800F5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Fases do Levantamento Requisito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6C4BE4C-2F73-6AAD-69E4-179EA8BA9BBE}"/>
              </a:ext>
            </a:extLst>
          </p:cNvPr>
          <p:cNvSpPr txBox="1"/>
          <p:nvPr/>
        </p:nvSpPr>
        <p:spPr>
          <a:xfrm>
            <a:off x="1503207" y="2677940"/>
            <a:ext cx="16911842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 de Registro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Requisito </a:t>
            </a:r>
            <a:r>
              <a:rPr lang="pt-BR" sz="4000" b="1" dirty="0"/>
              <a:t>RF001</a:t>
            </a:r>
            <a:r>
              <a:rPr lang="pt-BR" sz="4000" dirty="0"/>
              <a:t>: O sistema deve permitir cadastro de alunos.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Boas Práticas no Registro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Linguagem clara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Objetividade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Padronização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Organização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Versionamento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9687703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C994C-4E9A-E054-C61C-4F565D552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44879DD-EE47-A535-73C7-C816A2158E4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6C8671-6901-D397-CBE8-1C5ABE1147F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1B2D75-C01C-041A-2FE3-7471B3C92A6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BB6605E-D3A0-17B8-FFF7-DBA10F8FE46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23ED5BE-FDFD-0CEA-EA37-4028A82E6A8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626E49-25BD-1F54-BC55-48DA79A5D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Fluxo Completo do Levantamento de Requisitos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31F2561-6DEA-42FF-3F27-84C9C20CFD3A}"/>
              </a:ext>
            </a:extLst>
          </p:cNvPr>
          <p:cNvSpPr txBox="1"/>
          <p:nvPr/>
        </p:nvSpPr>
        <p:spPr>
          <a:xfrm>
            <a:off x="1503207" y="2677940"/>
            <a:ext cx="169118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9FF97CE-6B8E-054C-357B-624B102E5CAB}"/>
              </a:ext>
            </a:extLst>
          </p:cNvPr>
          <p:cNvSpPr txBox="1"/>
          <p:nvPr/>
        </p:nvSpPr>
        <p:spPr>
          <a:xfrm>
            <a:off x="1503207" y="3614652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/>
              <a:t>Coleta</a:t>
            </a:r>
            <a:br>
              <a:rPr lang="pt-BR" sz="4000" dirty="0"/>
            </a:br>
            <a:r>
              <a:rPr lang="pt-BR" sz="4000" dirty="0"/>
              <a:t>↓</a:t>
            </a:r>
            <a:br>
              <a:rPr lang="pt-BR" sz="4000" dirty="0"/>
            </a:br>
            <a:r>
              <a:rPr lang="pt-BR" sz="4000" dirty="0"/>
              <a:t>Análise</a:t>
            </a:r>
            <a:br>
              <a:rPr lang="pt-BR" sz="4000" dirty="0"/>
            </a:br>
            <a:r>
              <a:rPr lang="pt-BR" sz="4000" dirty="0"/>
              <a:t>↓</a:t>
            </a:r>
            <a:br>
              <a:rPr lang="pt-BR" sz="4000" dirty="0"/>
            </a:br>
            <a:r>
              <a:rPr lang="pt-BR" sz="4000" dirty="0"/>
              <a:t>Documentação</a:t>
            </a:r>
            <a:br>
              <a:rPr lang="pt-BR" sz="4000" dirty="0"/>
            </a:br>
            <a:r>
              <a:rPr lang="pt-BR" sz="4000" dirty="0"/>
              <a:t>↓</a:t>
            </a:r>
            <a:br>
              <a:rPr lang="pt-BR" sz="4000" dirty="0"/>
            </a:br>
            <a:r>
              <a:rPr lang="pt-BR" sz="4000" dirty="0"/>
              <a:t>Validação com cliente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152820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📌Exemplo Completo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4EA2B1A-02EA-8E19-3752-55E5C7C33C4A}"/>
              </a:ext>
            </a:extLst>
          </p:cNvPr>
          <p:cNvSpPr txBox="1"/>
          <p:nvPr/>
        </p:nvSpPr>
        <p:spPr>
          <a:xfrm>
            <a:off x="1343689" y="2690268"/>
            <a:ext cx="1645464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Sistema para Clínica</a:t>
            </a:r>
          </a:p>
          <a:p>
            <a:endParaRPr lang="pt-BR" sz="3600" b="1" dirty="0">
              <a:solidFill>
                <a:schemeClr val="bg1"/>
              </a:solidFill>
            </a:endParaRPr>
          </a:p>
          <a:p>
            <a:r>
              <a:rPr lang="pt-BR" sz="3600" b="1" dirty="0">
                <a:solidFill>
                  <a:schemeClr val="bg1"/>
                </a:solidFill>
              </a:rPr>
              <a:t>Coleta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Entrevistas com recepcionistas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Observação do atendimento 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Análise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Identificação de problemas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Organização das funcionalidades 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Registro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Documento com requisitos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Protótipos das telas</a:t>
            </a:r>
          </a:p>
          <a:p>
            <a:endParaRPr lang="pt-B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Erros Comuns: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1. Não ouvir os usuários</a:t>
            </a:r>
          </a:p>
          <a:p>
            <a:r>
              <a:rPr lang="pt-BR" sz="4000" dirty="0"/>
              <a:t>	O sistema pode não atender as necessidades reais.</a:t>
            </a:r>
          </a:p>
          <a:p>
            <a:endParaRPr lang="pt-BR" sz="4000" dirty="0"/>
          </a:p>
          <a:p>
            <a:r>
              <a:rPr lang="pt-BR" sz="4000" b="1" dirty="0"/>
              <a:t>2. Não documentar corretamente</a:t>
            </a:r>
          </a:p>
          <a:p>
            <a:r>
              <a:rPr lang="pt-BR" sz="4000" dirty="0"/>
              <a:t>	Informações importantes podem ser perdidas.</a:t>
            </a:r>
          </a:p>
          <a:p>
            <a:endParaRPr lang="pt-BR" sz="4000" dirty="0"/>
          </a:p>
          <a:p>
            <a:r>
              <a:rPr lang="pt-BR" sz="4000" b="1" dirty="0"/>
              <a:t>3. Fazer suposições</a:t>
            </a:r>
          </a:p>
          <a:p>
            <a:r>
              <a:rPr lang="pt-BR" sz="4000" dirty="0"/>
              <a:t>	O analista nunca deve “achar”.</a:t>
            </a:r>
          </a:p>
          <a:p>
            <a:r>
              <a:rPr lang="pt-BR" sz="4000" dirty="0"/>
              <a:t>	Ele deve confirmar informações.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5336-798E-A69E-7D68-DC0F63FF4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D3D6E1-286C-0195-5ED3-D5C5BE3B8FA3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9CFBE0C-61D0-82E8-DF90-DB3F1D6C0E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5FB8F96-0913-FF0A-72E0-A18E30AB555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655070E-5768-12A4-8152-8C5232E8A0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A08290F-7D8C-1E43-0004-DFB144D7462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45FF436-2187-DAE9-6C44-C3C85182E46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592F45C-FBD1-5807-3A09-922366E547E1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5ECCCE4-E494-0B8E-762C-1C865B96D10C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0EDD6DC-B1FA-C1E9-0D44-A182D126C6FD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703546F-7E7B-3D24-9FDB-924C3DA42200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9247E17-F147-AAA8-7454-288E4382AC30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BC1B30A-8940-8B2B-0FDB-AF6BE1404AB0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79E8BAA-1B69-9B97-7DC5-F2169BA01C59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0D88495-A39E-9746-77D3-17DFFE0CF97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86155C19-0E97-AA88-235F-06C02EE9AE0D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257B1D0-A5C9-3DE1-9B7A-63EE1EF9F612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25FFB8B-0FC8-E0CA-5A60-2E520C3D8DF8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B2EEC19-BC74-A29B-E634-199A2EE3681F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076E2B7-929F-7A32-8295-714DDA50B78F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590F1EB-BD60-4D84-4C95-8EBE2460052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C016B1A-543F-2B8D-2BDD-F69088BD56F3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3AF9C5A-623D-C8D5-7086-35FD457735B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3DFC0C9-819C-95C4-FD03-C9EA0F089D5B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763A5E28-8F80-D8A6-6E24-6A10832CEF42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2E962B2-056D-7B82-8D23-3EDFCE03622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32B1F72-7825-E614-C7AD-D9162AC64F8E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E8648B9-98A7-5FC9-802D-9B30CDE4D7D0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1982436-2995-DEE4-5F9A-547192E9EF4D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97D7FFD-84F0-7BD1-5AC7-006A909A70B1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8CC58F3-FDC6-9C2E-47DB-68B1B32E6D0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6FDC5035-7C3A-2AB5-9AD4-222D3A152AB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Conclusão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02EB4EB-CF87-6891-851D-97399566CC82}"/>
              </a:ext>
            </a:extLst>
          </p:cNvPr>
          <p:cNvSpPr txBox="1"/>
          <p:nvPr/>
        </p:nvSpPr>
        <p:spPr>
          <a:xfrm>
            <a:off x="1343689" y="2690268"/>
            <a:ext cx="164546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O levantamento de requisitos é uma das etapas mais importantes do desenvolvimento de software.</a:t>
            </a:r>
          </a:p>
          <a:p>
            <a:endParaRPr lang="pt-BR" sz="3600" dirty="0">
              <a:solidFill>
                <a:schemeClr val="bg1"/>
              </a:solidFill>
            </a:endParaRPr>
          </a:p>
          <a:p>
            <a:r>
              <a:rPr lang="pt-BR" sz="3600" dirty="0">
                <a:solidFill>
                  <a:schemeClr val="bg1"/>
                </a:solidFill>
              </a:rPr>
              <a:t>Um bom levantamento: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Reduz erros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Economiza tempo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Evita retrabalho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chemeClr val="bg1"/>
                </a:solidFill>
              </a:rPr>
              <a:t>Melhora a qualidade do sistema</a:t>
            </a:r>
          </a:p>
          <a:p>
            <a:endParaRPr lang="pt-BR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508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4534</TotalTime>
  <Words>8210</Words>
  <Application>Microsoft Office PowerPoint</Application>
  <PresentationFormat>Personalizar</PresentationFormat>
  <Paragraphs>557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50" baseType="lpstr">
      <vt:lpstr>Montserrat Light</vt:lpstr>
      <vt:lpstr>Arial</vt:lpstr>
      <vt:lpstr>Montserrat ExtraBold</vt:lpstr>
      <vt:lpstr>Montserrat</vt:lpstr>
      <vt:lpstr>Calibri</vt:lpstr>
      <vt:lpstr>Office Theme</vt:lpstr>
      <vt:lpstr>Apresentação do PowerPoint</vt:lpstr>
      <vt:lpstr>Levantamento de Requisitos </vt:lpstr>
      <vt:lpstr>Levantamento de Requisitos</vt:lpstr>
      <vt:lpstr>Objetivo do Levantamento de Requisitos</vt:lpstr>
      <vt:lpstr>Exemplo Real</vt:lpstr>
      <vt:lpstr>Tipos de Requisitos</vt:lpstr>
      <vt:lpstr>Tipos de Requisitos</vt:lpstr>
      <vt:lpstr>Técnicas de Levantamento de Requisitos </vt:lpstr>
      <vt:lpstr>Briefing</vt:lpstr>
      <vt:lpstr>Informações Comuns em um Briefing</vt:lpstr>
      <vt:lpstr>Exemplo prático:</vt:lpstr>
      <vt:lpstr>Vantagens do Briefing</vt:lpstr>
      <vt:lpstr>Levantamento Orientado a Pontos de Vista</vt:lpstr>
      <vt:lpstr>Levantamento Orientado a Pontos de Vista</vt:lpstr>
      <vt:lpstr>Levantamento Orientado a Pontos de Vista</vt:lpstr>
      <vt:lpstr>Levantamento Orientado a Pontos de Vista</vt:lpstr>
      <vt:lpstr>Etnografia (Observação)</vt:lpstr>
      <vt:lpstr>Etnografia (Observação)</vt:lpstr>
      <vt:lpstr>Etnografia (Observação)</vt:lpstr>
      <vt:lpstr>Etnografia (Observação)</vt:lpstr>
      <vt:lpstr>Etnografia (Observação)</vt:lpstr>
      <vt:lpstr>Entrevista</vt:lpstr>
      <vt:lpstr>Entrevista</vt:lpstr>
      <vt:lpstr>Entrevista</vt:lpstr>
      <vt:lpstr>Entrevista</vt:lpstr>
      <vt:lpstr>Entrevista</vt:lpstr>
      <vt:lpstr>Brainstorming</vt:lpstr>
      <vt:lpstr>Brainstorming</vt:lpstr>
      <vt:lpstr>Brainstorming</vt:lpstr>
      <vt:lpstr>Brainstorming</vt:lpstr>
      <vt:lpstr>Fases do Levantamento Requisito</vt:lpstr>
      <vt:lpstr>Fases do Levantamento Requisito</vt:lpstr>
      <vt:lpstr>Fases do Levantamento Requisito</vt:lpstr>
      <vt:lpstr>Fases do Levantamento Requisito</vt:lpstr>
      <vt:lpstr>Fases do Levantamento Requisito</vt:lpstr>
      <vt:lpstr>Fases do Levantamento Requisito</vt:lpstr>
      <vt:lpstr>Fases do Levantamento Requisito</vt:lpstr>
      <vt:lpstr>Fases do Levantamento Requisito</vt:lpstr>
      <vt:lpstr>Fases do Levantamento Requisito</vt:lpstr>
      <vt:lpstr>Fluxo Completo do Levantamento de Requisitos</vt:lpstr>
      <vt:lpstr> </vt:lpstr>
      <vt:lpstr>Erros Comuns:</vt:lpstr>
      <vt:lpstr>Apresentação do PowerPoint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541</cp:revision>
  <cp:lastPrinted>2025-02-13T13:17:19Z</cp:lastPrinted>
  <dcterms:created xsi:type="dcterms:W3CDTF">2021-08-24T16:20:14Z</dcterms:created>
  <dcterms:modified xsi:type="dcterms:W3CDTF">2026-05-12T19:57:36Z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