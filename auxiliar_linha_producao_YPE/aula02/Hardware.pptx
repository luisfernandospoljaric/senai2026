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7" r:id="rId4"/>
  </p:sldMasterIdLst>
  <p:notesMasterIdLst>
    <p:notesMasterId r:id="rId50"/>
  </p:notesMasterIdLst>
  <p:sldIdLst>
    <p:sldId id="278" r:id="rId5"/>
    <p:sldId id="1450" r:id="rId6"/>
    <p:sldId id="1351" r:id="rId7"/>
    <p:sldId id="1385" r:id="rId8"/>
    <p:sldId id="1436" r:id="rId9"/>
    <p:sldId id="1459" r:id="rId10"/>
    <p:sldId id="1437" r:id="rId11"/>
    <p:sldId id="1439" r:id="rId12"/>
    <p:sldId id="1460" r:id="rId13"/>
    <p:sldId id="1461" r:id="rId14"/>
    <p:sldId id="1441" r:id="rId15"/>
    <p:sldId id="1462" r:id="rId16"/>
    <p:sldId id="1463" r:id="rId17"/>
    <p:sldId id="1464" r:id="rId18"/>
    <p:sldId id="1465" r:id="rId19"/>
    <p:sldId id="1466" r:id="rId20"/>
    <p:sldId id="1433" r:id="rId21"/>
    <p:sldId id="1467" r:id="rId22"/>
    <p:sldId id="1469" r:id="rId23"/>
    <p:sldId id="1470" r:id="rId24"/>
    <p:sldId id="1471" r:id="rId25"/>
    <p:sldId id="1472" r:id="rId26"/>
    <p:sldId id="1473" r:id="rId27"/>
    <p:sldId id="1376" r:id="rId28"/>
    <p:sldId id="1442" r:id="rId29"/>
    <p:sldId id="1475" r:id="rId30"/>
    <p:sldId id="1476" r:id="rId31"/>
    <p:sldId id="1478" r:id="rId32"/>
    <p:sldId id="1468" r:id="rId33"/>
    <p:sldId id="1443" r:id="rId34"/>
    <p:sldId id="1480" r:id="rId35"/>
    <p:sldId id="1481" r:id="rId36"/>
    <p:sldId id="1482" r:id="rId37"/>
    <p:sldId id="1483" r:id="rId38"/>
    <p:sldId id="1484" r:id="rId39"/>
    <p:sldId id="1485" r:id="rId40"/>
    <p:sldId id="1486" r:id="rId41"/>
    <p:sldId id="1487" r:id="rId42"/>
    <p:sldId id="1488" r:id="rId43"/>
    <p:sldId id="1489" r:id="rId44"/>
    <p:sldId id="1479" r:id="rId45"/>
    <p:sldId id="1491" r:id="rId46"/>
    <p:sldId id="1492" r:id="rId47"/>
    <p:sldId id="1493" r:id="rId48"/>
    <p:sldId id="1383" r:id="rId49"/>
  </p:sldIdLst>
  <p:sldSz cx="20104100" cy="11309350"/>
  <p:notesSz cx="20104100" cy="11309350"/>
  <p:embeddedFontLst>
    <p:embeddedFont>
      <p:font typeface="Montserrat" panose="00000500000000000000" pitchFamily="2" charset="0"/>
      <p:regular r:id="rId51"/>
      <p:bold r:id="rId52"/>
      <p:italic r:id="rId53"/>
      <p:boldItalic r:id="rId54"/>
    </p:embeddedFont>
    <p:embeddedFont>
      <p:font typeface="Montserrat ExtraBold" panose="00000900000000000000" pitchFamily="2" charset="0"/>
      <p:bold r:id="rId55"/>
      <p:boldItalic r:id="rId56"/>
    </p:embeddedFont>
    <p:embeddedFont>
      <p:font typeface="Montserrat Light" panose="00000400000000000000" pitchFamily="2" charset="0"/>
      <p:regular r:id="rId57"/>
      <p:italic r:id="rId58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verton Fernando Souza Ribeiro" initials="WFSR [2]" lastIdx="5" clrIdx="0">
    <p:extLst>
      <p:ext uri="{19B8F6BF-5375-455C-9EA6-DF929625EA0E}">
        <p15:presenceInfo xmlns:p15="http://schemas.microsoft.com/office/powerpoint/2012/main" userId="S::weverton.ribeiro@sp.senai.br::98c758d7-d0b8-461f-a4ce-ab5e52e2556b" providerId="AD"/>
      </p:ext>
    </p:extLst>
  </p:cmAuthor>
  <p:cmAuthor id="2" name="Weverton Fernando Souza Ribeiro" initials="WFSR" lastIdx="21" clrIdx="1">
    <p:extLst>
      <p:ext uri="{19B8F6BF-5375-455C-9EA6-DF929625EA0E}">
        <p15:presenceInfo xmlns:p15="http://schemas.microsoft.com/office/powerpoint/2012/main" userId="S-1-5-21-3467313907-1213806960-2174068774-24985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394" autoAdjust="0"/>
  </p:normalViewPr>
  <p:slideViewPr>
    <p:cSldViewPr>
      <p:cViewPr varScale="1">
        <p:scale>
          <a:sx n="38" d="100"/>
          <a:sy n="38" d="100"/>
        </p:scale>
        <p:origin x="804" y="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55" Type="http://schemas.openxmlformats.org/officeDocument/2006/relationships/font" Target="fonts/font5.fntdata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3.fntdata"/><Relationship Id="rId58" Type="http://schemas.openxmlformats.org/officeDocument/2006/relationships/font" Target="fonts/font8.fntdata"/><Relationship Id="rId5" Type="http://schemas.openxmlformats.org/officeDocument/2006/relationships/slide" Target="slides/slide1.xml"/><Relationship Id="rId61" Type="http://schemas.openxmlformats.org/officeDocument/2006/relationships/viewProps" Target="view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font" Target="fonts/font6.fntdata"/><Relationship Id="rId8" Type="http://schemas.openxmlformats.org/officeDocument/2006/relationships/slide" Target="slides/slide4.xml"/><Relationship Id="rId51" Type="http://schemas.openxmlformats.org/officeDocument/2006/relationships/font" Target="fonts/font1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commentAuthors" Target="commentAuthor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4.fntdata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font" Target="fonts/font7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2.fntdata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511300-05A8-42F5-84F5-2A0388843EF7}" type="datetimeFigureOut">
              <a:rPr lang="pt-BR" smtClean="0"/>
              <a:t>24/07/2026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625586-B76B-45BD-812B-997E365A37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264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Agradecimentos paroquiais:</a:t>
            </a:r>
          </a:p>
          <a:p>
            <a:pPr marL="171450" indent="-171450">
              <a:buFontTx/>
              <a:buChar char="-"/>
            </a:pPr>
            <a:r>
              <a:rPr lang="pt-BR" dirty="0"/>
              <a:t>Ao publico</a:t>
            </a:r>
          </a:p>
          <a:p>
            <a:pPr marL="171450" indent="-171450">
              <a:buFontTx/>
              <a:buChar char="-"/>
            </a:pPr>
            <a:r>
              <a:rPr lang="pt-BR" dirty="0"/>
              <a:t>A organização da </a:t>
            </a:r>
            <a:r>
              <a:rPr lang="pt-BR" dirty="0" err="1"/>
              <a:t>Fenasucro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2420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B0C93-8C4D-D342-0751-DFAFFC3A0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AD4DA30-F33C-A2F7-F92A-DB0DDF479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EFC1E1E-52E2-0E7D-856E-315F556A6E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2ECF61-001D-548A-6B73-EF7A0CE53D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7902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9EB18-D916-058E-EADA-B6D3EB096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E85CCC1-3AA3-B2D8-B9FF-8D4924C3EB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10EC8CE-4C3C-10AB-AC05-D5D96FB6B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32404A-876F-B4CD-9738-58FBA1E87C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45308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C70D5-D78B-2AE9-8D97-551E75B4B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89F964E-AC07-B5D0-53A5-3E49E8167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21D073F-637C-67B3-18F2-9BD68E5CF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DE46CA-E8C4-78B3-6C95-FD0CCE109D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68652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67B97-2F35-C755-9483-FA93C8477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25DEDE7-5C61-CB66-ED8B-153E3D37D7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9A7E664-2E11-EC62-4BAB-8E2FE557B5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273EE7A-14B3-98BC-1EC8-00183FB205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51668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00D42-C2FE-3D49-5A4E-7DCCE7D8C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FE784AB-AC25-BB64-8E33-CC971725D1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4D90FBE-1950-3300-2C69-F32B0699A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1F460DF-ED5F-4C60-E56B-FC094A8C0F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05259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8489D-FB49-F7A2-E302-075988D44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FB15743-B70A-1B50-EEA3-4106C0DE6C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B0A0550-2792-D41E-72AB-97F3C1C71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274D301-64B1-0A06-D040-65EBDAC06F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33032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88B1D-366B-4175-CC1F-70BF8E6AE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5B9F202-D839-13D8-09F0-CBDC550F7A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B343D9D-4788-8D75-56EA-D4CCD14417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63CD274-26A0-5F4F-1484-BF58BA109E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2413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FB8A1-E4A7-C215-D4CF-62AF4BCBA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D09D878-5588-7F50-E06C-F86A206820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36921E9-DE7F-DD5D-B49B-6401759BDB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C2A9C68-49A6-A5DD-1BE0-BBE0563928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45725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BBAA7-034E-C30A-046D-0EF4D7559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EBB528F-C7EF-03E7-0967-842C2036F0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86C6822-FDEF-6CD6-9290-6AFFEF1F2D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F4E23DD-0E7B-CFE6-0169-81544B68FC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56557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C65CA-8A95-5777-E06A-DF2FC9B86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B9866C5-3215-8304-F9AD-BDE5A34620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A7C65C1-A0C7-DF66-C174-FBAA21D0ED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AE027C3-E207-5FB4-B86B-3B6C5A5631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4610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E9C67-B34D-079B-EB14-9FCC26B94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EA68411-85D2-B34C-B7EE-6489E3151E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19FE517-6290-1630-BC64-1719983E71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EB5F139-B285-B189-2C0C-D6D629B9C1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69351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D2AD4-A2B4-9C42-C192-1B688F2B8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8E35BF2-A9ED-13B3-E842-1AB3251B9A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6B42E5D-8EE0-5EC8-8417-288A24C468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B258EC9-BFDF-2495-E190-565158DA12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41938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302FC-687F-272C-7AE8-0C64AFB8B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F9A95A3-5841-EB3C-3A9B-06A6C71E30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EA0CD24-ED83-4189-5A11-8323C95B8D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08D6766-145A-51F5-16C9-937EFCA043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83479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DC297-C981-0EE1-372F-0C387FC75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ADE3A1F-FA35-5827-C148-B7E339F4AA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A3AE0D6-6891-16C1-376C-14242FD8CF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784EE89-588C-88BC-5C0A-094C235468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89770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9BDB2-A6A5-5CEE-2714-59F68BAD8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02A8B28-4C41-FDDF-640A-8E84AC9F6B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D6BDC0A-10DB-329E-6394-415B45154B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1C2352F-3185-899F-F715-859F8BF12C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40886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D2320-9E11-F43C-D393-77ED3DE67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3D2AC2E-349A-E4F4-1925-F78220CB5D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A791935-AB7F-0E47-6B60-0F3638F50B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1897171-5135-CCE5-D519-A674A1BC3F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17999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3F832-4EA8-CF64-8C41-D5FAEA16D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04D5432-239E-08B2-C197-006D308959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574FE9B-EC14-9C3B-20CC-F2E409E582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5F28619-FA13-28B9-B67A-70181E8AF0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86990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22252-D28B-E280-FFE0-3AA3D38D0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70486AD-572F-C063-480E-2535CF9323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2F2D52E-E1C6-C8AE-2F72-6EB51F83F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2E734D8-400F-BD29-49A1-7E0531BCFA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03565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76814-5517-61B7-E95F-AAECAC4AE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8F3ED1D-EBA1-D9DC-9A35-4DDAA78AAF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61080D1-1BB4-0743-FD99-68D14B32B7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72704F-0A83-84FE-D83B-A7C6A15D39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70456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2A7C0-FDE8-FCE6-A1B8-28593E879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8C17222-2D37-9BF9-8984-62A1866F30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D78E5A9-9162-7E46-2E12-9DDD198D19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2F20E4A-AC97-6BA7-11A2-DF2DB033BE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33915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98120-5D81-8B66-8063-3F571008D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D768488-8BC0-BAF0-3F2B-08CF2653DD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B218D93-82CA-3744-D304-E3BA3CB64A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E937E8E-7FCA-4638-149F-45FC7B051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21120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92524-9B8E-F4AE-70A1-537FC4F1F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2E29294-7B16-B41A-9AD9-3F74FB6E14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AF8E951-7669-130C-0A4C-53D09BA66C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F637583-0E11-49EE-BF73-0F67941264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57842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D3F72-BD2C-7833-A759-E4F7D82B4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B347061-4864-C9C9-8F14-3229B27E41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9037810-18DE-60B7-C236-0C7E3D0BC8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35C77D7-6155-BDF8-AE88-35F74755B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71480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9DE79-3E8B-0FBF-830C-C9BEC503F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55C4BB8-82D6-C17F-DC3D-4C031FA1C4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CB38368-69D4-DC2A-F71E-76FCFEE4F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ED5109B-0F87-28CF-AB16-6E845DCEF2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4086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85550-131E-224B-625A-87B36A6DB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8757F3C-39AF-7595-8336-F3F01B86C0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E97237F-6A4A-969C-0ED2-BBBF50AFA0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8540991-DF41-BF91-0F31-BD991923A8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354939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96185-F09B-E50F-E014-8A55CB575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7C35688-BD9B-5006-8065-60BBC4671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9F5A6FC-822A-79BC-4CDD-7213FAF337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8BE9BDB-8039-2982-D77F-E3FE33C590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84850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1FAC5-B7A0-1256-8796-25C86F28F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18A5B4F-13D4-A013-D2B2-04713372F0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521234A-C840-A587-32BF-27682A481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EEA0229-4080-65C0-767A-881BC4F8A0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64894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9E301-3964-C9A8-75E0-6E1C6A722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31F5659-01E6-30B1-A4D3-6555C13BEF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F5B11D9-2014-C2EE-801A-F39931B0F5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3B39293-BDDD-5D9E-0DA2-2C4C2DF2F3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04449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D00BD-0318-577B-5902-F77A068FE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2152998-EFA5-C7F4-1B73-22ACA42760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E5C5C0D-345B-D63B-57EC-1358B93A1F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D9B7E8F-27A8-2FFB-8189-AA620E145C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200228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080E4-7AEB-625E-EF1A-A31B0AFC0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BCDB7E6-77AB-98A7-0C54-D96BEC60E5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DEBD998-D1A8-8C3D-610D-1A8F598CDA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F430CB0-94B0-C3E1-B1FC-8CE8E934D3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458876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56FC3-0168-0487-FC3C-4CD36FF3C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C01AF80-7C64-40D3-6CC5-688E1A1F79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F772AC2-5693-C340-38FC-9C17E37186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AC8B87D-CAA9-B69B-D4DF-DA93DDEB38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186666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0F899-7FE2-6C88-28BE-EFE67ADEE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408E8A5-4E4E-3683-EF4F-A244DD7DB7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9417C9A-1029-A571-7DC6-DE1ECCAB50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BE4FFAE-8957-8056-3B1C-A727C4FE2E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072910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C1FB3-4C05-1083-C887-E51304A0D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2E5311D-AD3F-86DE-0020-9A5A7027EA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A0B2F58-BF0E-C994-8D9F-F537DAB3D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3D077FB-FCD0-F0C4-A993-C27F0668D0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092612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0D00D-53AF-5BA5-94FD-A53D3E541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E1EE827-33EE-7684-1D3C-C9D336EDD0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AD71151-8D20-9A74-CDC7-EDDB8D24EE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96A9951-A4BB-5FF2-68E3-20D6D0724C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665655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DF300-36ED-3276-3C10-CC2C67CBE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F51B710-0ED9-7C20-B545-FD4BBBD06D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178CC11-4936-C48B-8D8C-B9C2805CA6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7B5009E-E72D-3CF1-E1E6-7011E27E9F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3748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52E38-6764-56CB-5A6C-02F4B1D80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06C1AE5-AA25-29ED-F25E-9F71FD902F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46134D0-A1D2-B364-16F7-B46679913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B33A69E-0E7F-CE39-10F0-C8FE6BE9A7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434798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920C5-5ADE-C27A-0A1A-B8DF902E4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5626E17-4428-D294-58D0-1F89059679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A4EC079-2C98-A38B-754D-16A0C8B0ED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EBCFD64-33EC-720C-00D8-6B5759C705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600589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17CA4-DEF3-753A-5BDB-FBD6CE3A7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0839C4D-45B8-3193-19F4-D1F1568A57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2B08A6B-611E-AB4F-3664-7013897F37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F6081D-E646-C880-4708-C993985CA8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219475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32EA6-E980-8B2D-3925-ED0CC70E5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2A964F0-EFD9-B2ED-A029-37D633E5C9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27F1EB9-F253-B656-298E-2250F4A214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372265E-F88D-AA3C-ADF9-0812067BD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40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181429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9A119-C398-E72D-C1DF-523072C9B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D275E81-E825-39FF-1DF4-3BD3A31603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F7BA4C7-09CF-5F03-A864-B38A25F8C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C2CD4C7-5966-082B-9EE1-11BBBC12FB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891816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DA739-2B8A-2F49-3183-F2B0FE2C1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881B298-D79F-39BF-935A-7C2FDF2F09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2098767-9526-0CE9-2CDC-4137F26C72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03DCBF5-AB80-5963-D938-37067A7828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42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434102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ADB78-3414-C485-D870-1D33D1473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8E5F9A4-A9A0-EC55-4D46-492CB38DC2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3BBDF92-AEEE-D9DB-BAE3-6842EFBC43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1722F03-6839-5B18-9C59-20352FB1F4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43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223562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4F7A0-444E-0EE5-A2CA-9E488D30A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48BBEF1-0DB1-3660-D96B-1288984FD6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D172228-F241-5142-8E77-17D6F26D6F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3684826-A629-7DC5-B658-D8256ADEA3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44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276911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52EFB-EDEE-3B16-E36E-574FD6946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9A819D2-E95F-C169-504B-27710A7F8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D43577B-6B26-D3E0-57EF-BD0B7EF28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16045AF-A5AB-3CC4-7E80-4E881D1B11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45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0162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052050" y="0"/>
            <a:ext cx="10052050" cy="11151870"/>
          </a:xfrm>
          <a:custGeom>
            <a:avLst/>
            <a:gdLst/>
            <a:ahLst/>
            <a:cxnLst/>
            <a:rect l="l" t="t" r="r" b="b"/>
            <a:pathLst>
              <a:path w="10052050" h="11151870">
                <a:moveTo>
                  <a:pt x="0" y="11151492"/>
                </a:moveTo>
                <a:lnTo>
                  <a:pt x="10052039" y="11151492"/>
                </a:lnTo>
                <a:lnTo>
                  <a:pt x="1005203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47151" y="9319087"/>
            <a:ext cx="3693160" cy="942975"/>
          </a:xfrm>
          <a:custGeom>
            <a:avLst/>
            <a:gdLst/>
            <a:ahLst/>
            <a:cxnLst/>
            <a:rect l="l" t="t" r="r" b="b"/>
            <a:pathLst>
              <a:path w="3693160" h="942975">
                <a:moveTo>
                  <a:pt x="3692945" y="0"/>
                </a:moveTo>
                <a:lnTo>
                  <a:pt x="0" y="0"/>
                </a:lnTo>
                <a:lnTo>
                  <a:pt x="0" y="942379"/>
                </a:lnTo>
                <a:lnTo>
                  <a:pt x="3692945" y="942379"/>
                </a:lnTo>
                <a:lnTo>
                  <a:pt x="3692945" y="0"/>
                </a:lnTo>
                <a:close/>
              </a:path>
            </a:pathLst>
          </a:custGeom>
          <a:solidFill>
            <a:srgbClr val="E210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47076" y="9439611"/>
            <a:ext cx="3693160" cy="700405"/>
          </a:xfrm>
          <a:custGeom>
            <a:avLst/>
            <a:gdLst/>
            <a:ahLst/>
            <a:cxnLst/>
            <a:rect l="l" t="t" r="r" b="b"/>
            <a:pathLst>
              <a:path w="3693160" h="700404">
                <a:moveTo>
                  <a:pt x="198361" y="660984"/>
                </a:moveTo>
                <a:lnTo>
                  <a:pt x="0" y="660984"/>
                </a:lnTo>
                <a:lnTo>
                  <a:pt x="0" y="685812"/>
                </a:lnTo>
                <a:lnTo>
                  <a:pt x="198361" y="685812"/>
                </a:lnTo>
                <a:lnTo>
                  <a:pt x="198361" y="660984"/>
                </a:lnTo>
                <a:close/>
              </a:path>
              <a:path w="3693160" h="700404">
                <a:moveTo>
                  <a:pt x="198361" y="502246"/>
                </a:moveTo>
                <a:lnTo>
                  <a:pt x="0" y="502246"/>
                </a:lnTo>
                <a:lnTo>
                  <a:pt x="0" y="527050"/>
                </a:lnTo>
                <a:lnTo>
                  <a:pt x="198361" y="527050"/>
                </a:lnTo>
                <a:lnTo>
                  <a:pt x="198361" y="502246"/>
                </a:lnTo>
                <a:close/>
              </a:path>
              <a:path w="3693160" h="700404">
                <a:moveTo>
                  <a:pt x="198361" y="337553"/>
                </a:moveTo>
                <a:lnTo>
                  <a:pt x="0" y="337553"/>
                </a:lnTo>
                <a:lnTo>
                  <a:pt x="0" y="362356"/>
                </a:lnTo>
                <a:lnTo>
                  <a:pt x="198361" y="362356"/>
                </a:lnTo>
                <a:lnTo>
                  <a:pt x="198361" y="337553"/>
                </a:lnTo>
                <a:close/>
              </a:path>
              <a:path w="3693160" h="700404">
                <a:moveTo>
                  <a:pt x="198361" y="175056"/>
                </a:moveTo>
                <a:lnTo>
                  <a:pt x="0" y="175056"/>
                </a:lnTo>
                <a:lnTo>
                  <a:pt x="0" y="199898"/>
                </a:lnTo>
                <a:lnTo>
                  <a:pt x="198361" y="199898"/>
                </a:lnTo>
                <a:lnTo>
                  <a:pt x="198361" y="175056"/>
                </a:lnTo>
                <a:close/>
              </a:path>
              <a:path w="3693160" h="700404">
                <a:moveTo>
                  <a:pt x="198361" y="16802"/>
                </a:moveTo>
                <a:lnTo>
                  <a:pt x="0" y="16802"/>
                </a:lnTo>
                <a:lnTo>
                  <a:pt x="0" y="41592"/>
                </a:lnTo>
                <a:lnTo>
                  <a:pt x="198361" y="41592"/>
                </a:lnTo>
                <a:lnTo>
                  <a:pt x="198361" y="16802"/>
                </a:lnTo>
                <a:close/>
              </a:path>
              <a:path w="3693160" h="700404">
                <a:moveTo>
                  <a:pt x="908532" y="161366"/>
                </a:moveTo>
                <a:lnTo>
                  <a:pt x="905624" y="119291"/>
                </a:lnTo>
                <a:lnTo>
                  <a:pt x="870216" y="56515"/>
                </a:lnTo>
                <a:lnTo>
                  <a:pt x="804735" y="18783"/>
                </a:lnTo>
                <a:lnTo>
                  <a:pt x="764209" y="8001"/>
                </a:lnTo>
                <a:lnTo>
                  <a:pt x="720382" y="1917"/>
                </a:lnTo>
                <a:lnTo>
                  <a:pt x="674649" y="0"/>
                </a:lnTo>
                <a:lnTo>
                  <a:pt x="627659" y="1714"/>
                </a:lnTo>
                <a:lnTo>
                  <a:pt x="580986" y="7264"/>
                </a:lnTo>
                <a:lnTo>
                  <a:pt x="535622" y="17233"/>
                </a:lnTo>
                <a:lnTo>
                  <a:pt x="492493" y="32219"/>
                </a:lnTo>
                <a:lnTo>
                  <a:pt x="452564" y="52793"/>
                </a:lnTo>
                <a:lnTo>
                  <a:pt x="416788" y="79565"/>
                </a:lnTo>
                <a:lnTo>
                  <a:pt x="386118" y="113106"/>
                </a:lnTo>
                <a:lnTo>
                  <a:pt x="361518" y="154025"/>
                </a:lnTo>
                <a:lnTo>
                  <a:pt x="343941" y="202895"/>
                </a:lnTo>
                <a:lnTo>
                  <a:pt x="339204" y="254914"/>
                </a:lnTo>
                <a:lnTo>
                  <a:pt x="348361" y="300837"/>
                </a:lnTo>
                <a:lnTo>
                  <a:pt x="371944" y="338747"/>
                </a:lnTo>
                <a:lnTo>
                  <a:pt x="410476" y="366712"/>
                </a:lnTo>
                <a:lnTo>
                  <a:pt x="460273" y="387235"/>
                </a:lnTo>
                <a:lnTo>
                  <a:pt x="508939" y="402196"/>
                </a:lnTo>
                <a:lnTo>
                  <a:pt x="594944" y="424522"/>
                </a:lnTo>
                <a:lnTo>
                  <a:pt x="628256" y="436435"/>
                </a:lnTo>
                <a:lnTo>
                  <a:pt x="652462" y="451904"/>
                </a:lnTo>
                <a:lnTo>
                  <a:pt x="665543" y="473189"/>
                </a:lnTo>
                <a:lnTo>
                  <a:pt x="665505" y="502577"/>
                </a:lnTo>
                <a:lnTo>
                  <a:pt x="650049" y="531901"/>
                </a:lnTo>
                <a:lnTo>
                  <a:pt x="622071" y="552831"/>
                </a:lnTo>
                <a:lnTo>
                  <a:pt x="587806" y="565391"/>
                </a:lnTo>
                <a:lnTo>
                  <a:pt x="553504" y="569569"/>
                </a:lnTo>
                <a:lnTo>
                  <a:pt x="508876" y="563206"/>
                </a:lnTo>
                <a:lnTo>
                  <a:pt x="477113" y="544449"/>
                </a:lnTo>
                <a:lnTo>
                  <a:pt x="460578" y="513829"/>
                </a:lnTo>
                <a:lnTo>
                  <a:pt x="461683" y="471868"/>
                </a:lnTo>
                <a:lnTo>
                  <a:pt x="275539" y="471868"/>
                </a:lnTo>
                <a:lnTo>
                  <a:pt x="269443" y="527735"/>
                </a:lnTo>
                <a:lnTo>
                  <a:pt x="274370" y="574230"/>
                </a:lnTo>
                <a:lnTo>
                  <a:pt x="289229" y="612101"/>
                </a:lnTo>
                <a:lnTo>
                  <a:pt x="312877" y="642086"/>
                </a:lnTo>
                <a:lnTo>
                  <a:pt x="344220" y="664946"/>
                </a:lnTo>
                <a:lnTo>
                  <a:pt x="382117" y="681431"/>
                </a:lnTo>
                <a:lnTo>
                  <a:pt x="425475" y="692277"/>
                </a:lnTo>
                <a:lnTo>
                  <a:pt x="473151" y="698233"/>
                </a:lnTo>
                <a:lnTo>
                  <a:pt x="524052" y="700049"/>
                </a:lnTo>
                <a:lnTo>
                  <a:pt x="575627" y="697547"/>
                </a:lnTo>
                <a:lnTo>
                  <a:pt x="626084" y="690016"/>
                </a:lnTo>
                <a:lnTo>
                  <a:pt x="674420" y="677392"/>
                </a:lnTo>
                <a:lnTo>
                  <a:pt x="719620" y="659612"/>
                </a:lnTo>
                <a:lnTo>
                  <a:pt x="760679" y="636625"/>
                </a:lnTo>
                <a:lnTo>
                  <a:pt x="796582" y="608368"/>
                </a:lnTo>
                <a:lnTo>
                  <a:pt x="826350" y="574789"/>
                </a:lnTo>
                <a:lnTo>
                  <a:pt x="829373" y="569569"/>
                </a:lnTo>
                <a:lnTo>
                  <a:pt x="848956" y="535825"/>
                </a:lnTo>
                <a:lnTo>
                  <a:pt x="863409" y="491413"/>
                </a:lnTo>
                <a:lnTo>
                  <a:pt x="869188" y="436968"/>
                </a:lnTo>
                <a:lnTo>
                  <a:pt x="862253" y="393585"/>
                </a:lnTo>
                <a:lnTo>
                  <a:pt x="844715" y="359727"/>
                </a:lnTo>
                <a:lnTo>
                  <a:pt x="786193" y="314401"/>
                </a:lnTo>
                <a:lnTo>
                  <a:pt x="749401" y="299821"/>
                </a:lnTo>
                <a:lnTo>
                  <a:pt x="710374" y="288569"/>
                </a:lnTo>
                <a:lnTo>
                  <a:pt x="634009" y="269887"/>
                </a:lnTo>
                <a:lnTo>
                  <a:pt x="598487" y="259118"/>
                </a:lnTo>
                <a:lnTo>
                  <a:pt x="566508" y="244424"/>
                </a:lnTo>
                <a:lnTo>
                  <a:pt x="545211" y="222923"/>
                </a:lnTo>
                <a:lnTo>
                  <a:pt x="541718" y="191719"/>
                </a:lnTo>
                <a:lnTo>
                  <a:pt x="553250" y="167982"/>
                </a:lnTo>
                <a:lnTo>
                  <a:pt x="574865" y="148437"/>
                </a:lnTo>
                <a:lnTo>
                  <a:pt x="603186" y="135178"/>
                </a:lnTo>
                <a:lnTo>
                  <a:pt x="634784" y="130302"/>
                </a:lnTo>
                <a:lnTo>
                  <a:pt x="656831" y="131686"/>
                </a:lnTo>
                <a:lnTo>
                  <a:pt x="701929" y="151726"/>
                </a:lnTo>
                <a:lnTo>
                  <a:pt x="716407" y="192938"/>
                </a:lnTo>
                <a:lnTo>
                  <a:pt x="713600" y="211264"/>
                </a:lnTo>
                <a:lnTo>
                  <a:pt x="899718" y="211264"/>
                </a:lnTo>
                <a:lnTo>
                  <a:pt x="908532" y="161366"/>
                </a:lnTo>
                <a:close/>
              </a:path>
              <a:path w="3693160" h="700404">
                <a:moveTo>
                  <a:pt x="1580984" y="13944"/>
                </a:moveTo>
                <a:lnTo>
                  <a:pt x="1069111" y="13944"/>
                </a:lnTo>
                <a:lnTo>
                  <a:pt x="926261" y="685939"/>
                </a:lnTo>
                <a:lnTo>
                  <a:pt x="1438148" y="685939"/>
                </a:lnTo>
                <a:lnTo>
                  <a:pt x="1465910" y="555612"/>
                </a:lnTo>
                <a:lnTo>
                  <a:pt x="1140142" y="555612"/>
                </a:lnTo>
                <a:lnTo>
                  <a:pt x="1170393" y="413207"/>
                </a:lnTo>
                <a:lnTo>
                  <a:pt x="1470088" y="413207"/>
                </a:lnTo>
                <a:lnTo>
                  <a:pt x="1497685" y="282968"/>
                </a:lnTo>
                <a:lnTo>
                  <a:pt x="1198003" y="282968"/>
                </a:lnTo>
                <a:lnTo>
                  <a:pt x="1227467" y="144246"/>
                </a:lnTo>
                <a:lnTo>
                  <a:pt x="1553235" y="144246"/>
                </a:lnTo>
                <a:lnTo>
                  <a:pt x="1580984" y="13944"/>
                </a:lnTo>
                <a:close/>
              </a:path>
              <a:path w="3693160" h="700404">
                <a:moveTo>
                  <a:pt x="2341372" y="13944"/>
                </a:moveTo>
                <a:lnTo>
                  <a:pt x="2173846" y="13944"/>
                </a:lnTo>
                <a:lnTo>
                  <a:pt x="2067737" y="512787"/>
                </a:lnTo>
                <a:lnTo>
                  <a:pt x="2065578" y="514692"/>
                </a:lnTo>
                <a:lnTo>
                  <a:pt x="1984082" y="171284"/>
                </a:lnTo>
                <a:lnTo>
                  <a:pt x="1946744" y="13944"/>
                </a:lnTo>
                <a:lnTo>
                  <a:pt x="1686153" y="13944"/>
                </a:lnTo>
                <a:lnTo>
                  <a:pt x="1543291" y="685939"/>
                </a:lnTo>
                <a:lnTo>
                  <a:pt x="1710829" y="685939"/>
                </a:lnTo>
                <a:lnTo>
                  <a:pt x="1820202" y="171284"/>
                </a:lnTo>
                <a:lnTo>
                  <a:pt x="1822056" y="171284"/>
                </a:lnTo>
                <a:lnTo>
                  <a:pt x="1940699" y="685939"/>
                </a:lnTo>
                <a:lnTo>
                  <a:pt x="2198522" y="685939"/>
                </a:lnTo>
                <a:lnTo>
                  <a:pt x="2234920" y="514692"/>
                </a:lnTo>
                <a:lnTo>
                  <a:pt x="2341372" y="13944"/>
                </a:lnTo>
                <a:close/>
              </a:path>
              <a:path w="3693160" h="700404">
                <a:moveTo>
                  <a:pt x="3024975" y="685939"/>
                </a:moveTo>
                <a:lnTo>
                  <a:pt x="3001073" y="554697"/>
                </a:lnTo>
                <a:lnTo>
                  <a:pt x="2977350" y="424408"/>
                </a:lnTo>
                <a:lnTo>
                  <a:pt x="2926486" y="145161"/>
                </a:lnTo>
                <a:lnTo>
                  <a:pt x="2902585" y="13944"/>
                </a:lnTo>
                <a:lnTo>
                  <a:pt x="2779890" y="13944"/>
                </a:lnTo>
                <a:lnTo>
                  <a:pt x="2779890" y="424408"/>
                </a:lnTo>
                <a:lnTo>
                  <a:pt x="2600274" y="424408"/>
                </a:lnTo>
                <a:lnTo>
                  <a:pt x="2750870" y="145161"/>
                </a:lnTo>
                <a:lnTo>
                  <a:pt x="2753652" y="145161"/>
                </a:lnTo>
                <a:lnTo>
                  <a:pt x="2779890" y="424408"/>
                </a:lnTo>
                <a:lnTo>
                  <a:pt x="2779890" y="13944"/>
                </a:lnTo>
                <a:lnTo>
                  <a:pt x="2675496" y="13944"/>
                </a:lnTo>
                <a:lnTo>
                  <a:pt x="2267356" y="685939"/>
                </a:lnTo>
                <a:lnTo>
                  <a:pt x="2453525" y="685939"/>
                </a:lnTo>
                <a:lnTo>
                  <a:pt x="2525179" y="554697"/>
                </a:lnTo>
                <a:lnTo>
                  <a:pt x="2797886" y="554697"/>
                </a:lnTo>
                <a:lnTo>
                  <a:pt x="2814637" y="685939"/>
                </a:lnTo>
                <a:lnTo>
                  <a:pt x="3024975" y="685939"/>
                </a:lnTo>
                <a:close/>
              </a:path>
              <a:path w="3693160" h="700404">
                <a:moveTo>
                  <a:pt x="3424682" y="13944"/>
                </a:moveTo>
                <a:lnTo>
                  <a:pt x="3238550" y="13944"/>
                </a:lnTo>
                <a:lnTo>
                  <a:pt x="3095675" y="685939"/>
                </a:lnTo>
                <a:lnTo>
                  <a:pt x="3281845" y="685939"/>
                </a:lnTo>
                <a:lnTo>
                  <a:pt x="3424682" y="13944"/>
                </a:lnTo>
                <a:close/>
              </a:path>
              <a:path w="3693160" h="700404">
                <a:moveTo>
                  <a:pt x="3692931" y="660984"/>
                </a:moveTo>
                <a:lnTo>
                  <a:pt x="3494582" y="660984"/>
                </a:lnTo>
                <a:lnTo>
                  <a:pt x="3494582" y="685812"/>
                </a:lnTo>
                <a:lnTo>
                  <a:pt x="3692931" y="685812"/>
                </a:lnTo>
                <a:lnTo>
                  <a:pt x="3692931" y="660984"/>
                </a:lnTo>
                <a:close/>
              </a:path>
              <a:path w="3693160" h="700404">
                <a:moveTo>
                  <a:pt x="3692931" y="502246"/>
                </a:moveTo>
                <a:lnTo>
                  <a:pt x="3494582" y="502246"/>
                </a:lnTo>
                <a:lnTo>
                  <a:pt x="3494582" y="527050"/>
                </a:lnTo>
                <a:lnTo>
                  <a:pt x="3692931" y="527050"/>
                </a:lnTo>
                <a:lnTo>
                  <a:pt x="3692931" y="502246"/>
                </a:lnTo>
                <a:close/>
              </a:path>
              <a:path w="3693160" h="700404">
                <a:moveTo>
                  <a:pt x="3692931" y="337553"/>
                </a:moveTo>
                <a:lnTo>
                  <a:pt x="3494582" y="337553"/>
                </a:lnTo>
                <a:lnTo>
                  <a:pt x="3494582" y="362356"/>
                </a:lnTo>
                <a:lnTo>
                  <a:pt x="3692931" y="362356"/>
                </a:lnTo>
                <a:lnTo>
                  <a:pt x="3692931" y="337553"/>
                </a:lnTo>
                <a:close/>
              </a:path>
              <a:path w="3693160" h="700404">
                <a:moveTo>
                  <a:pt x="3692931" y="175056"/>
                </a:moveTo>
                <a:lnTo>
                  <a:pt x="3494582" y="175056"/>
                </a:lnTo>
                <a:lnTo>
                  <a:pt x="3494582" y="199898"/>
                </a:lnTo>
                <a:lnTo>
                  <a:pt x="3692931" y="199898"/>
                </a:lnTo>
                <a:lnTo>
                  <a:pt x="3692931" y="175056"/>
                </a:lnTo>
                <a:close/>
              </a:path>
              <a:path w="3693160" h="700404">
                <a:moveTo>
                  <a:pt x="3692931" y="16802"/>
                </a:moveTo>
                <a:lnTo>
                  <a:pt x="3494582" y="16802"/>
                </a:lnTo>
                <a:lnTo>
                  <a:pt x="3494582" y="41592"/>
                </a:lnTo>
                <a:lnTo>
                  <a:pt x="3692931" y="41592"/>
                </a:lnTo>
                <a:lnTo>
                  <a:pt x="3692931" y="1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1057130"/>
            <a:ext cx="3245974" cy="272241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4303094"/>
            <a:ext cx="3245974" cy="272243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7549068"/>
            <a:ext cx="3245974" cy="272243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0104100" cy="11309350"/>
          </a:xfrm>
          <a:prstGeom prst="rect">
            <a:avLst/>
          </a:prstGeom>
        </p:spPr>
      </p:pic>
      <p:sp>
        <p:nvSpPr>
          <p:cNvPr id="6" name="Espaço Reservado para Texto 14">
            <a:extLst>
              <a:ext uri="{FF2B5EF4-FFF2-40B4-BE49-F238E27FC236}">
                <a16:creationId xmlns:a16="http://schemas.microsoft.com/office/drawing/2014/main" id="{741322F5-93ED-4D68-A8FF-9359DF6E75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45099" y="448220"/>
            <a:ext cx="15513191" cy="1116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256" b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defRPr>
            </a:lvl1pPr>
            <a:lvl2pPr>
              <a:defRPr sz="5277"/>
            </a:lvl2pPr>
            <a:lvl3pPr>
              <a:defRPr sz="4617"/>
            </a:lvl3pPr>
            <a:lvl4pPr>
              <a:defRPr sz="3958"/>
            </a:lvl4pPr>
            <a:lvl5pPr>
              <a:defRPr sz="3958"/>
            </a:lvl5pPr>
          </a:lstStyle>
          <a:p>
            <a:pPr lvl="0"/>
            <a:r>
              <a:rPr lang="pt-BR"/>
              <a:t>Digitar seu título aqui</a:t>
            </a:r>
          </a:p>
        </p:txBody>
      </p:sp>
      <p:sp>
        <p:nvSpPr>
          <p:cNvPr id="7" name="Espaço Reservado para Texto 16">
            <a:extLst>
              <a:ext uri="{FF2B5EF4-FFF2-40B4-BE49-F238E27FC236}">
                <a16:creationId xmlns:a16="http://schemas.microsoft.com/office/drawing/2014/main" id="{2B77ECB5-455F-48E1-AC6C-CB94B5AD6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43929" y="2063797"/>
            <a:ext cx="15514360" cy="507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98" b="1">
                <a:solidFill>
                  <a:srgbClr val="E51E3C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/>
              <a:t>Digitar seu subtítulo aqui</a:t>
            </a:r>
          </a:p>
        </p:txBody>
      </p:sp>
      <p:sp>
        <p:nvSpPr>
          <p:cNvPr id="8" name="Espaço Reservado para Texto 18">
            <a:extLst>
              <a:ext uri="{FF2B5EF4-FFF2-40B4-BE49-F238E27FC236}">
                <a16:creationId xmlns:a16="http://schemas.microsoft.com/office/drawing/2014/main" id="{94A25BC8-06B9-4702-900E-C725EC8984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43930" y="3105603"/>
            <a:ext cx="14341622" cy="1872116"/>
          </a:xfrm>
          <a:prstGeom prst="rect">
            <a:avLst/>
          </a:prstGeom>
        </p:spPr>
        <p:txBody>
          <a:bodyPr/>
          <a:lstStyle>
            <a:lvl1pPr marL="0" marR="0" indent="0" algn="l" defTabSz="1507846" rtl="0" eaLnBrk="1" fontAlgn="auto" latinLnBrk="0" hangingPunct="1">
              <a:lnSpc>
                <a:spcPct val="90000"/>
              </a:lnSpc>
              <a:spcBef>
                <a:spcPts val="164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958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At vero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eos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et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accusamus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et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iusto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odio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dignissimos</a:t>
            </a:r>
            <a:endParaRPr lang="pt-BR" sz="3298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77"/>
            </a:endParaRPr>
          </a:p>
          <a:p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praesentium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voluptatum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deleniti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atque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.</a:t>
            </a:r>
          </a:p>
          <a:p>
            <a:pPr lvl="0"/>
            <a:r>
              <a:rPr lang="pt-BR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42902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45691" y="1020182"/>
            <a:ext cx="15812717" cy="3010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6861" y="2375171"/>
            <a:ext cx="10305415" cy="5227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gi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6" y="398"/>
            <a:ext cx="20102688" cy="11307763"/>
          </a:xfrm>
          <a:prstGeom prst="rect">
            <a:avLst/>
          </a:prstGeom>
        </p:spPr>
      </p:pic>
      <p:sp>
        <p:nvSpPr>
          <p:cNvPr id="12" name="object 10">
            <a:extLst>
              <a:ext uri="{FF2B5EF4-FFF2-40B4-BE49-F238E27FC236}">
                <a16:creationId xmlns:a16="http://schemas.microsoft.com/office/drawing/2014/main" id="{4D48E881-58D3-4B18-B397-6971EA7E7E23}"/>
              </a:ext>
            </a:extLst>
          </p:cNvPr>
          <p:cNvSpPr/>
          <p:nvPr/>
        </p:nvSpPr>
        <p:spPr>
          <a:xfrm>
            <a:off x="706" y="11131431"/>
            <a:ext cx="20102688" cy="162044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pPr defTabSz="1507846"/>
            <a:endParaRPr sz="180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299A9214-8828-4B4B-9941-B4CFBF09BDD0}"/>
              </a:ext>
            </a:extLst>
          </p:cNvPr>
          <p:cNvSpPr txBox="1">
            <a:spLocks/>
          </p:cNvSpPr>
          <p:nvPr/>
        </p:nvSpPr>
        <p:spPr>
          <a:xfrm>
            <a:off x="8884870" y="2759075"/>
            <a:ext cx="9994802" cy="2044148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699" defTabSz="1507846">
              <a:spcBef>
                <a:spcPts val="101"/>
              </a:spcBef>
            </a:pPr>
            <a:r>
              <a:rPr lang="pt-BR" sz="6600" b="1" i="1" kern="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CAI – Auxiliar de linha de produção</a:t>
            </a: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9DB5E0E8-CC40-4125-A2AE-B830D0D73C7D}"/>
              </a:ext>
            </a:extLst>
          </p:cNvPr>
          <p:cNvSpPr/>
          <p:nvPr/>
        </p:nvSpPr>
        <p:spPr>
          <a:xfrm>
            <a:off x="8017902" y="2454275"/>
            <a:ext cx="0" cy="3087979"/>
          </a:xfrm>
          <a:custGeom>
            <a:avLst/>
            <a:gdLst/>
            <a:ahLst/>
            <a:cxnLst/>
            <a:rect l="l" t="t" r="r" b="b"/>
            <a:pathLst>
              <a:path h="3001009">
                <a:moveTo>
                  <a:pt x="0" y="3000400"/>
                </a:moveTo>
                <a:lnTo>
                  <a:pt x="0" y="0"/>
                </a:lnTo>
              </a:path>
            </a:pathLst>
          </a:custGeom>
          <a:ln w="2783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1507846"/>
            <a:endParaRPr sz="1801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3" name="object 3">
            <a:extLst>
              <a:ext uri="{FF2B5EF4-FFF2-40B4-BE49-F238E27FC236}">
                <a16:creationId xmlns:a16="http://schemas.microsoft.com/office/drawing/2014/main" id="{F6A5027A-E215-4339-A81A-70A4E1B2C71F}"/>
              </a:ext>
            </a:extLst>
          </p:cNvPr>
          <p:cNvGrpSpPr/>
          <p:nvPr/>
        </p:nvGrpSpPr>
        <p:grpSpPr>
          <a:xfrm>
            <a:off x="2243795" y="3261247"/>
            <a:ext cx="4357813" cy="1145007"/>
            <a:chOff x="15364003" y="1047088"/>
            <a:chExt cx="3693160" cy="94297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35C6579F-DD30-4CD7-8A2C-1FFFDBA4E0E6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pPr defTabSz="1507846"/>
              <a:endParaRPr sz="1801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CD579FB6-1ED6-4812-81D3-EB30E18FC70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507846"/>
              <a:endParaRPr sz="1801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8A258380-2930-47F4-ACEA-A6BA1F6CA553}"/>
              </a:ext>
            </a:extLst>
          </p:cNvPr>
          <p:cNvGrpSpPr/>
          <p:nvPr/>
        </p:nvGrpSpPr>
        <p:grpSpPr>
          <a:xfrm>
            <a:off x="9201247" y="6873875"/>
            <a:ext cx="9994803" cy="2033890"/>
            <a:chOff x="9201247" y="6873875"/>
            <a:chExt cx="9994803" cy="2033890"/>
          </a:xfrm>
        </p:grpSpPr>
        <p:sp>
          <p:nvSpPr>
            <p:cNvPr id="17" name="object 6">
              <a:extLst>
                <a:ext uri="{FF2B5EF4-FFF2-40B4-BE49-F238E27FC236}">
                  <a16:creationId xmlns:a16="http://schemas.microsoft.com/office/drawing/2014/main" id="{2F76E57F-4516-44C1-B269-693C768D9ADE}"/>
                </a:ext>
              </a:extLst>
            </p:cNvPr>
            <p:cNvSpPr txBox="1">
              <a:spLocks/>
            </p:cNvSpPr>
            <p:nvPr/>
          </p:nvSpPr>
          <p:spPr>
            <a:xfrm>
              <a:off x="9201247" y="6873875"/>
              <a:ext cx="9994803" cy="2033890"/>
            </a:xfrm>
            <a:prstGeom prst="rect">
              <a:avLst/>
            </a:prstGeom>
            <a:solidFill>
              <a:srgbClr val="C00000"/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endParaRPr lang="pt-BR" sz="1600" b="1" kern="0" spc="-25" dirty="0">
                <a:solidFill>
                  <a:srgbClr val="C00000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3600" b="1" kern="0" spc="-25" dirty="0">
                  <a:solidFill>
                    <a:srgbClr val="C00000"/>
                  </a:solidFill>
                  <a:latin typeface="Montserrat ExtraBold" panose="020B0604020202020204" charset="0"/>
                </a:rPr>
                <a:t>FENASUCRO 2022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b="1" kern="0" spc="-25" dirty="0">
                  <a:solidFill>
                    <a:srgbClr val="C00000"/>
                  </a:solidFill>
                  <a:latin typeface="Montserrat ExtraBold" panose="020B0604020202020204" charset="0"/>
                </a:rPr>
                <a:t>Auditório ...</a:t>
              </a:r>
            </a:p>
            <a:p>
              <a:pPr marL="12700" algn="r">
                <a:spcBef>
                  <a:spcPts val="100"/>
                </a:spcBef>
              </a:pPr>
              <a:endParaRPr lang="pt-BR" sz="2400" i="1" kern="0" spc="-25" dirty="0">
                <a:solidFill>
                  <a:srgbClr val="C00000"/>
                </a:solidFill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2400" kern="0" spc="-25" dirty="0">
                  <a:solidFill>
                    <a:srgbClr val="C00000"/>
                  </a:solidFill>
                </a:rPr>
                <a:t>Sertãozinho/SP 19 de ago. de 2022</a:t>
              </a:r>
              <a:endParaRPr lang="pt-BR" sz="2800" kern="0" dirty="0">
                <a:solidFill>
                  <a:srgbClr val="C00000"/>
                </a:solidFill>
              </a:endParaRPr>
            </a:p>
          </p:txBody>
        </p:sp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7A133603-A712-4ECF-9A36-36E433CC4C03}"/>
                </a:ext>
              </a:extLst>
            </p:cNvPr>
            <p:cNvSpPr txBox="1">
              <a:spLocks/>
            </p:cNvSpPr>
            <p:nvPr/>
          </p:nvSpPr>
          <p:spPr>
            <a:xfrm>
              <a:off x="10270078" y="7360398"/>
              <a:ext cx="6857992" cy="1084912"/>
            </a:xfrm>
            <a:prstGeom prst="rect">
              <a:avLst/>
            </a:prstGeom>
            <a:solidFill>
              <a:srgbClr val="C00000"/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endParaRPr lang="pt-BR" sz="1400" b="1" kern="0" spc="-25" dirty="0">
                <a:solidFill>
                  <a:srgbClr val="FFFFFF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3600" b="1" kern="0" spc="-25" dirty="0">
                  <a:solidFill>
                    <a:srgbClr val="FFFFFF"/>
                  </a:solidFill>
                  <a:latin typeface="Montserrat ExtraBold" panose="020B0604020202020204" charset="0"/>
                </a:rPr>
                <a:t>SENAI 5.13 - Jaguariúna</a:t>
              </a:r>
              <a:endParaRPr lang="pt-BR" sz="2800" b="1" kern="0" spc="-25" dirty="0">
                <a:solidFill>
                  <a:srgbClr val="FFFFFF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endParaRPr lang="pt-BR" sz="1800" i="1" kern="0" spc="-25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4B79C395-5E26-4C89-A9E4-FA649F6D8416}"/>
              </a:ext>
            </a:extLst>
          </p:cNvPr>
          <p:cNvGrpSpPr/>
          <p:nvPr/>
        </p:nvGrpSpPr>
        <p:grpSpPr>
          <a:xfrm>
            <a:off x="12871450" y="9118387"/>
            <a:ext cx="6254754" cy="825868"/>
            <a:chOff x="12871450" y="9118387"/>
            <a:chExt cx="6254754" cy="825868"/>
          </a:xfrm>
        </p:grpSpPr>
        <p:sp>
          <p:nvSpPr>
            <p:cNvPr id="16" name="object 6">
              <a:extLst>
                <a:ext uri="{FF2B5EF4-FFF2-40B4-BE49-F238E27FC236}">
                  <a16:creationId xmlns:a16="http://schemas.microsoft.com/office/drawing/2014/main" id="{6CF72D63-5AAF-4BE9-AFFC-BCAFEEB76FB9}"/>
                </a:ext>
              </a:extLst>
            </p:cNvPr>
            <p:cNvSpPr txBox="1">
              <a:spLocks/>
            </p:cNvSpPr>
            <p:nvPr/>
          </p:nvSpPr>
          <p:spPr>
            <a:xfrm>
              <a:off x="12871450" y="9118388"/>
              <a:ext cx="6254754" cy="825867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r>
                <a:rPr lang="pt-BR" sz="2800" b="1" kern="0" spc="-25" dirty="0">
                  <a:solidFill>
                    <a:schemeClr val="bg2">
                      <a:lumMod val="25000"/>
                    </a:schemeClr>
                  </a:solidFill>
                </a:rPr>
                <a:t>Paulo Rogério Ferreira Tescaro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i="1" kern="0" spc="-25" dirty="0">
                  <a:solidFill>
                    <a:schemeClr val="bg2">
                      <a:lumMod val="25000"/>
                    </a:schemeClr>
                  </a:solidFill>
                </a:rPr>
                <a:t>Especialista em Tecnologia</a:t>
              </a:r>
              <a:endParaRPr lang="pt-BR" sz="2800" kern="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C0F3FD7B-98E7-4252-8F7C-5224E77E0354}"/>
                </a:ext>
              </a:extLst>
            </p:cNvPr>
            <p:cNvSpPr txBox="1">
              <a:spLocks/>
            </p:cNvSpPr>
            <p:nvPr/>
          </p:nvSpPr>
          <p:spPr>
            <a:xfrm>
              <a:off x="12871450" y="9118387"/>
              <a:ext cx="6019800" cy="825867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r>
                <a:rPr lang="pt-BR" sz="2800" b="1" kern="0" spc="-25" dirty="0">
                  <a:solidFill>
                    <a:srgbClr val="FFFFFF"/>
                  </a:solidFill>
                </a:rPr>
                <a:t>Luis Fernando Spoljaric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i="1" kern="0" spc="-25" dirty="0">
                  <a:solidFill>
                    <a:srgbClr val="FFFFFF"/>
                  </a:solidFill>
                </a:rPr>
                <a:t>Instrutor de formação profissional III</a:t>
              </a:r>
              <a:endParaRPr lang="pt-BR" sz="2800" kern="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7EE7E-4B9E-84FC-A879-3D23CF0BF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01EAD97-7E48-D804-DF8E-E8432D9ABDDD}"/>
              </a:ext>
            </a:extLst>
          </p:cNvPr>
          <p:cNvSpPr/>
          <p:nvPr/>
        </p:nvSpPr>
        <p:spPr>
          <a:xfrm>
            <a:off x="-14817" y="-378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E147C2A-AEFD-A4B1-12B7-EAE2931EBD14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0C93F40-920B-99B6-DD14-BF409634303F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3AB46CB-D7AF-F4FB-625E-DB63B2FD6A1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8847225-EA29-B263-4AAB-7A6A07F4A722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BC0A9A9-0832-B2FC-B348-49820B93E2C8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F5C4AF6-1144-D15E-8D31-C4DDA4EDC3D4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14A75463-75D1-30ED-7BE3-9BB6D9872C01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46A9B463-D921-6C9C-78FA-4B9CFED140CB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06B2C8C6-D565-5BB4-2118-BDD5919A82CE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A9B9CD50-41A5-5E01-1AA2-EFE2065620E1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1D8A778E-9BD6-1B80-64AE-178F9B6F541A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3ECCEAFB-96A9-BD83-94C2-01C46CAD6E23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EEEC3AB2-45CC-0515-2441-B58A9C0C49F1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7F582F1-4263-BA22-A0B1-44D65A249821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C2D0E1A2-61B9-5B7B-58EE-144587213048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73D22A34-9985-75DF-59C3-17A4E46B3C53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D2D0A9A9-C7C7-B9C7-B43D-C26633AC6E46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DE6C24C5-1FB4-FBE7-6736-799FF197A484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18B91537-915C-F06D-D199-40F9E667C15C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F205ADDA-6173-9F10-61D9-0BCC19981C48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5D9A6A54-E90D-456E-B44F-D59E94516943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7EB6CDA5-54BC-4390-E511-2DB1615DCDF1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47025E88-C48C-4425-662F-F79E8B30A770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3F39FE87-4E26-E884-821C-ADA9886E2FA1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2737AFA5-D653-DA93-FA86-6933893E9F59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DC846E0B-0519-7B71-8716-1AD780537D21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A8E58707-6519-9AB1-CA20-740792B93FF9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CDC35C44-6054-6C3D-2450-C770EC1668D8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AA5C7764-3DEA-35F5-AD84-D31BAE58BC66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0F3849E0-35F5-8B5D-31AE-2CD2CF7243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79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1F1F1"/>
                </a:solidFill>
                <a:latin typeface="Montserrat ExtraBold"/>
              </a:rPr>
              <a:t>Softwares</a:t>
            </a: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pic>
        <p:nvPicPr>
          <p:cNvPr id="32" name="Imagem 31" descr="Entenda o Papel do Hardware de Processamento na TI">
            <a:extLst>
              <a:ext uri="{FF2B5EF4-FFF2-40B4-BE49-F238E27FC236}">
                <a16:creationId xmlns:a16="http://schemas.microsoft.com/office/drawing/2014/main" id="{D54D250A-3F2A-9159-4E01-1DF3FB8C9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991" y="2595572"/>
            <a:ext cx="11148483" cy="7436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880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F3C8F-B663-0463-E887-B4CAFB680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1BB05AB8-E681-D36B-C2D6-65F979C00D96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E4B1B6C-6FD2-C4BD-4934-1D43C1B34C29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C7678B0-47B8-9FEA-CDAA-AD777BE4475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4E5F8F3-9610-6FE9-2AD2-C5BC8496E5E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A519059-48BB-77C4-E999-9DE30F423B7D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C823E162-8BED-FF78-C48A-780A25D8E9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58191" y="1395795"/>
            <a:ext cx="13841732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Acessos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62CE79D-FBBD-1F15-A0C0-4C1623434A09}"/>
              </a:ext>
            </a:extLst>
          </p:cNvPr>
          <p:cNvSpPr txBox="1"/>
          <p:nvPr/>
        </p:nvSpPr>
        <p:spPr>
          <a:xfrm>
            <a:off x="1526491" y="3063875"/>
            <a:ext cx="169118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Todo o material das aulas vão ficar no GITHUB: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4000" dirty="0"/>
              <a:t>Github.com/</a:t>
            </a:r>
            <a:r>
              <a:rPr lang="pt-BR" sz="4000" dirty="0" err="1"/>
              <a:t>luisfernandospoljaric</a:t>
            </a:r>
            <a:endParaRPr lang="pt-BR" sz="4000" dirty="0"/>
          </a:p>
        </p:txBody>
      </p:sp>
      <p:pic>
        <p:nvPicPr>
          <p:cNvPr id="9" name="Picture 4" descr="Github Logo - Free social media icons">
            <a:extLst>
              <a:ext uri="{FF2B5EF4-FFF2-40B4-BE49-F238E27FC236}">
                <a16:creationId xmlns:a16="http://schemas.microsoft.com/office/drawing/2014/main" id="{D398EC23-36F9-F84F-C58E-817FD6A8E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550" y="5755363"/>
            <a:ext cx="4191000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1613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2FC6B-4A73-3666-DFCF-E153B3E7A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F0FCC871-585E-CBE6-5F4C-0DEF290EC008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05CEFCF-BB14-7A6F-CCF9-8D65540216A0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3CDEF7E-A9DF-223A-6717-BD6E880A22A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4A4961C-7C03-F84F-5795-8A5F4E11D756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A2A5131-5932-902F-779D-252A6B812765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9925B0-592C-2216-07C5-699A06B41D38}"/>
              </a:ext>
            </a:extLst>
          </p:cNvPr>
          <p:cNvSpPr txBox="1"/>
          <p:nvPr/>
        </p:nvSpPr>
        <p:spPr>
          <a:xfrm>
            <a:off x="1526491" y="3063875"/>
            <a:ext cx="1691184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	Um computador é um sistema eletrônico de processamento de dados composto por dispositivos integrados que trabalham de forma conjunta para executar instruções predefinidas.</a:t>
            </a:r>
          </a:p>
          <a:p>
            <a:pPr marL="742950" indent="-742950">
              <a:buFont typeface="+mj-lt"/>
              <a:buAutoNum type="arabicPeriod"/>
            </a:pPr>
            <a:endParaRPr lang="pt-BR" sz="4000" dirty="0"/>
          </a:p>
        </p:txBody>
      </p:sp>
      <p:sp>
        <p:nvSpPr>
          <p:cNvPr id="12" name="object 15">
            <a:extLst>
              <a:ext uri="{FF2B5EF4-FFF2-40B4-BE49-F238E27FC236}">
                <a16:creationId xmlns:a16="http://schemas.microsoft.com/office/drawing/2014/main" id="{52C9B495-1408-1673-1FEE-D0EBC4BCC192}"/>
              </a:ext>
            </a:extLst>
          </p:cNvPr>
          <p:cNvSpPr txBox="1">
            <a:spLocks/>
          </p:cNvSpPr>
          <p:nvPr/>
        </p:nvSpPr>
        <p:spPr>
          <a:xfrm>
            <a:off x="1522208" y="1610836"/>
            <a:ext cx="13841732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O que é um computador?</a:t>
            </a:r>
          </a:p>
        </p:txBody>
      </p:sp>
      <p:pic>
        <p:nvPicPr>
          <p:cNvPr id="8" name="Picture 2" descr="Fundo Tecnologia Essencial Uma Coleção De Dispositivos De Computadores E  Equipamentos De Escritório Incluindo Telefones Celulares Monitores Laptops  Impressoras Câmeras Fones De Ouvido E Tablet Pcs Ilustração 3d Fundo,  Dispositivos Eletrônicos, Computador">
            <a:extLst>
              <a:ext uri="{FF2B5EF4-FFF2-40B4-BE49-F238E27FC236}">
                <a16:creationId xmlns:a16="http://schemas.microsoft.com/office/drawing/2014/main" id="{5503D241-01C5-D4C6-33D9-C2F7C1A9D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0050" y="5389931"/>
            <a:ext cx="9144000" cy="5128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446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18FEE-1638-5E9E-73E1-031C1E544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6EFB6DC2-0C47-D4C7-716D-D41C4BC56FBC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A2AAD6E-D5BF-44AD-5411-8BBE8D6A1BD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FA91FA0-B669-EAF4-9502-620F2D3EF2DA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631F33D-AB25-7CD9-3965-A52A93BDEC1B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69D8B77-840C-6C5E-2C13-0F038F475722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03D9B4A4-08F7-F5C8-9EAC-7639EFFA4A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4828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O que é um computador?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5322D1F-32A3-FB69-5EF3-F5F88BD6B8DD}"/>
              </a:ext>
            </a:extLst>
          </p:cNvPr>
          <p:cNvSpPr txBox="1"/>
          <p:nvPr/>
        </p:nvSpPr>
        <p:spPr>
          <a:xfrm>
            <a:off x="1526490" y="3063875"/>
            <a:ext cx="1713615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O computador opera em 3 etapas:</a:t>
            </a:r>
          </a:p>
          <a:p>
            <a:endParaRPr lang="pt-BR" sz="4000" dirty="0"/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Entrada de Dados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Processamento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Saída de informação</a:t>
            </a:r>
          </a:p>
        </p:txBody>
      </p:sp>
      <p:pic>
        <p:nvPicPr>
          <p:cNvPr id="9" name="Picture 2" descr="Binary Code Gif GIFs | Tenor">
            <a:extLst>
              <a:ext uri="{FF2B5EF4-FFF2-40B4-BE49-F238E27FC236}">
                <a16:creationId xmlns:a16="http://schemas.microsoft.com/office/drawing/2014/main" id="{4595D07D-853B-42FE-09C6-C33DADC05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9750" y="6797675"/>
            <a:ext cx="6324600" cy="3536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7714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7C233-2BB5-9918-2884-1192C68E7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9062B6F1-C545-FD64-7EA5-B546D12BB71C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321D7DF-420F-5B4E-585A-5C3DACA13DDC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A780653-85DA-9FC7-C4B7-61224F0E2C0C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CAF5B642-AE47-D350-06BD-120B133145E6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BA6E0FE-0BE5-8E08-30C3-6C80CEB078A0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FE9F9B80-4D90-CAA2-D0A8-FAB75BE05D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4828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O que é um computador?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05CF7BC-F9FF-6DB8-989C-A0337562EF7A}"/>
              </a:ext>
            </a:extLst>
          </p:cNvPr>
          <p:cNvSpPr txBox="1"/>
          <p:nvPr/>
        </p:nvSpPr>
        <p:spPr>
          <a:xfrm>
            <a:off x="1526490" y="3063875"/>
            <a:ext cx="1713615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	Um computador é uma máquina baseada em circuitos digitais que utiliza unidades binárias (bits) para realizar operações lógicas e aritméticas. Esses sistemas podem ser programáveis e adaptáveis para diversas aplicações.</a:t>
            </a:r>
          </a:p>
          <a:p>
            <a:pPr marL="742950" indent="-742950">
              <a:buFont typeface="+mj-lt"/>
              <a:buAutoNum type="arabicPeriod"/>
            </a:pPr>
            <a:endParaRPr lang="pt-BR" sz="4000" dirty="0"/>
          </a:p>
        </p:txBody>
      </p:sp>
      <p:pic>
        <p:nvPicPr>
          <p:cNvPr id="9" name="Picture 2" descr="Binary Code Gif GIFs | Tenor">
            <a:extLst>
              <a:ext uri="{FF2B5EF4-FFF2-40B4-BE49-F238E27FC236}">
                <a16:creationId xmlns:a16="http://schemas.microsoft.com/office/drawing/2014/main" id="{9855A346-E8BB-A9C1-0C85-40B4E1DA9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2269" y="6395675"/>
            <a:ext cx="6324600" cy="3536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4031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A7C53-729D-F4BE-15CC-ADA2C4415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5C3F61A4-0FC9-BD0F-48C1-FEB1E076EDCD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8AC48CF-B0D1-21DB-865F-648657E9BC4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2489227-2007-9DAC-850E-840E66DA7F5F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786C3D0-A94D-4384-18FB-A4DCD857C52A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2AD92FF-1B7B-3AA3-BBBA-A98A0650A22B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4A8D6344-D3FF-B10C-19AF-C4B8795587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1" y="1417339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O que é um computador?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CA60819-CE8B-7619-F5C7-D574835E354D}"/>
              </a:ext>
            </a:extLst>
          </p:cNvPr>
          <p:cNvSpPr txBox="1"/>
          <p:nvPr/>
        </p:nvSpPr>
        <p:spPr>
          <a:xfrm>
            <a:off x="1526491" y="3063875"/>
            <a:ext cx="1691184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	Os principais componentes físicos (</a:t>
            </a:r>
            <a:r>
              <a:rPr lang="pt-BR" sz="4000" b="1" dirty="0"/>
              <a:t>hardware</a:t>
            </a:r>
            <a:r>
              <a:rPr lang="pt-BR" sz="4000" dirty="0"/>
              <a:t>) e lógicos (</a:t>
            </a:r>
            <a:r>
              <a:rPr lang="pt-BR" sz="4000" b="1" dirty="0"/>
              <a:t>software</a:t>
            </a:r>
            <a:r>
              <a:rPr lang="pt-BR" sz="4000" dirty="0"/>
              <a:t>) do computador trabalham em sinergia para transformar dados brutos em informações úteis. </a:t>
            </a:r>
          </a:p>
          <a:p>
            <a:endParaRPr lang="pt-BR" sz="4000" dirty="0"/>
          </a:p>
          <a:p>
            <a:r>
              <a:rPr lang="pt-BR" sz="4000" dirty="0"/>
              <a:t>	A Unidade Central de Processamento (</a:t>
            </a:r>
            <a:r>
              <a:rPr lang="pt-BR" sz="4000" b="1" dirty="0"/>
              <a:t>CPU</a:t>
            </a:r>
            <a:r>
              <a:rPr lang="pt-BR" sz="4000" dirty="0"/>
              <a:t>) é o elemento fundamental que interpreta e executa comandos, enquanto os dispositivos periféricos possibilitam a interação com o mundo externo.</a:t>
            </a:r>
          </a:p>
          <a:p>
            <a:endParaRPr lang="pt-BR" sz="4000" dirty="0"/>
          </a:p>
        </p:txBody>
      </p:sp>
      <p:pic>
        <p:nvPicPr>
          <p:cNvPr id="11" name="Picture 2" descr="O que são componentes de hardware e software? Diferença entre hardware e  software">
            <a:extLst>
              <a:ext uri="{FF2B5EF4-FFF2-40B4-BE49-F238E27FC236}">
                <a16:creationId xmlns:a16="http://schemas.microsoft.com/office/drawing/2014/main" id="{A840CD84-3289-C0A0-C786-86ADBCA1C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2224" y="7754376"/>
            <a:ext cx="5239652" cy="2800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9675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98163-78B1-0566-A2BB-E496019CB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B4A8737-9039-D33A-048B-4995CE5EDED7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2F26487-C564-2C81-C32C-0F35D5511E67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A8B9E85-E9CD-41C9-D942-0DB61B67A2D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4112E9B-BADE-910A-D15A-2C774B03BE15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65DCCD0-6B11-510B-6A10-2AD84D7D1919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1785AC3E-B791-07C6-8D63-4783A72456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7516" y="1001551"/>
            <a:ext cx="13715997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Principais componentes de um computador: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A074EF4-7CAB-B483-6E28-AFADAA8A1189}"/>
              </a:ext>
            </a:extLst>
          </p:cNvPr>
          <p:cNvSpPr txBox="1"/>
          <p:nvPr/>
        </p:nvSpPr>
        <p:spPr>
          <a:xfrm>
            <a:off x="1596129" y="3368675"/>
            <a:ext cx="1691184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Hardware</a:t>
            </a:r>
            <a:r>
              <a:rPr lang="pt-BR" sz="4400" dirty="0"/>
              <a:t> é todo componente físico, interno ou externo do seu computador, ou celular, que determina do que um dispositivo é capaz e como você pode usá-lo.</a:t>
            </a:r>
          </a:p>
          <a:p>
            <a:endParaRPr lang="pt-BR" sz="4400" dirty="0">
              <a:solidFill>
                <a:srgbClr val="FF0000"/>
              </a:solidFill>
            </a:endParaRPr>
          </a:p>
        </p:txBody>
      </p:sp>
      <p:pic>
        <p:nvPicPr>
          <p:cNvPr id="10" name="Imagem 9" descr="O que é hardware? Confira as funções e exemplos dos componentes eletrônicos  • Tecnoblog">
            <a:extLst>
              <a:ext uri="{FF2B5EF4-FFF2-40B4-BE49-F238E27FC236}">
                <a16:creationId xmlns:a16="http://schemas.microsoft.com/office/drawing/2014/main" id="{4CBB899A-9877-A37E-F827-1DBBC13ED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645" y="6169442"/>
            <a:ext cx="6664809" cy="4443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33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A2B7-99D4-E0D3-C66C-AD65E8DC3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A262C27E-1880-F9A2-9F03-B89E8570FC9B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46EF033-328E-8E66-2DC7-D0943A446604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DA9ABF5-EFC8-5CA1-CEF8-A01E450F780F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97BF2769-0CA9-756D-1E87-315F9BB9ADB2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B0E4852-F5B5-22AE-605E-B2DE32CA273F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52CB502D-EDB6-BAB0-5651-87AA9AEB08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7516" y="1395795"/>
            <a:ext cx="13715997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Hardware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2AADADF-AED9-3E7F-93AA-F98B1278E987}"/>
              </a:ext>
            </a:extLst>
          </p:cNvPr>
          <p:cNvSpPr txBox="1"/>
          <p:nvPr/>
        </p:nvSpPr>
        <p:spPr>
          <a:xfrm>
            <a:off x="1596129" y="3368675"/>
            <a:ext cx="1691184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b="1" dirty="0"/>
              <a:t>Gabinete</a:t>
            </a:r>
            <a:r>
              <a:rPr lang="pt-BR" sz="4400" dirty="0"/>
              <a:t>: É a "caixa" que abriga os principais componentes internos.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4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b="1" dirty="0"/>
              <a:t>Monitor</a:t>
            </a:r>
            <a:r>
              <a:rPr lang="pt-BR" sz="4400" dirty="0"/>
              <a:t>: Exibe informações visualmente.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4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b="1" dirty="0"/>
              <a:t>Teclado</a:t>
            </a:r>
            <a:r>
              <a:rPr lang="pt-BR" sz="4400" dirty="0"/>
              <a:t>: Usado para digitar e enviar comandos ao computador.</a:t>
            </a:r>
          </a:p>
          <a:p>
            <a:endParaRPr lang="pt-BR" sz="4400" dirty="0">
              <a:solidFill>
                <a:srgbClr val="FF0000"/>
              </a:solidFill>
            </a:endParaRPr>
          </a:p>
        </p:txBody>
      </p:sp>
      <p:pic>
        <p:nvPicPr>
          <p:cNvPr id="9" name="Picture 10">
            <a:extLst>
              <a:ext uri="{FF2B5EF4-FFF2-40B4-BE49-F238E27FC236}">
                <a16:creationId xmlns:a16="http://schemas.microsoft.com/office/drawing/2014/main" id="{C320FAAE-A557-B017-61EC-D7F218DAD2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7516" y="7862646"/>
            <a:ext cx="4992060" cy="207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4">
            <a:extLst>
              <a:ext uri="{FF2B5EF4-FFF2-40B4-BE49-F238E27FC236}">
                <a16:creationId xmlns:a16="http://schemas.microsoft.com/office/drawing/2014/main" id="{594FE0C8-5C5C-9A8E-617F-2B0C636653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2250" y="7643186"/>
            <a:ext cx="3686175" cy="2762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8">
            <a:extLst>
              <a:ext uri="{FF2B5EF4-FFF2-40B4-BE49-F238E27FC236}">
                <a16:creationId xmlns:a16="http://schemas.microsoft.com/office/drawing/2014/main" id="{A49FD58F-2D57-A249-B9B8-FFE0B1B7D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2130" y="7643186"/>
            <a:ext cx="3082698" cy="2182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3793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E5D3B-95B1-3963-5FC9-AD269F390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4A89F60A-6554-573A-5B68-BE54A2FB29AF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8BCB552-017F-B204-6A70-B6FD27E66BEE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BACF04D-540E-920F-63D0-A21EB4BFFDA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4816FD9-ED81-34BD-1EA3-07D6FA5A82A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76C9939-9EEE-1BB5-A13D-D9380B55004F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05A71336-2139-DA05-D8C9-0D567C4AFA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7516" y="1395795"/>
            <a:ext cx="13715997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Hardware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7680E29-9368-2DEA-2810-04F1DB0A404A}"/>
              </a:ext>
            </a:extLst>
          </p:cNvPr>
          <p:cNvSpPr txBox="1"/>
          <p:nvPr/>
        </p:nvSpPr>
        <p:spPr>
          <a:xfrm>
            <a:off x="1596129" y="3368675"/>
            <a:ext cx="1691184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b="1" dirty="0"/>
              <a:t>Mouse</a:t>
            </a:r>
            <a:r>
              <a:rPr lang="pt-BR" sz="4400" dirty="0"/>
              <a:t>: Dispositivo que permite interagir com o computador apontando e clicando.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4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b="1" dirty="0"/>
              <a:t>Impressora</a:t>
            </a:r>
            <a:r>
              <a:rPr lang="pt-BR" sz="4400" dirty="0"/>
              <a:t>: Equipamento para transferir informações do computador para o papel.</a:t>
            </a:r>
          </a:p>
          <a:p>
            <a:endParaRPr lang="pt-BR" sz="4400" dirty="0">
              <a:solidFill>
                <a:srgbClr val="FF0000"/>
              </a:solidFill>
            </a:endParaRP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D5087301-5B9F-6B15-5F03-3F582D6A6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0" y="7996719"/>
            <a:ext cx="3876500" cy="2055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0">
            <a:extLst>
              <a:ext uri="{FF2B5EF4-FFF2-40B4-BE49-F238E27FC236}">
                <a16:creationId xmlns:a16="http://schemas.microsoft.com/office/drawing/2014/main" id="{D71703A6-E565-B782-8903-2860F3BFAD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6450" y="7289652"/>
            <a:ext cx="2762250" cy="2762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4599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91722-E55B-DBD8-20C1-64CE3511B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63CF6692-F033-A689-08A3-E5BBE8414465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FFB69EC-AE15-18B1-9040-955F55A1300D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274B2FB-24B9-FDE1-89C3-594375147C0D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80F8C67-CCA2-7DA8-6BB1-BCCC7DC94DC3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4926827-D644-80F1-7015-05B1ABAAAE4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0BB1365C-5261-9880-30D8-5B7493F7A1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1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 panose="00000900000000000000" pitchFamily="2" charset="0"/>
                <a:cs typeface="Montserrat ExtraBold"/>
              </a:rPr>
              <a:t>Hardware Internos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62CEDAD-519D-6759-B271-ACE000A7020B}"/>
              </a:ext>
            </a:extLst>
          </p:cNvPr>
          <p:cNvSpPr txBox="1"/>
          <p:nvPr/>
        </p:nvSpPr>
        <p:spPr>
          <a:xfrm>
            <a:off x="1526491" y="3063875"/>
            <a:ext cx="1691184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b="1" dirty="0"/>
              <a:t>Placa mãe</a:t>
            </a:r>
            <a:r>
              <a:rPr lang="pt-BR" sz="4000" dirty="0"/>
              <a:t>: É a base do computador, conectando todos os outros componentes. Ela permite a comunicação entre a CPU, memória, discos e outros dispositivos.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</p:txBody>
      </p:sp>
      <p:pic>
        <p:nvPicPr>
          <p:cNvPr id="9" name="Imagem 8" descr="Placa Mãe Asus TUF Gaming Z490-Plus, 128GB, Intel Socket 1200, DDR4 -  Fujioka Distribuidor">
            <a:extLst>
              <a:ext uri="{FF2B5EF4-FFF2-40B4-BE49-F238E27FC236}">
                <a16:creationId xmlns:a16="http://schemas.microsoft.com/office/drawing/2014/main" id="{167590C6-4FC6-B9FD-9EC6-194B2A5BC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915" y="4459170"/>
            <a:ext cx="6476994" cy="647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224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01F1F-1E53-59A2-0BC4-E0DC56F33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E0BD3C99-98D4-5EC7-FC24-E6C51B293E38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179BB5D-CA4C-DC2F-5FA9-0CF526CCF11F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FC12A2B-67AF-26D3-FDA7-E8265242567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E33D1CA-58C1-62A6-2D89-99D0FDBA1E94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12C65FE-ABEB-C9E9-BFBE-FB5A5A8452AA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9EF29C15-96A1-6E30-CE11-CD555D16BC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1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 panose="00000900000000000000" pitchFamily="2" charset="0"/>
                <a:cs typeface="Montserrat ExtraBold"/>
              </a:rPr>
              <a:t>Placa mãe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45FEB9A-28D8-E6F9-02A4-B637CB4B3410}"/>
              </a:ext>
            </a:extLst>
          </p:cNvPr>
          <p:cNvSpPr txBox="1"/>
          <p:nvPr/>
        </p:nvSpPr>
        <p:spPr>
          <a:xfrm>
            <a:off x="1526491" y="3063875"/>
            <a:ext cx="16911842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Soquete do processador (Socket)</a:t>
            </a:r>
          </a:p>
          <a:p>
            <a:endParaRPr lang="pt-BR" sz="4000" b="1" dirty="0"/>
          </a:p>
          <a:p>
            <a:r>
              <a:rPr lang="pt-BR" sz="4000" dirty="0"/>
              <a:t>	É o encaixe onde o processador é instalado. O tipo de socket determina quais processadores são compatíveis.</a:t>
            </a:r>
          </a:p>
          <a:p>
            <a:r>
              <a:rPr lang="pt-BR" sz="4000" dirty="0"/>
              <a:t>Exemplos:</a:t>
            </a:r>
          </a:p>
          <a:p>
            <a:endParaRPr lang="pt-BR" sz="4000" dirty="0"/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Intel LGA 1700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AMD AM4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AMD AM5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</p:txBody>
      </p:sp>
      <p:pic>
        <p:nvPicPr>
          <p:cNvPr id="2" name="Imagem 1" descr="Materiais internos da Intel revelam o fim de soquetes para processadores">
            <a:extLst>
              <a:ext uri="{FF2B5EF4-FFF2-40B4-BE49-F238E27FC236}">
                <a16:creationId xmlns:a16="http://schemas.microsoft.com/office/drawing/2014/main" id="{080A9DCA-6BC4-A8AE-8772-B1422479B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3850" y="5862415"/>
            <a:ext cx="8001000" cy="4415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136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37A90-9313-4529-819B-5177EAC8F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91172642-1FE0-1474-E058-B940D316A219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BFCB763-E0E5-8787-9AD3-03EFFA059187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ED8917F-F521-9404-0861-1DD38D89823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C78245E6-4F6E-8AE6-8977-E3BD7543DBDF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D4884FC-6594-634B-328D-B3C3683D4A4B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5C1B42C6-E4BB-333A-3C9D-BF3BA85B90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1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 panose="00000900000000000000" pitchFamily="2" charset="0"/>
                <a:cs typeface="Montserrat ExtraBold"/>
              </a:rPr>
              <a:t>Placa mãe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9D7E345-7EC0-1E7B-1FBB-8897471F3A3D}"/>
              </a:ext>
            </a:extLst>
          </p:cNvPr>
          <p:cNvSpPr txBox="1"/>
          <p:nvPr/>
        </p:nvSpPr>
        <p:spPr>
          <a:xfrm>
            <a:off x="1526491" y="3063875"/>
            <a:ext cx="16911842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Chipset</a:t>
            </a:r>
          </a:p>
          <a:p>
            <a:endParaRPr lang="pt-BR" sz="2000" b="1" dirty="0"/>
          </a:p>
          <a:p>
            <a:r>
              <a:rPr lang="pt-BR" sz="4000" dirty="0"/>
              <a:t>	O chipset controla a comunicação entre os componentes da </a:t>
            </a:r>
            <a:r>
              <a:rPr lang="pt-BR" sz="4000" dirty="0" err="1"/>
              <a:t>placa-mãe</a:t>
            </a:r>
            <a:r>
              <a:rPr lang="pt-BR" sz="4000" dirty="0"/>
              <a:t> e define recursos disponíveis.</a:t>
            </a:r>
          </a:p>
          <a:p>
            <a:endParaRPr lang="pt-BR" sz="2400" dirty="0"/>
          </a:p>
          <a:p>
            <a:r>
              <a:rPr lang="pt-BR" sz="4000" b="1" dirty="0"/>
              <a:t>Exemplos</a:t>
            </a:r>
            <a:r>
              <a:rPr lang="pt-BR" sz="4000" dirty="0"/>
              <a:t>: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Intel: H610, B760, Z790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AMD: A620, B650, X670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Quanto mais avançado o chipset, mais recursos a placa oferece.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E9FF598-D803-5DE9-3CA1-0198035AD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3250" y="7984259"/>
            <a:ext cx="3827548" cy="2870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079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2F1ED-BDC6-FFC5-A2E9-6B8DB60FC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2444A4B6-4CE6-86C6-86B9-00B0F2405D39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8D51F59-58F0-A223-20B1-4EFAFCF0D735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CB9C94E-8A4C-E5D8-B212-3FA271135B8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BEF1EAA4-796A-BA40-EF5E-F02A8314B1BA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BDEAF1C-6920-76D9-C023-8478F6F4F16F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1FA34C63-A399-6B92-DC57-DFE05AC8FC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1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 panose="00000900000000000000" pitchFamily="2" charset="0"/>
                <a:cs typeface="Montserrat ExtraBold"/>
              </a:rPr>
              <a:t>Placa mãe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6B04293-B191-5ED8-0D2A-E8A603144F58}"/>
              </a:ext>
            </a:extLst>
          </p:cNvPr>
          <p:cNvSpPr txBox="1"/>
          <p:nvPr/>
        </p:nvSpPr>
        <p:spPr>
          <a:xfrm>
            <a:off x="1596129" y="2682875"/>
            <a:ext cx="16911842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Slots de memória RAM</a:t>
            </a:r>
          </a:p>
          <a:p>
            <a:endParaRPr lang="pt-BR" sz="4000" b="1" dirty="0"/>
          </a:p>
          <a:p>
            <a:r>
              <a:rPr lang="pt-BR" sz="4000" dirty="0"/>
              <a:t>	São os encaixes para instalação dos módulos de memória.</a:t>
            </a:r>
          </a:p>
          <a:p>
            <a:endParaRPr lang="pt-BR" sz="4000" dirty="0"/>
          </a:p>
          <a:p>
            <a:r>
              <a:rPr lang="pt-BR" sz="4000" b="1" dirty="0"/>
              <a:t>Características</a:t>
            </a:r>
            <a:r>
              <a:rPr lang="pt-BR" sz="4000" dirty="0"/>
              <a:t>: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DDR4 ou DDR5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2 ou 4 slots (ou mais)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Capacidade máxima suportada (ex.: 64 GB, 128 GB ou mais)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Frequência suportada (3200 MHz, 5600 MHz, etc.)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</p:txBody>
      </p:sp>
      <p:pic>
        <p:nvPicPr>
          <p:cNvPr id="2" name="Imagem 1" descr="slots de memória em uma placa-mãe 2221823 Foto de stock no Vecteezy">
            <a:extLst>
              <a:ext uri="{FF2B5EF4-FFF2-40B4-BE49-F238E27FC236}">
                <a16:creationId xmlns:a16="http://schemas.microsoft.com/office/drawing/2014/main" id="{57076F20-DDBF-86BE-0FFA-3F0C62DEA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1050" y="7789565"/>
            <a:ext cx="4854871" cy="323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885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FB1B9-6765-CD2F-269D-184FCC13A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7035808C-A2E5-F303-9395-9CDB4965B9A1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7C09760-277D-E445-5E4F-4EEBFA3C942B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B85C2EE-EEC4-1F5D-C328-F17DFA2FDEEC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2DCDA9E-EA84-6809-E967-3E8199063265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13876C8-7B7F-69E6-0FAA-5A90A78E0E08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ADDF65A8-1134-D70A-B494-242614BA4C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1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 panose="00000900000000000000" pitchFamily="2" charset="0"/>
                <a:cs typeface="Montserrat ExtraBold"/>
              </a:rPr>
              <a:t>Placa mãe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4815A46-4451-399A-A78A-1F57A878BC74}"/>
              </a:ext>
            </a:extLst>
          </p:cNvPr>
          <p:cNvSpPr txBox="1"/>
          <p:nvPr/>
        </p:nvSpPr>
        <p:spPr>
          <a:xfrm>
            <a:off x="1526491" y="3063875"/>
            <a:ext cx="16911842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Slots PCI Express (</a:t>
            </a:r>
            <a:r>
              <a:rPr lang="pt-BR" sz="4000" b="1" dirty="0" err="1"/>
              <a:t>PCIe</a:t>
            </a:r>
            <a:r>
              <a:rPr lang="pt-BR" sz="4000" b="1" dirty="0"/>
              <a:t>)</a:t>
            </a:r>
          </a:p>
          <a:p>
            <a:endParaRPr lang="pt-BR" sz="4000" b="1" dirty="0"/>
          </a:p>
          <a:p>
            <a:r>
              <a:rPr lang="pt-BR" sz="4000" dirty="0"/>
              <a:t>	Permitem instalar placas de expansão.</a:t>
            </a:r>
          </a:p>
          <a:p>
            <a:endParaRPr lang="pt-BR" sz="4000" dirty="0"/>
          </a:p>
          <a:p>
            <a:r>
              <a:rPr lang="pt-BR" sz="4000" b="1" dirty="0"/>
              <a:t>Podem ser usados para: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Placa de vídeo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Placa de rede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Placa de captura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SSD </a:t>
            </a:r>
            <a:r>
              <a:rPr lang="pt-BR" sz="4000" dirty="0" err="1"/>
              <a:t>PCIe</a:t>
            </a: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</p:txBody>
      </p:sp>
      <p:pic>
        <p:nvPicPr>
          <p:cNvPr id="8" name="Imagem 7" descr="O que é PCI Express (PCIe)">
            <a:extLst>
              <a:ext uri="{FF2B5EF4-FFF2-40B4-BE49-F238E27FC236}">
                <a16:creationId xmlns:a16="http://schemas.microsoft.com/office/drawing/2014/main" id="{1FBF7279-E560-9D78-89B1-244D3B7B9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7050" y="4608364"/>
            <a:ext cx="5400374" cy="470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7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CB794-A36A-91C6-311A-1493E40D6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50D2CCBC-C69C-2BD2-CE3B-AEE3B86FBBA6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E866640-5941-F9B1-4F00-C78074959069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792371B-BC83-0A23-08C7-6FE34CF1EFE4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F2CB364B-5925-2574-0243-09195E3F078D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587B28A-E5DE-05C3-F0D9-E9AE52E5216C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228BC998-13FE-EE84-8553-F8510CADDA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1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 panose="00000900000000000000" pitchFamily="2" charset="0"/>
                <a:cs typeface="Montserrat ExtraBold"/>
              </a:rPr>
              <a:t>Placa mãe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249402D-12CD-43AC-AEDB-CD87DD7F7216}"/>
              </a:ext>
            </a:extLst>
          </p:cNvPr>
          <p:cNvSpPr txBox="1"/>
          <p:nvPr/>
        </p:nvSpPr>
        <p:spPr>
          <a:xfrm>
            <a:off x="1526491" y="3063875"/>
            <a:ext cx="1691184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Conectores para armazenamento</a:t>
            </a:r>
          </a:p>
          <a:p>
            <a:endParaRPr lang="pt-BR" sz="4000" dirty="0"/>
          </a:p>
          <a:p>
            <a:r>
              <a:rPr lang="pt-BR" sz="4000" dirty="0"/>
              <a:t>Permitem conectar HDs e </a:t>
            </a:r>
            <a:r>
              <a:rPr lang="pt-BR" sz="4000" dirty="0" err="1"/>
              <a:t>SSDs</a:t>
            </a:r>
            <a:r>
              <a:rPr lang="pt-BR" sz="4000" dirty="0"/>
              <a:t>.</a:t>
            </a:r>
          </a:p>
          <a:p>
            <a:endParaRPr lang="pt-BR" sz="4000" dirty="0"/>
          </a:p>
          <a:p>
            <a:r>
              <a:rPr lang="pt-BR" sz="4000" b="1" dirty="0"/>
              <a:t>Tipos</a:t>
            </a:r>
            <a:r>
              <a:rPr lang="pt-BR" sz="4000" dirty="0"/>
              <a:t>: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SATA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M.2 </a:t>
            </a:r>
            <a:r>
              <a:rPr lang="pt-BR" sz="4000" dirty="0" err="1"/>
              <a:t>NVMe</a:t>
            </a: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4599558F-E5D4-9D55-2938-F5EE21A21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850" y="7099895"/>
            <a:ext cx="5141610" cy="3354097"/>
          </a:xfrm>
          <a:prstGeom prst="rect">
            <a:avLst/>
          </a:prstGeom>
        </p:spPr>
      </p:pic>
      <p:pic>
        <p:nvPicPr>
          <p:cNvPr id="11" name="Imagem 10" descr="Interface De Conector M.2 Em Close-up Para Armazenamento SSD De Alta  Velocidade E Desempenho Em PCs Modernos Foto de Stock - Image of placa,  ferragem: 182359538">
            <a:extLst>
              <a:ext uri="{FF2B5EF4-FFF2-40B4-BE49-F238E27FC236}">
                <a16:creationId xmlns:a16="http://schemas.microsoft.com/office/drawing/2014/main" id="{DFF72743-2D9B-55B6-9CB2-36F7EC790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96723" y="7099895"/>
            <a:ext cx="5141610" cy="340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9466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4CB5D-358A-B9DD-BE02-0C3C2DADD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9DD3548-AF7C-B368-D119-7CFB3F4343DC}"/>
              </a:ext>
            </a:extLst>
          </p:cNvPr>
          <p:cNvSpPr/>
          <p:nvPr/>
        </p:nvSpPr>
        <p:spPr>
          <a:xfrm>
            <a:off x="7163" y="-1837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D8BBD0D-FE5B-E96C-0EE1-AD7C2D77AA64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75BD9FB-47F3-64A2-ADF6-E95D0D2DEDD5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109C65C-0795-DCEE-68AD-6538C633C76A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63A853DB-B6EB-CD99-0104-B383845FCB59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13AEA7C-9D54-57D4-34F8-11C8E2BF9403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E451BFD3-9F0C-5ED8-85DF-9FEE9FDE6193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86BF4167-1CD6-3DD9-1CB0-1480CA1E9318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6EAF5E71-CEE7-A0B3-8E03-E05B0D72AD7E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9C9F8839-64C8-3357-56BA-E50EE42718A7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E47FC0FC-F628-F936-AF80-FB5AD8CD491D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9FE5FC79-D3F1-E49E-9F0F-F2CC3A791707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725FA882-DF6C-A640-9391-0268CC1B408D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F5589FD8-A495-DB96-687D-822FD6AF5C68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0764CD0E-A784-CBDD-0F87-827B2FE433F2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762DF0BC-C3C9-0960-2A8A-91B2A763D576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C56A8F0E-8F26-A928-B679-EE5E01D06E4B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7F402AB8-BBAA-4171-1C6F-9E6C523D0206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AB22FD1E-6610-5D01-F43D-9CCBE9D5D9C9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45B5FC3A-C0BD-7994-16B8-7A8B985D55A4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48E17F7F-15A1-1502-5D4B-9CEBE74240E8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EAC1FDA1-2FF1-5DC1-D7E5-F58344DC5861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3AD3C6F5-F182-DA06-F65F-576DC9C9BC9E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D1771873-6EFC-B924-0B0F-2C274485CB8E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DF02C9A3-171A-4490-7D12-CC48AE9CA01A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FE0E74E0-C7D4-8FF6-0E30-E28A80B31F55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BCC876DD-D8F4-F6C5-7E21-A093DD7FA35D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BA70044B-2A0B-02DF-B73C-999B176D3CA8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170063C1-ECA5-CB37-9467-B0EE2960A305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2FCF0F12-751F-28CA-E001-2422C1617773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7C754D85-A032-234A-FF15-EFA58FD295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sp>
        <p:nvSpPr>
          <p:cNvPr id="32" name="object 71">
            <a:extLst>
              <a:ext uri="{FF2B5EF4-FFF2-40B4-BE49-F238E27FC236}">
                <a16:creationId xmlns:a16="http://schemas.microsoft.com/office/drawing/2014/main" id="{C64F80E9-5F8C-66D5-340D-846F3D43C460}"/>
              </a:ext>
            </a:extLst>
          </p:cNvPr>
          <p:cNvSpPr txBox="1">
            <a:spLocks/>
          </p:cNvSpPr>
          <p:nvPr/>
        </p:nvSpPr>
        <p:spPr>
          <a:xfrm>
            <a:off x="1509065" y="1365763"/>
            <a:ext cx="13737560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chemeClr val="bg1">
                    <a:lumMod val="85000"/>
                  </a:schemeClr>
                </a:solidFill>
                <a:latin typeface="Montserrat ExtraBold"/>
                <a:cs typeface="Montserrat ExtraBold"/>
              </a:rPr>
              <a:t>Placa mãe:</a:t>
            </a:r>
          </a:p>
        </p:txBody>
      </p:sp>
      <p:sp>
        <p:nvSpPr>
          <p:cNvPr id="34" name="Rectangle 1">
            <a:extLst>
              <a:ext uri="{FF2B5EF4-FFF2-40B4-BE49-F238E27FC236}">
                <a16:creationId xmlns:a16="http://schemas.microsoft.com/office/drawing/2014/main" id="{E5E23B5D-6FC2-08B4-3962-A6EEEF34E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01041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Definição do Projeto: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Determine um software a ser desenvolvido (exemplo: aplicativo de delivery, plataforma de ensino online, sistema de gestão empresarial,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Descreva brevemente o propósito do software e seus principais objetivos.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3" name="Imagem 32" descr="Placa-mãe: o que é e principais características">
            <a:extLst>
              <a:ext uri="{FF2B5EF4-FFF2-40B4-BE49-F238E27FC236}">
                <a16:creationId xmlns:a16="http://schemas.microsoft.com/office/drawing/2014/main" id="{5D7BE319-4607-EB7B-57B9-60D9A55D2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7150" y="2682875"/>
            <a:ext cx="9829800" cy="791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558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A194D-6EBB-B4AE-6863-A0353CCC7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EF979EB9-6385-D8DC-0F53-53EEC37BDF26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4B70566-C74D-FB74-368E-90D62D46F395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5C0A710-5644-FBF5-4E46-6949A15C50A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F86E9478-966B-CCDB-2076-6F372BB1BA1C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A3CFC24-08BF-1869-80DB-70B5209D6D70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CFE0BA90-DB51-FD54-2993-987F047508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1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 panose="00000900000000000000" pitchFamily="2" charset="0"/>
                <a:cs typeface="Montserrat ExtraBold"/>
              </a:rPr>
              <a:t>Processador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45A8B1E-46F7-CD7A-20B4-6AA834432CB5}"/>
              </a:ext>
            </a:extLst>
          </p:cNvPr>
          <p:cNvSpPr txBox="1"/>
          <p:nvPr/>
        </p:nvSpPr>
        <p:spPr>
          <a:xfrm>
            <a:off x="1526491" y="3063875"/>
            <a:ext cx="1691184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Processador (CPU - Central </a:t>
            </a:r>
            <a:r>
              <a:rPr lang="pt-BR" sz="4000" b="1" dirty="0" err="1"/>
              <a:t>Processing</a:t>
            </a:r>
            <a:r>
              <a:rPr lang="pt-BR" sz="4000" b="1" dirty="0"/>
              <a:t> Unit)</a:t>
            </a:r>
          </a:p>
          <a:p>
            <a:endParaRPr lang="pt-BR" sz="4000" b="1" dirty="0"/>
          </a:p>
          <a:p>
            <a:r>
              <a:rPr lang="pt-BR" sz="4000" b="1" dirty="0"/>
              <a:t>	</a:t>
            </a:r>
            <a:r>
              <a:rPr lang="pt-BR" sz="4000" dirty="0"/>
              <a:t>Considerado o "cérebro" do computador, realiza todos os cálculos e processa as instruções dos programas. Sua velocidade é medida em GHz (</a:t>
            </a:r>
            <a:r>
              <a:rPr lang="pt-BR" sz="4000" dirty="0" err="1"/>
              <a:t>gigahertz</a:t>
            </a:r>
            <a:r>
              <a:rPr lang="pt-BR" sz="4000" dirty="0"/>
              <a:t>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</p:txBody>
      </p:sp>
      <p:pic>
        <p:nvPicPr>
          <p:cNvPr id="2" name="Imagem 1" descr="Aprenda como atualizar o processador Intel do seu computador">
            <a:extLst>
              <a:ext uri="{FF2B5EF4-FFF2-40B4-BE49-F238E27FC236}">
                <a16:creationId xmlns:a16="http://schemas.microsoft.com/office/drawing/2014/main" id="{7BC24C1B-F16B-5BBF-B768-B5CD69791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650" y="6756257"/>
            <a:ext cx="5598583" cy="3732389"/>
          </a:xfrm>
          <a:prstGeom prst="rect">
            <a:avLst/>
          </a:prstGeom>
        </p:spPr>
      </p:pic>
      <p:pic>
        <p:nvPicPr>
          <p:cNvPr id="8" name="Imagem 7" descr="Processador AMD Ryzen 9 5900XT, 16 Cores, 32 Threads, 4.8GHz Boost, AM4,  Sem Vídeo, 100-100001581WOF">
            <a:extLst>
              <a:ext uri="{FF2B5EF4-FFF2-40B4-BE49-F238E27FC236}">
                <a16:creationId xmlns:a16="http://schemas.microsoft.com/office/drawing/2014/main" id="{9BD75EA1-EECE-AB42-59FA-CDBA901B7E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1665" y="6143530"/>
            <a:ext cx="4955235" cy="495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0397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A185A-E072-371A-E2F8-EA6CF77B0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A078A823-F7DF-09E0-89B3-F9917CB5CF1B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0F46631-687B-9504-EBE1-617AE0BE24B1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4124C14-21E5-32F4-AB21-18361C0720FB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C2CF2A1-BF1D-EE46-2F3A-7441DD682F31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6693A95-E49A-6987-39CF-3F3193CBE30A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D8FF0D10-3F37-8246-9333-1965079FD0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1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 panose="00000900000000000000" pitchFamily="2" charset="0"/>
                <a:cs typeface="Montserrat ExtraBold"/>
              </a:rPr>
              <a:t>Processador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45CD2FF-AD11-04A2-D7F5-F7D62B7A334F}"/>
              </a:ext>
            </a:extLst>
          </p:cNvPr>
          <p:cNvSpPr txBox="1"/>
          <p:nvPr/>
        </p:nvSpPr>
        <p:spPr>
          <a:xfrm>
            <a:off x="1526491" y="2529178"/>
            <a:ext cx="16911842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Núcleos (Cores)</a:t>
            </a:r>
          </a:p>
          <a:p>
            <a:r>
              <a:rPr lang="pt-BR" sz="4000" dirty="0"/>
              <a:t>	</a:t>
            </a:r>
          </a:p>
          <a:p>
            <a:r>
              <a:rPr lang="pt-BR" sz="4000" dirty="0"/>
              <a:t>	Os núcleos são unidades independentes de processamento dentro da CPU.</a:t>
            </a:r>
          </a:p>
          <a:p>
            <a:r>
              <a:rPr lang="pt-BR" sz="4000" dirty="0"/>
              <a:t>Quanto maior o número de núcleos, maior a capacidade de executar várias tarefas simultaneamente.</a:t>
            </a:r>
          </a:p>
          <a:p>
            <a:endParaRPr lang="pt-BR" sz="4000" dirty="0"/>
          </a:p>
          <a:p>
            <a:r>
              <a:rPr lang="pt-BR" sz="4000" b="1" dirty="0"/>
              <a:t>Exemplos</a:t>
            </a:r>
            <a:r>
              <a:rPr lang="pt-BR" sz="4000" dirty="0"/>
              <a:t>: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Dual-Core (2 núcleos)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 err="1"/>
              <a:t>Quad</a:t>
            </a:r>
            <a:r>
              <a:rPr lang="pt-BR" sz="4000" dirty="0"/>
              <a:t>-Core (4 núcleos)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Hexa-Core (6 núcleos)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 err="1"/>
              <a:t>Octa</a:t>
            </a:r>
            <a:r>
              <a:rPr lang="pt-BR" sz="4000" dirty="0"/>
              <a:t>-Core (8 núcleos)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12, 16, 24 ou mais núcleos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</p:txBody>
      </p:sp>
      <p:pic>
        <p:nvPicPr>
          <p:cNvPr id="9" name="Imagem 8" descr="Processador com mais núcleos ou clock maior. O que é melhor? - Avell">
            <a:extLst>
              <a:ext uri="{FF2B5EF4-FFF2-40B4-BE49-F238E27FC236}">
                <a16:creationId xmlns:a16="http://schemas.microsoft.com/office/drawing/2014/main" id="{B393ECD0-B60B-9243-48B9-2A9C6F2BB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1642" y="5800140"/>
            <a:ext cx="9384217" cy="4113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7849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EC47D-AC27-8079-A84B-3815C156C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0044B31A-6329-225E-6FD3-B2C4BB21F384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46238FE-A244-01C9-348A-E5D0C89EA6BF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9F87B63-C67C-20D3-474B-AA4DA698D558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66F1F46-68B9-D600-70D3-C35C557368D2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DD0F540-0B46-C534-A5AB-E99B6F826382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9F88595A-4BBD-7139-BBC3-B4CD6A7D71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1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 panose="00000900000000000000" pitchFamily="2" charset="0"/>
                <a:cs typeface="Montserrat ExtraBold"/>
              </a:rPr>
              <a:t>Processador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305807C-F021-DD99-0A02-C15307159DA5}"/>
              </a:ext>
            </a:extLst>
          </p:cNvPr>
          <p:cNvSpPr txBox="1"/>
          <p:nvPr/>
        </p:nvSpPr>
        <p:spPr>
          <a:xfrm>
            <a:off x="1526491" y="2983984"/>
            <a:ext cx="16911842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Threads</a:t>
            </a:r>
          </a:p>
          <a:p>
            <a:endParaRPr lang="pt-BR" sz="4000" b="1" dirty="0"/>
          </a:p>
          <a:p>
            <a:r>
              <a:rPr lang="pt-BR" sz="4000" dirty="0"/>
              <a:t>	As threads representam a quantidade de tarefas que o processador pode executar ao mesmo tempo.</a:t>
            </a:r>
          </a:p>
          <a:p>
            <a:r>
              <a:rPr lang="pt-BR" sz="4000" dirty="0"/>
              <a:t>Alguns processadores possuem tecnologias que permitem dois fluxos de </a:t>
            </a:r>
          </a:p>
          <a:p>
            <a:r>
              <a:rPr lang="pt-BR" sz="4000" dirty="0"/>
              <a:t>execução por núcleo.</a:t>
            </a:r>
          </a:p>
          <a:p>
            <a:endParaRPr lang="pt-BR" sz="4000" dirty="0"/>
          </a:p>
          <a:p>
            <a:r>
              <a:rPr lang="pt-BR" sz="4000" b="1" dirty="0"/>
              <a:t>Exemplo</a:t>
            </a:r>
            <a:r>
              <a:rPr lang="pt-BR" sz="4000" dirty="0"/>
              <a:t>: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8 núcleos e 16 threads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</p:txBody>
      </p:sp>
      <p:pic>
        <p:nvPicPr>
          <p:cNvPr id="9" name="Imagem 8" descr="Processador com mais núcleos ou clock maior. O que é melhor? - Avell">
            <a:extLst>
              <a:ext uri="{FF2B5EF4-FFF2-40B4-BE49-F238E27FC236}">
                <a16:creationId xmlns:a16="http://schemas.microsoft.com/office/drawing/2014/main" id="{A078D90D-AE99-2D8F-9295-669E5C0E9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2946" y="6514837"/>
            <a:ext cx="9384217" cy="4113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4894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A4EFD-6856-6A60-78D3-E59F86D27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A771AD0D-2F5D-FBD0-4980-9F38F33560A6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B51C3F3-E5E9-45C6-58DC-663E0AE5E27C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935F98D-CBEA-1FC1-9157-937C344334C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EB4015C-3265-A344-312B-7C2C17755935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36C8D93-8FB1-2356-43B6-EAA948979BF4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E3E27CD9-6502-BD0E-79C1-F68B33FD01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1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 panose="00000900000000000000" pitchFamily="2" charset="0"/>
                <a:cs typeface="Montserrat ExtraBold"/>
              </a:rPr>
              <a:t>Processador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C98B0D7-0DF1-0C03-C93C-FB26052E4E79}"/>
              </a:ext>
            </a:extLst>
          </p:cNvPr>
          <p:cNvSpPr txBox="1"/>
          <p:nvPr/>
        </p:nvSpPr>
        <p:spPr>
          <a:xfrm>
            <a:off x="1526491" y="2528530"/>
            <a:ext cx="16911842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Frequência (</a:t>
            </a:r>
            <a:r>
              <a:rPr lang="pt-BR" sz="4000" b="1" dirty="0" err="1"/>
              <a:t>Clock</a:t>
            </a:r>
            <a:r>
              <a:rPr lang="pt-BR" sz="4000" b="1" dirty="0"/>
              <a:t>)</a:t>
            </a:r>
          </a:p>
          <a:p>
            <a:endParaRPr lang="pt-BR" sz="2400" dirty="0"/>
          </a:p>
          <a:p>
            <a:r>
              <a:rPr lang="pt-BR" sz="4000" dirty="0"/>
              <a:t>	É a velocidade de funcionamento do processador.</a:t>
            </a:r>
          </a:p>
          <a:p>
            <a:endParaRPr lang="pt-BR" sz="2000" dirty="0"/>
          </a:p>
          <a:p>
            <a:r>
              <a:rPr lang="pt-BR" sz="4000" dirty="0"/>
              <a:t>	É medida em </a:t>
            </a:r>
            <a:r>
              <a:rPr lang="pt-BR" sz="4000" b="1" dirty="0"/>
              <a:t>GHz (</a:t>
            </a:r>
            <a:r>
              <a:rPr lang="pt-BR" sz="4000" b="1" dirty="0" err="1"/>
              <a:t>Gigahertz</a:t>
            </a:r>
            <a:r>
              <a:rPr lang="pt-BR" sz="4000" b="1" dirty="0"/>
              <a:t>)</a:t>
            </a:r>
            <a:r>
              <a:rPr lang="pt-BR" sz="4000" dirty="0"/>
              <a:t>.</a:t>
            </a:r>
          </a:p>
          <a:p>
            <a:endParaRPr lang="pt-BR" sz="4000" dirty="0"/>
          </a:p>
          <a:p>
            <a:r>
              <a:rPr lang="pt-BR" sz="4000" dirty="0"/>
              <a:t>Exemplos: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3,2 GHz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4,0 GHz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5,4 GHz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r>
              <a:rPr lang="pt-BR" sz="4000" dirty="0"/>
              <a:t>Quanto maior a frequência, maior tende a ser a velocidade de execução das instruções, embora o desempenho também dependa da arquitetura do processador.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451768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46FC5-3244-3E8D-266C-0ADFEBB76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10D9E316-0948-3984-8754-9AA18D0CCE21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DF97DDC-2625-6123-E777-409B893C4F11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4E0BCDE-19BE-C40A-8399-E9072E2970D9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4F061A98-6505-8C07-A222-C247791E12C4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524F402-9D1B-5A47-5928-728C08B8FB40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58579FFE-8282-6393-5557-343C496B32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1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 panose="00000900000000000000" pitchFamily="2" charset="0"/>
                <a:cs typeface="Montserrat ExtraBold"/>
              </a:rPr>
              <a:t>Processador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96CD1C2-3EFD-985C-1363-9123B114D371}"/>
              </a:ext>
            </a:extLst>
          </p:cNvPr>
          <p:cNvSpPr txBox="1"/>
          <p:nvPr/>
        </p:nvSpPr>
        <p:spPr>
          <a:xfrm>
            <a:off x="1526491" y="2838519"/>
            <a:ext cx="16911842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Memória Cache</a:t>
            </a:r>
          </a:p>
          <a:p>
            <a:endParaRPr lang="pt-BR" sz="4000" dirty="0"/>
          </a:p>
          <a:p>
            <a:r>
              <a:rPr lang="pt-BR" sz="4000" dirty="0"/>
              <a:t>	É uma memória muito rápida localizada dentro do processador.</a:t>
            </a:r>
          </a:p>
          <a:p>
            <a:r>
              <a:rPr lang="pt-BR" sz="4000" dirty="0"/>
              <a:t>Sua função é armazenar dados frequentemente utilizados para reduzir o tempo de acesso à memória RAM.</a:t>
            </a:r>
          </a:p>
          <a:p>
            <a:endParaRPr lang="pt-BR" sz="4000" dirty="0"/>
          </a:p>
          <a:p>
            <a:r>
              <a:rPr lang="pt-BR" sz="4000" b="1" dirty="0"/>
              <a:t>Tipos</a:t>
            </a:r>
            <a:r>
              <a:rPr lang="pt-BR" sz="4000" dirty="0"/>
              <a:t>: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Cache L1 (mais rápida e menor)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Cache L2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Cache L3 (maior capacidade)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</p:txBody>
      </p:sp>
      <p:pic>
        <p:nvPicPr>
          <p:cNvPr id="2" name="Imagem 1" descr="Memória cache: o que é, como funciona e cache vs RAM! – Insights para te  ajudar na carreira em tecnologia | Blog da Trybe">
            <a:extLst>
              <a:ext uri="{FF2B5EF4-FFF2-40B4-BE49-F238E27FC236}">
                <a16:creationId xmlns:a16="http://schemas.microsoft.com/office/drawing/2014/main" id="{4BB32129-BA5D-6716-08D4-86F28AA07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2850" y="5654675"/>
            <a:ext cx="4473753" cy="507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0922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04F4A-9C8C-9203-C97F-F7AE0DBAF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8734BF9C-DAAA-D4EB-C02C-0D83E871780D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AF483B6-9737-4B66-5CA2-9ED21E49B85D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5CB553F-FBC1-0C53-1364-50BFF722FDBB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FE799E66-9455-46C4-55AA-E09D6B411472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8A41BD5-E628-2284-DA5E-EC45E081F8EE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868423C-B689-CD9A-E476-D6C3CC50C0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1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 panose="00000900000000000000" pitchFamily="2" charset="0"/>
                <a:cs typeface="Montserrat ExtraBold"/>
              </a:rPr>
              <a:t>Processador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D45478A-758D-76B0-D970-CC8D9BA8E3F3}"/>
              </a:ext>
            </a:extLst>
          </p:cNvPr>
          <p:cNvSpPr txBox="1"/>
          <p:nvPr/>
        </p:nvSpPr>
        <p:spPr>
          <a:xfrm>
            <a:off x="1526491" y="2838519"/>
            <a:ext cx="16911842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Socket</a:t>
            </a:r>
          </a:p>
          <a:p>
            <a:endParaRPr lang="pt-BR" sz="4000" b="1" dirty="0"/>
          </a:p>
          <a:p>
            <a:r>
              <a:rPr lang="pt-BR" sz="4000" dirty="0"/>
              <a:t>	É o tipo de encaixe utilizado para conectar o processador à </a:t>
            </a:r>
            <a:r>
              <a:rPr lang="pt-BR" sz="4000" dirty="0" err="1"/>
              <a:t>placa-mãe</a:t>
            </a:r>
            <a:r>
              <a:rPr lang="pt-BR" sz="4000" dirty="0"/>
              <a:t>.</a:t>
            </a:r>
          </a:p>
          <a:p>
            <a:endParaRPr lang="pt-BR" sz="4000" dirty="0"/>
          </a:p>
          <a:p>
            <a:r>
              <a:rPr lang="pt-BR" sz="4000" b="1" dirty="0"/>
              <a:t>Exemplos</a:t>
            </a:r>
            <a:r>
              <a:rPr lang="pt-BR" sz="4000" dirty="0"/>
              <a:t>: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Intel LGA 1700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AMD AM4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AMD AM5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r>
              <a:rPr lang="pt-BR" sz="4000" b="1" dirty="0">
                <a:solidFill>
                  <a:srgbClr val="FF0000"/>
                </a:solidFill>
              </a:rPr>
              <a:t>O socket da CPU deve ser compatível com o da </a:t>
            </a:r>
            <a:r>
              <a:rPr lang="pt-BR" sz="4000" b="1" dirty="0" err="1">
                <a:solidFill>
                  <a:srgbClr val="FF0000"/>
                </a:solidFill>
              </a:rPr>
              <a:t>placa-mãe</a:t>
            </a:r>
            <a:r>
              <a:rPr lang="pt-BR" sz="4000" b="1" dirty="0">
                <a:solidFill>
                  <a:srgbClr val="FF0000"/>
                </a:solidFill>
              </a:rPr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06D8159-5557-A08E-832D-2A3B8C1FF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7450" y="4965229"/>
            <a:ext cx="5772149" cy="3841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0286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CE169-0244-03A0-E180-5E8DF0463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E0814FE-CC5A-223C-62D0-670EB5F61869}"/>
              </a:ext>
            </a:extLst>
          </p:cNvPr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30FBC48-7910-D081-15DA-9D6B7BC6120A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EB5C48A-BB15-54DE-8A88-F0129223904B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05A58F6-C196-CC1B-42D9-A82D4C23D97B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D4C3E8E-0647-ABA6-C41F-E3DC69938D40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B7995DC-8044-491A-DDFC-EE38BAF6212A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39471ACE-E2BF-52DA-609D-5D23BDD5FFEE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834A2676-4005-AB9D-6A3A-B9C5DD9FF5EF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1FECDBA6-D6B8-A9A3-CC63-A75928F0F447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763D9249-8E46-0619-CE96-DBF05901619E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5B4F5A2F-23C0-CB31-7DF3-638E67D268CE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AC220023-9DCC-4C0C-8149-7FDC5048C3D2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B1618201-3607-4AD2-2311-BC6AD3D552A4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117D290-036B-82FB-DC4E-790F31DCB379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349B9765-DC5C-06D4-367C-E9FC5FD87D9E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FFA4A3FA-4B8D-4977-5A72-3CEBA6A6C833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9A1A86C4-4AAB-B843-ABA4-FF889D800E9F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A6DD9CB6-469F-6215-D04F-9E8742932D6A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DD4B5768-BEFE-C9D8-D50C-AB5C5223B3A7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2E468CA4-56BA-37A0-5F0C-903FFA91EC58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EB4CF61E-0CEC-DE4D-3EB5-EBC128A1CE7A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97B454F8-5C09-299A-CCCD-FE79BE7F0C0A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52FE9206-20BD-6317-231D-6549EB365794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FEADF822-E3F9-25F7-3481-2556F541416A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E78B0AAA-CECB-6B04-100E-D6F84600EFF7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2D733C8F-F0A3-CEC5-CC37-FC1377547B72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F561AE32-6704-764D-185D-00AB51B936DD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A1B30187-A875-0688-D117-A3986CC4C90B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B2515AD9-C24D-EDFA-34CA-1D27F140D0B0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3CDBF6C7-3B0F-E589-891E-3A5F6258B1AF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384680C0-68A2-3AB4-EC1E-ABBDB6D063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sp>
        <p:nvSpPr>
          <p:cNvPr id="32" name="object 71">
            <a:extLst>
              <a:ext uri="{FF2B5EF4-FFF2-40B4-BE49-F238E27FC236}">
                <a16:creationId xmlns:a16="http://schemas.microsoft.com/office/drawing/2014/main" id="{95143CF8-195F-C5A5-17A9-D28D755B9B55}"/>
              </a:ext>
            </a:extLst>
          </p:cNvPr>
          <p:cNvSpPr txBox="1">
            <a:spLocks/>
          </p:cNvSpPr>
          <p:nvPr/>
        </p:nvSpPr>
        <p:spPr>
          <a:xfrm>
            <a:off x="1343689" y="1395795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chemeClr val="bg1">
                    <a:lumMod val="85000"/>
                  </a:schemeClr>
                </a:solidFill>
                <a:latin typeface="Montserrat ExtraBold"/>
                <a:cs typeface="Montserrat ExtraBold"/>
              </a:rPr>
              <a:t>Processador</a:t>
            </a:r>
          </a:p>
        </p:txBody>
      </p:sp>
      <p:pic>
        <p:nvPicPr>
          <p:cNvPr id="33" name="Imagem 32" descr="Plano de fundo de tecnologia futurista CPU, processador de circuito,  processo de potência, placa de transmissão de dados, Animação gráfica  Incluindo: tecnologia e computador - Envato">
            <a:extLst>
              <a:ext uri="{FF2B5EF4-FFF2-40B4-BE49-F238E27FC236}">
                <a16:creationId xmlns:a16="http://schemas.microsoft.com/office/drawing/2014/main" id="{24460D67-C922-6C52-415C-B0F822C3E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8973" y="3124178"/>
            <a:ext cx="12246153" cy="6882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6423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C0002-E94D-5E82-1F69-99CB6B93E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ABA7DAD4-36B2-3164-68F1-92199163041A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65AF6D5-0DC8-8D05-7D87-4736BAEF3D96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15E845A-36CD-B8E9-8F03-2B67B70B84B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C8824D4-6421-331C-AD02-943F89E9374D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A6D8624-3E0A-A951-EED5-3143C7ECAE9E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BB79A315-9C53-55A7-4251-14558DBFA3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5400" b="1" spc="-15" dirty="0">
                <a:latin typeface="Montserrat ExtraBold" panose="00000900000000000000" pitchFamily="2" charset="0"/>
                <a:cs typeface="Montserrat ExtraBold"/>
              </a:rPr>
              <a:t>Memória RAM</a:t>
            </a: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EFE5A07-1014-88FE-EF2C-260417C76C0C}"/>
              </a:ext>
            </a:extLst>
          </p:cNvPr>
          <p:cNvSpPr txBox="1"/>
          <p:nvPr/>
        </p:nvSpPr>
        <p:spPr>
          <a:xfrm>
            <a:off x="1526490" y="2682875"/>
            <a:ext cx="1698376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4000" b="1" dirty="0"/>
          </a:p>
          <a:p>
            <a:r>
              <a:rPr lang="pt-BR" sz="4000" b="1" dirty="0"/>
              <a:t>	</a:t>
            </a:r>
            <a:r>
              <a:rPr lang="pt-BR" sz="4000" dirty="0"/>
              <a:t>A</a:t>
            </a:r>
            <a:r>
              <a:rPr lang="pt-BR" sz="4000" b="1" dirty="0"/>
              <a:t> memória RAM (Random Access </a:t>
            </a:r>
            <a:r>
              <a:rPr lang="pt-BR" sz="4000" b="1" dirty="0" err="1"/>
              <a:t>Memory</a:t>
            </a:r>
            <a:r>
              <a:rPr lang="pt-BR" sz="4000" b="1" dirty="0"/>
              <a:t>) </a:t>
            </a:r>
            <a:r>
              <a:rPr lang="pt-BR" sz="4000" dirty="0"/>
              <a:t>é a memória principal do computador responsável por armazenar temporariamente os dados (</a:t>
            </a:r>
            <a:r>
              <a:rPr lang="pt-BR" sz="4000" b="1" dirty="0"/>
              <a:t>Volátil</a:t>
            </a:r>
            <a:r>
              <a:rPr lang="pt-BR" sz="4000" dirty="0"/>
              <a:t>)  e programas que estão sendo utilizados pelo processador. Ela permite acesso rápido às informações, contribuindo diretamente para o desempenho do sistema.</a:t>
            </a:r>
          </a:p>
          <a:p>
            <a:endParaRPr lang="pt-BR" sz="4000" dirty="0"/>
          </a:p>
        </p:txBody>
      </p:sp>
      <p:pic>
        <p:nvPicPr>
          <p:cNvPr id="2" name="Imagem 1" descr="Melhor memória RAM para comprar | Guia do TudoCelular - Tudocelular.com">
            <a:extLst>
              <a:ext uri="{FF2B5EF4-FFF2-40B4-BE49-F238E27FC236}">
                <a16:creationId xmlns:a16="http://schemas.microsoft.com/office/drawing/2014/main" id="{A9D27B56-80EF-74A0-27AF-1FFA1D423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354" y="6601391"/>
            <a:ext cx="4406195" cy="3965576"/>
          </a:xfrm>
          <a:prstGeom prst="rect">
            <a:avLst/>
          </a:prstGeom>
        </p:spPr>
      </p:pic>
      <p:pic>
        <p:nvPicPr>
          <p:cNvPr id="8" name="Imagem 7" descr="Memória RAM DDR4 Spectrum Blitz 8GB 3200MHz Preto | Terabyte">
            <a:extLst>
              <a:ext uri="{FF2B5EF4-FFF2-40B4-BE49-F238E27FC236}">
                <a16:creationId xmlns:a16="http://schemas.microsoft.com/office/drawing/2014/main" id="{7ADE802A-027F-65B8-7C5E-300E48A020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5050" y="6005714"/>
            <a:ext cx="4853516" cy="4853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7456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3ED67-8906-F524-C47A-95770AD10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625B6A4E-88BB-F0B9-F9CB-35839C6134D8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C2FDFDE-F933-E1E5-6191-88647B1727D4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7A3F70D-6A81-A6D9-F0A0-0DAC2FA8C87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4454193D-655C-9803-6EFB-8B2CF224BF89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B015F14-7457-24C1-1A84-B5FA369DBFE5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66479125-D70D-6821-B672-60B296BDB9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5400" b="1" spc="-15" dirty="0">
                <a:latin typeface="Montserrat ExtraBold" panose="00000900000000000000" pitchFamily="2" charset="0"/>
                <a:cs typeface="Montserrat ExtraBold"/>
              </a:rPr>
              <a:t>Memória RAM</a:t>
            </a: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8C93252-EC87-D172-0A30-A13B9CD14C96}"/>
              </a:ext>
            </a:extLst>
          </p:cNvPr>
          <p:cNvSpPr txBox="1"/>
          <p:nvPr/>
        </p:nvSpPr>
        <p:spPr>
          <a:xfrm>
            <a:off x="1526490" y="2513303"/>
            <a:ext cx="16983760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Capacidade</a:t>
            </a:r>
          </a:p>
          <a:p>
            <a:endParaRPr lang="pt-BR" sz="2400" dirty="0"/>
          </a:p>
          <a:p>
            <a:r>
              <a:rPr lang="pt-BR" sz="4000" dirty="0"/>
              <a:t>	É a quantidade de dados que a memória pode armazenar temporariamente.</a:t>
            </a:r>
          </a:p>
          <a:p>
            <a:r>
              <a:rPr lang="pt-BR" sz="4000" dirty="0"/>
              <a:t>	É medida em </a:t>
            </a:r>
            <a:r>
              <a:rPr lang="pt-BR" sz="4000" b="1" dirty="0"/>
              <a:t>Gigabytes (GB)</a:t>
            </a:r>
            <a:r>
              <a:rPr lang="pt-BR" sz="4000" dirty="0"/>
              <a:t>.</a:t>
            </a:r>
          </a:p>
          <a:p>
            <a:endParaRPr lang="pt-BR" sz="3200" dirty="0"/>
          </a:p>
          <a:p>
            <a:r>
              <a:rPr lang="pt-BR" sz="4000" b="1" dirty="0"/>
              <a:t>Exemplos: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4 GB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8 GB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16 GB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32 GB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64 GB ou mais </a:t>
            </a:r>
          </a:p>
          <a:p>
            <a:endParaRPr lang="pt-BR" sz="4000" dirty="0"/>
          </a:p>
          <a:p>
            <a:r>
              <a:rPr lang="pt-BR" sz="4000" dirty="0"/>
              <a:t>Quanto maior a capacidade, mais programas e arquivos podem ser utilizados simultaneamente.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40172120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4C565-0FD3-6A61-C944-99E7486DB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3310B455-599A-FD5E-7B7C-BC7EC0958958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CFB5DE6-0C19-59E7-9109-867389E8662A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B2A8BB0-798D-04B4-752E-0189F3ED607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9E13E04-9088-2311-5CFA-A602A2C0813D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C86DFE4-0471-E1A9-3C9A-CD1EBFFE58F0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B7FC801D-D5B3-FB2B-346E-40705469D0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5400" b="1" spc="-15" dirty="0">
                <a:latin typeface="Montserrat ExtraBold" panose="00000900000000000000" pitchFamily="2" charset="0"/>
                <a:cs typeface="Montserrat ExtraBold"/>
              </a:rPr>
              <a:t>Memória RAM</a:t>
            </a: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6BEDF79-FB1C-986A-5283-9F26EB3CA813}"/>
              </a:ext>
            </a:extLst>
          </p:cNvPr>
          <p:cNvSpPr txBox="1"/>
          <p:nvPr/>
        </p:nvSpPr>
        <p:spPr>
          <a:xfrm>
            <a:off x="1526490" y="2513303"/>
            <a:ext cx="16983760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Tipo de Memória</a:t>
            </a:r>
          </a:p>
          <a:p>
            <a:endParaRPr lang="pt-BR" sz="4000" b="1" dirty="0"/>
          </a:p>
          <a:p>
            <a:r>
              <a:rPr lang="pt-BR" sz="4000" dirty="0"/>
              <a:t>	Existem diferentes gerações de memória RAM, cada uma com maior 	velocidade e eficiência.</a:t>
            </a:r>
          </a:p>
          <a:p>
            <a:endParaRPr lang="pt-BR" sz="4000" dirty="0"/>
          </a:p>
          <a:p>
            <a:r>
              <a:rPr lang="pt-BR" sz="4000" dirty="0"/>
              <a:t>Os principais tipos são: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DDR3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DDR4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DDR5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r>
              <a:rPr lang="pt-BR" sz="4000" dirty="0"/>
              <a:t>	Cada geração possui características próprias e não é compatível fisicamente com as demais </a:t>
            </a:r>
            <a:r>
              <a:rPr lang="pt-BR" sz="4000" b="1" dirty="0">
                <a:solidFill>
                  <a:srgbClr val="FF0000"/>
                </a:solidFill>
              </a:rPr>
              <a:t>DEVEM SER COMPATIVEIS A PLACA-MÃE.</a:t>
            </a:r>
          </a:p>
          <a:p>
            <a:endParaRPr lang="pt-BR" sz="40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B5F6F90-BCFF-5211-096E-51106A18C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0586" y="4578217"/>
            <a:ext cx="6187024" cy="4573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6309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54F04-99F0-FD09-BA9F-94812F5AD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76A8BBE4-4D61-F23C-BDCE-22FB75F6BC41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2B96C76-B265-E571-5058-0851AB639D9D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0166600-7046-F399-F86C-2D7984D1DF0A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CDA0BF70-B8D3-FDED-04BC-8EABACD682D7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525A20E-9E3B-8ED5-B54F-3294837D47A9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5739BA0D-CB41-3E8D-186E-F8DB9259A3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5400" b="1" spc="-15" dirty="0">
                <a:latin typeface="Montserrat ExtraBold" panose="00000900000000000000" pitchFamily="2" charset="0"/>
                <a:cs typeface="Montserrat ExtraBold"/>
              </a:rPr>
              <a:t>Memória RAM</a:t>
            </a: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2A17605-06DD-B9C9-7220-645DD5CCBEE5}"/>
              </a:ext>
            </a:extLst>
          </p:cNvPr>
          <p:cNvSpPr txBox="1"/>
          <p:nvPr/>
        </p:nvSpPr>
        <p:spPr>
          <a:xfrm>
            <a:off x="1526490" y="2513303"/>
            <a:ext cx="16983760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Frequência</a:t>
            </a:r>
          </a:p>
          <a:p>
            <a:r>
              <a:rPr lang="pt-BR" sz="4000" dirty="0"/>
              <a:t>	A frequência determina a velocidade com que a memória transfere dados.</a:t>
            </a:r>
          </a:p>
          <a:p>
            <a:r>
              <a:rPr lang="pt-BR" sz="4000" dirty="0"/>
              <a:t>É medida em </a:t>
            </a:r>
            <a:r>
              <a:rPr lang="pt-BR" sz="4000" b="1" dirty="0"/>
              <a:t>MHz (</a:t>
            </a:r>
            <a:r>
              <a:rPr lang="pt-BR" sz="4000" b="1" dirty="0" err="1"/>
              <a:t>Megahertz</a:t>
            </a:r>
            <a:r>
              <a:rPr lang="pt-BR" sz="4000" b="1" dirty="0"/>
              <a:t>)</a:t>
            </a:r>
            <a:r>
              <a:rPr lang="pt-BR" sz="4000" dirty="0"/>
              <a:t> ou </a:t>
            </a:r>
            <a:r>
              <a:rPr lang="pt-BR" sz="4000" b="1" dirty="0"/>
              <a:t>MT/s (</a:t>
            </a:r>
            <a:r>
              <a:rPr lang="pt-BR" sz="4000" b="1" dirty="0" err="1"/>
              <a:t>Megatransfers</a:t>
            </a:r>
            <a:r>
              <a:rPr lang="pt-BR" sz="4000" b="1" dirty="0"/>
              <a:t> por segundo)</a:t>
            </a:r>
            <a:r>
              <a:rPr lang="pt-BR" sz="4000" dirty="0"/>
              <a:t>.</a:t>
            </a:r>
          </a:p>
          <a:p>
            <a:endParaRPr lang="pt-BR" sz="4000" dirty="0"/>
          </a:p>
          <a:p>
            <a:r>
              <a:rPr lang="pt-BR" sz="4000" b="1" dirty="0"/>
              <a:t>Exemplos: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DDR4-2666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DDR4-3200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DDR5-4800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DDR5-6000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r>
              <a:rPr lang="pt-BR" sz="4000" dirty="0"/>
              <a:t>	Em geral, frequências maiores proporcionam melhor desempenho, desde que sejam suportadas pela </a:t>
            </a:r>
            <a:r>
              <a:rPr lang="pt-BR" sz="4000" dirty="0" err="1"/>
              <a:t>placa-mãe</a:t>
            </a:r>
            <a:r>
              <a:rPr lang="pt-BR" sz="4000" dirty="0"/>
              <a:t> e pelo processador.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6828503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B4C1F-3D5D-5CC5-65A1-8235ECADD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40441ED-BBBC-3087-BC54-CE79FCC8B3B7}"/>
              </a:ext>
            </a:extLst>
          </p:cNvPr>
          <p:cNvSpPr/>
          <p:nvPr/>
        </p:nvSpPr>
        <p:spPr>
          <a:xfrm>
            <a:off x="2117" y="-378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E107C1E-B8B1-4936-BCD1-2B130FBF8785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FE2BD17-92F0-9A1B-4F65-E461FE7F4C2A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3A3AE7B-2519-F0A5-15D2-4BBE0F8BD94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C80D105E-7799-3BCB-3E04-887750C54653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F21EB90-9AC4-2F59-F1D5-4789DC19E6FB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7FBFE86-3AE0-D514-E961-19CBDE891A9C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4C80DDD6-1841-F1E8-99CC-B74225A26B0A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6B8A6138-FCD3-5C79-2070-F7D082895FD3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3A290127-1305-E36E-8C25-E760A0E084B8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C929B281-A262-4CB7-E41D-AA72EB9C5334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B6047972-7C1C-5997-BC4A-8D1F05046229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B3E1897C-DCAF-5591-E5BA-EDF079DC8709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59962307-B8F0-B3CB-EAF8-CEA66571C91D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27743291-386E-D455-EEF1-C150D0FC600A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E8EA53B2-9D6F-6E02-C68E-41254D33BEEF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B5401191-D078-0A51-6C80-16E908E3D9FC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43CBF115-2D8E-59E6-2F6D-6DD0DBCE51F3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509F7EC7-6B27-5DF7-E79B-6308F46E6EC7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EC8D48E2-BC0B-42AD-1C48-C4C177DFF5FC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CFB980D2-7FB8-422B-51E6-6DE83D4005D2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C6E30978-819F-D839-4868-3CEE0EE70BD7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1377C549-CDD2-E755-ABD0-5CB790C2BB01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29D221EB-7765-3D6B-4FD5-2E409EAFB983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97F9FC2B-0E81-FB50-0172-D134C077C7F8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9A16846B-BE08-6AE8-1985-34EE35F040B9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3017E1F8-71BF-B8F9-F92D-676F71B9E6BE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A2E67249-8775-6068-2625-1042E26E3373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12301FED-4285-2F77-853C-E5739B9591B0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E4005118-C091-6717-9B12-6A7674DE1D16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0BCEA8E9-5A39-0FF7-3989-7C1CAFA094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sp>
        <p:nvSpPr>
          <p:cNvPr id="32" name="object 71">
            <a:extLst>
              <a:ext uri="{FF2B5EF4-FFF2-40B4-BE49-F238E27FC236}">
                <a16:creationId xmlns:a16="http://schemas.microsoft.com/office/drawing/2014/main" id="{AF609C22-144A-7FB8-DFCA-CE265B0D3DE3}"/>
              </a:ext>
            </a:extLst>
          </p:cNvPr>
          <p:cNvSpPr txBox="1">
            <a:spLocks/>
          </p:cNvSpPr>
          <p:nvPr/>
        </p:nvSpPr>
        <p:spPr>
          <a:xfrm>
            <a:off x="1485782" y="1047088"/>
            <a:ext cx="13737560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chemeClr val="bg1">
                    <a:lumMod val="85000"/>
                  </a:schemeClr>
                </a:solidFill>
                <a:latin typeface="Montserrat ExtraBold"/>
                <a:cs typeface="Montserrat ExtraBold"/>
              </a:rPr>
              <a:t>Memória RAM</a:t>
            </a:r>
          </a:p>
        </p:txBody>
      </p:sp>
      <p:pic>
        <p:nvPicPr>
          <p:cNvPr id="33" name="Imagem 32" descr="Computer Memory 1080P, 2K, 4K, 5K HD wallpapers free download |  WallpaperFlare">
            <a:extLst>
              <a:ext uri="{FF2B5EF4-FFF2-40B4-BE49-F238E27FC236}">
                <a16:creationId xmlns:a16="http://schemas.microsoft.com/office/drawing/2014/main" id="{1C747E86-9B77-39C8-36B8-97F1D6616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2250" y="2935648"/>
            <a:ext cx="12039600" cy="752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0804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0AB4C-EF2E-A4DE-D402-27DCECE03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A7DCF29-2D8E-907F-F1E8-8F6A3279F1D3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6528264-E332-8D87-D63D-DC233908F609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B3793B9-3316-078B-CB58-81A8B429609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CB26C5B-BA35-062C-5146-2108678F0DC5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043227F-F82A-D800-644E-CD72D699DFB4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0660E14-4978-E3F0-34C6-3BA6E146E7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5400" b="1" dirty="0">
                <a:latin typeface="Montserrat ExtraBold" panose="00000900000000000000" pitchFamily="2" charset="0"/>
              </a:rPr>
              <a:t>Memória ROM</a:t>
            </a: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1E4005F-86D1-0F2C-75B4-DD4E72D64930}"/>
              </a:ext>
            </a:extLst>
          </p:cNvPr>
          <p:cNvSpPr txBox="1"/>
          <p:nvPr/>
        </p:nvSpPr>
        <p:spPr>
          <a:xfrm>
            <a:off x="1746250" y="2911475"/>
            <a:ext cx="16611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	A </a:t>
            </a:r>
            <a:r>
              <a:rPr lang="pt-BR" sz="4000" b="1" dirty="0"/>
              <a:t>memória ROM (</a:t>
            </a:r>
            <a:r>
              <a:rPr lang="pt-BR" sz="4000" b="1" dirty="0" err="1"/>
              <a:t>Read</a:t>
            </a:r>
            <a:r>
              <a:rPr lang="pt-BR" sz="4000" b="1" dirty="0"/>
              <a:t>-Only </a:t>
            </a:r>
            <a:r>
              <a:rPr lang="pt-BR" sz="4000" b="1" dirty="0" err="1"/>
              <a:t>Memory</a:t>
            </a:r>
            <a:r>
              <a:rPr lang="pt-BR" sz="4000" b="1" dirty="0"/>
              <a:t>) </a:t>
            </a:r>
            <a:r>
              <a:rPr lang="pt-BR" sz="4000" dirty="0"/>
              <a:t>é uma memória </a:t>
            </a:r>
            <a:r>
              <a:rPr lang="pt-BR" sz="4000" b="1" dirty="0"/>
              <a:t>não volátil </a:t>
            </a:r>
            <a:r>
              <a:rPr lang="pt-BR" sz="4000" dirty="0"/>
              <a:t>responsável por armazenar permanentemente informações essenciais para o funcionamento do computador, como o firmware de inicialização (BIOS/UEFI). Seu conteúdo é preservado mesmo quando o computador é desligado.</a:t>
            </a:r>
          </a:p>
        </p:txBody>
      </p:sp>
      <p:pic>
        <p:nvPicPr>
          <p:cNvPr id="2" name="Imagem 1" descr="Cómo arreglar un PC que entra en la BIOS cada vez que enciende">
            <a:extLst>
              <a:ext uri="{FF2B5EF4-FFF2-40B4-BE49-F238E27FC236}">
                <a16:creationId xmlns:a16="http://schemas.microsoft.com/office/drawing/2014/main" id="{8EFEF8A2-D2F0-44EA-2178-05D365EA0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9350" y="6124948"/>
            <a:ext cx="5105400" cy="382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4569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AA8B7-D77D-CAFF-759B-F5261324D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781EC94C-35B6-9962-7AF4-A0F17BD95E4C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3F5952F-573D-CFB5-D26C-57CBBEA25797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FE66FE1-18BC-BCD9-05DA-2C3AEB91EAF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FF6DB6F-D32F-44CC-B7AF-C7254CB833DA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4B7DBB4-7847-F45D-558C-246E592474F7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3F16C4A3-46C1-0E72-4CFC-277C3412C4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5400" b="1" dirty="0">
                <a:latin typeface="Montserrat ExtraBold" panose="00000900000000000000" pitchFamily="2" charset="0"/>
              </a:rPr>
              <a:t>Memória ROM</a:t>
            </a: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62CC6F4-62FF-7721-9127-9601A30EE1B0}"/>
              </a:ext>
            </a:extLst>
          </p:cNvPr>
          <p:cNvSpPr txBox="1"/>
          <p:nvPr/>
        </p:nvSpPr>
        <p:spPr>
          <a:xfrm>
            <a:off x="1746250" y="2911475"/>
            <a:ext cx="16611600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Armazenamento Permanente</a:t>
            </a:r>
          </a:p>
          <a:p>
            <a:endParaRPr lang="pt-BR" sz="4000" dirty="0"/>
          </a:p>
          <a:p>
            <a:r>
              <a:rPr lang="pt-BR" sz="4000" dirty="0"/>
              <a:t>	A </a:t>
            </a:r>
            <a:r>
              <a:rPr lang="pt-BR" sz="4000" b="1" dirty="0"/>
              <a:t>ROM</a:t>
            </a:r>
            <a:r>
              <a:rPr lang="pt-BR" sz="4000" dirty="0"/>
              <a:t> guarda instruções fundamentais para o funcionamento do 	equipamento.</a:t>
            </a:r>
          </a:p>
          <a:p>
            <a:endParaRPr lang="pt-BR" sz="4000" dirty="0"/>
          </a:p>
          <a:p>
            <a:r>
              <a:rPr lang="pt-BR" sz="4000" b="1" dirty="0"/>
              <a:t>Exemplos</a:t>
            </a:r>
            <a:r>
              <a:rPr lang="pt-BR" sz="4000" dirty="0"/>
              <a:t>: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BIOS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UEFI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Firmware de dispositivos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Rotinas de inicialização</a:t>
            </a:r>
          </a:p>
          <a:p>
            <a:endParaRPr lang="pt-BR" sz="4000" dirty="0"/>
          </a:p>
        </p:txBody>
      </p:sp>
      <p:pic>
        <p:nvPicPr>
          <p:cNvPr id="9" name="Imagem 8" descr="O que é Memória ROM (Memória Somente Leitura)?">
            <a:extLst>
              <a:ext uri="{FF2B5EF4-FFF2-40B4-BE49-F238E27FC236}">
                <a16:creationId xmlns:a16="http://schemas.microsoft.com/office/drawing/2014/main" id="{491C507C-7F32-3F9E-1962-F010E8F84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5450" y="5888698"/>
            <a:ext cx="5181600" cy="3893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9501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58A71-AD73-2DE0-6D2D-1EF3AE71F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A71A3191-0A66-3B66-EF62-9BE2CA76E096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9571ED3-1204-FF2F-2C0B-0A8782C8B4E0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D3AA730-8E93-C297-54A2-F19D57FF420C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68FA941-B363-C9C5-9526-5F2F9EE3AC49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43C3538-47F3-16DF-4BD3-6E9A3F554AC2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C9873F71-E663-50C0-B04A-D7A5891048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5400" b="1" dirty="0">
                <a:latin typeface="Montserrat ExtraBold" panose="00000900000000000000" pitchFamily="2" charset="0"/>
              </a:rPr>
              <a:t>Memória ROM</a:t>
            </a: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E3885AE-3ACF-3753-753E-E6A4E4C000EC}"/>
              </a:ext>
            </a:extLst>
          </p:cNvPr>
          <p:cNvSpPr txBox="1"/>
          <p:nvPr/>
        </p:nvSpPr>
        <p:spPr>
          <a:xfrm>
            <a:off x="1746250" y="2911475"/>
            <a:ext cx="16611600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Inicialização do Computador</a:t>
            </a:r>
          </a:p>
          <a:p>
            <a:r>
              <a:rPr lang="pt-BR" sz="4000" dirty="0"/>
              <a:t>	</a:t>
            </a:r>
          </a:p>
          <a:p>
            <a:r>
              <a:rPr lang="pt-BR" sz="4000" dirty="0"/>
              <a:t>	Quando o computador é ligado, a CPU executa as instruções armazenadas na ROM.</a:t>
            </a:r>
          </a:p>
          <a:p>
            <a:endParaRPr lang="pt-BR" sz="4000" dirty="0"/>
          </a:p>
          <a:p>
            <a:r>
              <a:rPr lang="pt-BR" sz="4000" b="1" dirty="0"/>
              <a:t>Essas instruções realizam tarefas como</a:t>
            </a:r>
            <a:r>
              <a:rPr lang="pt-BR" sz="4000" dirty="0"/>
              <a:t>: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Verificar os componentes do computador (POST)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Identificar dispositivos conectados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Localizar o sistema operacional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Iniciar o processo de boot 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9243164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1070E-22E6-D497-C8D1-5697A6189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149D258-D088-0EB9-5203-984BEE031A79}"/>
              </a:ext>
            </a:extLst>
          </p:cNvPr>
          <p:cNvSpPr/>
          <p:nvPr/>
        </p:nvSpPr>
        <p:spPr>
          <a:xfrm>
            <a:off x="2117" y="-378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916F6904-BDF1-F1A7-B4D3-B99B9880B7D7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C683D4E-A503-BFA4-A2D4-049595BF0BA1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7CDC96A-5BD3-D3AD-AFEC-274FE0DFAFB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C6696676-824B-16F6-F01C-0D395F77B23B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36E25B7-2B6D-0A5B-BB43-D14258CBCF84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EC8A8B7F-96FA-B95E-E706-58993F3AF8A7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E2BF97CA-C737-D73E-D2A8-5D211A71EF11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60DFA5EE-F173-AE2B-DE6C-E8668F0BFFC5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FBA57F24-77DF-100A-56EF-17CFBFC4FB7E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D0BD35BB-FF77-49C7-B4B8-F9A8157E1C78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6431A31D-96C0-7041-EF20-C7080A240B7A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A47ED92B-F66B-66E8-8EFF-ADC605DA9FC7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2D5B2FF9-D52C-7C9D-71E2-409D148BC75C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371D5949-7304-35AF-5685-BC7DF7BC6539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BCB8DFAB-6C7A-0677-E03B-A0A3DF34EB7C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E19205BD-7DE4-B823-27B7-A3E9D56E0EF6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A0529DD5-4CEF-2CB0-4E5B-6F9576258906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44D0223E-9CB5-6B38-EF61-A1A7777602A8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911CE222-9F94-9752-0FAF-30862F36AF22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3BAB2640-C937-9FE9-C060-D559DA709BBE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B5619092-43BA-1EB3-CF96-410B734CF588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9D44C3A2-1C6B-548B-C344-3CEF466D6377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5B99020B-2FD3-3E24-8539-9E935EC2C3E7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75C19F16-9E43-CE39-16F8-EC13E614823C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FB4004A9-3C0E-CC09-B785-E01F07BFA1DD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873D9905-4722-883C-B36E-510C9CD8D977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7D0F3BB6-2BE5-9C24-81B3-356739B6A93C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4147BBBA-C54D-623E-39C8-6E5348943411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C06A49F6-0BB7-4695-4CF9-CD290950DD3B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88C03183-71BE-1201-60FF-6355EDF0F6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sp>
        <p:nvSpPr>
          <p:cNvPr id="32" name="object 71">
            <a:extLst>
              <a:ext uri="{FF2B5EF4-FFF2-40B4-BE49-F238E27FC236}">
                <a16:creationId xmlns:a16="http://schemas.microsoft.com/office/drawing/2014/main" id="{763FC2F0-911A-CD9E-C1A9-342BC890878C}"/>
              </a:ext>
            </a:extLst>
          </p:cNvPr>
          <p:cNvSpPr txBox="1">
            <a:spLocks/>
          </p:cNvSpPr>
          <p:nvPr/>
        </p:nvSpPr>
        <p:spPr>
          <a:xfrm>
            <a:off x="1485782" y="1047088"/>
            <a:ext cx="13737560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chemeClr val="bg1">
                    <a:lumMod val="85000"/>
                  </a:schemeClr>
                </a:solidFill>
                <a:latin typeface="Montserrat ExtraBold"/>
                <a:cs typeface="Montserrat ExtraBold"/>
              </a:rPr>
              <a:t>Memória ROM</a:t>
            </a:r>
          </a:p>
        </p:txBody>
      </p:sp>
      <p:pic>
        <p:nvPicPr>
          <p:cNvPr id="34" name="Imagem 33" descr="O que é memória ROM? - Canaltech">
            <a:extLst>
              <a:ext uri="{FF2B5EF4-FFF2-40B4-BE49-F238E27FC236}">
                <a16:creationId xmlns:a16="http://schemas.microsoft.com/office/drawing/2014/main" id="{D05CC107-E238-40EF-9102-4D2811D2A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250" y="3494894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8876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6F497-EC65-FA6F-7040-F54AF5322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FECDA763-4BE5-57D4-86F2-86729C0C7AE4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2A4872D-B317-1C8C-5DE1-42E2F58E9DEF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AFE70AF-EAE6-1982-AA50-192E20D44F1F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DFE9513-9782-5AC1-BDA4-F00BEE59D481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A6AF1F3-7DFE-A456-8184-BF63AD33889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0025F363-B9B2-064D-814B-566BED4777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66235" y="1167618"/>
            <a:ext cx="13478560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 panose="00000900000000000000" pitchFamily="2" charset="0"/>
                <a:cs typeface="Montserrat ExtraBold"/>
              </a:rPr>
              <a:t>Armazenamento – HD (HARD DISK)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51B585C-A754-5FBD-8831-09CAF8957233}"/>
              </a:ext>
            </a:extLst>
          </p:cNvPr>
          <p:cNvSpPr txBox="1"/>
          <p:nvPr/>
        </p:nvSpPr>
        <p:spPr>
          <a:xfrm>
            <a:off x="1485285" y="2835275"/>
            <a:ext cx="16983760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HD (HDD – Hard Disk Drive)</a:t>
            </a:r>
          </a:p>
          <a:p>
            <a:endParaRPr lang="pt-BR" sz="4000" dirty="0"/>
          </a:p>
          <a:p>
            <a:r>
              <a:rPr lang="pt-BR" sz="4000" dirty="0"/>
              <a:t>Utiliza discos magnéticos giratórios.</a:t>
            </a:r>
          </a:p>
          <a:p>
            <a:endParaRPr lang="pt-BR" sz="4000" dirty="0"/>
          </a:p>
          <a:p>
            <a:r>
              <a:rPr lang="pt-BR" sz="4000" b="1" dirty="0"/>
              <a:t>Características: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Maior capacidade por menor custo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Mais lento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Possui partes mecânicas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Maior consumo de energia</a:t>
            </a:r>
          </a:p>
          <a:p>
            <a:endParaRPr lang="pt-BR" sz="4000" dirty="0"/>
          </a:p>
          <a:p>
            <a:r>
              <a:rPr lang="pt-BR" sz="4000" b="1" dirty="0"/>
              <a:t>Velocidades comuns: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5400 RPM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7200 RPM</a:t>
            </a:r>
          </a:p>
          <a:p>
            <a:endParaRPr lang="pt-BR" sz="4000" dirty="0"/>
          </a:p>
        </p:txBody>
      </p:sp>
      <p:pic>
        <p:nvPicPr>
          <p:cNvPr id="8" name="Picture 2" descr="4 vantagens de um PC com SSD em relação a um com HD convencional - TecMundo">
            <a:extLst>
              <a:ext uri="{FF2B5EF4-FFF2-40B4-BE49-F238E27FC236}">
                <a16:creationId xmlns:a16="http://schemas.microsoft.com/office/drawing/2014/main" id="{7FC756C7-71A1-087C-D932-BD7CB3D8C8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0244" y="3438640"/>
            <a:ext cx="10189101" cy="6554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00217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A9DA2-14A7-275F-4307-CEED4C7C2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23866576-F39A-DD24-250C-663ADDD5CF5C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F1DF2F4-8F3E-DACD-66A0-D2D46331C20E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E00F51B-D4FC-A178-0F4F-28246B5CB4A8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43483DE2-FB52-2407-E686-C352D32E6EEC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3C17A4D-14A6-B0E2-D45D-AA85BE1D973D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F64E99B4-D975-C77C-D854-88BEEA2A23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66234" y="1167618"/>
            <a:ext cx="13897699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 panose="00000900000000000000" pitchFamily="2" charset="0"/>
                <a:cs typeface="Montserrat ExtraBold"/>
              </a:rPr>
              <a:t>Armazenamento - SSD</a:t>
            </a:r>
            <a:br>
              <a:rPr lang="pt-BR" sz="5400" b="1" dirty="0"/>
            </a:b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9A3B51D-6ED3-4084-6E5E-1B2B0641752C}"/>
              </a:ext>
            </a:extLst>
          </p:cNvPr>
          <p:cNvSpPr txBox="1"/>
          <p:nvPr/>
        </p:nvSpPr>
        <p:spPr>
          <a:xfrm>
            <a:off x="1476684" y="2599273"/>
            <a:ext cx="16983760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SSD (</a:t>
            </a:r>
            <a:r>
              <a:rPr lang="pt-BR" sz="4000" b="1" dirty="0" err="1"/>
              <a:t>Solid</a:t>
            </a:r>
            <a:r>
              <a:rPr lang="pt-BR" sz="4000" b="1" dirty="0"/>
              <a:t> </a:t>
            </a:r>
            <a:r>
              <a:rPr lang="pt-BR" sz="4000" b="1" dirty="0" err="1"/>
              <a:t>State</a:t>
            </a:r>
            <a:r>
              <a:rPr lang="pt-BR" sz="4000" b="1" dirty="0"/>
              <a:t> Drive)</a:t>
            </a:r>
          </a:p>
          <a:p>
            <a:r>
              <a:rPr lang="pt-BR" sz="4000" dirty="0"/>
              <a:t>	</a:t>
            </a:r>
          </a:p>
          <a:p>
            <a:r>
              <a:rPr lang="pt-BR" sz="4000" dirty="0"/>
              <a:t>Utiliza memória flash, sem partes móveis.</a:t>
            </a:r>
          </a:p>
          <a:p>
            <a:endParaRPr lang="pt-BR" sz="4000" dirty="0"/>
          </a:p>
          <a:p>
            <a:r>
              <a:rPr lang="pt-BR" sz="4000" b="1" dirty="0"/>
              <a:t>Características: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Muito mais rápido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Silencioso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Menor consumo de energia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Mais resistente a impactos</a:t>
            </a:r>
          </a:p>
          <a:p>
            <a:endParaRPr lang="pt-BR" sz="4000" dirty="0"/>
          </a:p>
          <a:p>
            <a:r>
              <a:rPr lang="pt-BR" sz="4000" b="1" dirty="0"/>
              <a:t>Tipos</a:t>
            </a:r>
            <a:r>
              <a:rPr lang="pt-BR" sz="4000" dirty="0"/>
              <a:t>: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SSD SATA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SSD </a:t>
            </a:r>
            <a:r>
              <a:rPr lang="pt-BR" sz="4000" dirty="0" err="1"/>
              <a:t>NVMe</a:t>
            </a:r>
            <a:r>
              <a:rPr lang="pt-BR" sz="4000" dirty="0"/>
              <a:t> (M.2)</a:t>
            </a:r>
          </a:p>
          <a:p>
            <a:endParaRPr lang="pt-BR" sz="4000" dirty="0"/>
          </a:p>
        </p:txBody>
      </p:sp>
      <p:pic>
        <p:nvPicPr>
          <p:cNvPr id="2" name="Imagem 1" descr="Conheça os 03 tipos de SSDs e quais suas diferenças - Netlogs TI">
            <a:extLst>
              <a:ext uri="{FF2B5EF4-FFF2-40B4-BE49-F238E27FC236}">
                <a16:creationId xmlns:a16="http://schemas.microsoft.com/office/drawing/2014/main" id="{73EBD6E0-5644-A696-7C59-48994454C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8767" y="5253355"/>
            <a:ext cx="8907946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078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CEFF3-925D-1C44-A96C-D3BB04740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C722DA30-4A59-F41B-7A0B-58173ED98778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36410F5-007D-8E91-39BC-70A67455168C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DEF791B-4F49-197C-65DC-7E55132793FD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162A44F3-3DF7-5F43-E6AA-B92C80DD1A07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D536B23-997A-F470-FFB2-12C34F1DDE92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9A06D4D6-DF3B-ECC5-81F0-04196DCD2A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66234" y="1167618"/>
            <a:ext cx="13897699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 panose="00000900000000000000" pitchFamily="2" charset="0"/>
                <a:cs typeface="Montserrat ExtraBold"/>
              </a:rPr>
              <a:t>Armazenamento </a:t>
            </a:r>
            <a:br>
              <a:rPr lang="pt-BR" sz="5400" b="1" dirty="0"/>
            </a:b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F674650-DC06-F7FC-2BA8-3B919B66662C}"/>
              </a:ext>
            </a:extLst>
          </p:cNvPr>
          <p:cNvSpPr txBox="1"/>
          <p:nvPr/>
        </p:nvSpPr>
        <p:spPr>
          <a:xfrm>
            <a:off x="1476684" y="2599273"/>
            <a:ext cx="1698376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Velocidades:</a:t>
            </a:r>
          </a:p>
          <a:p>
            <a:endParaRPr lang="pt-BR" sz="4000" b="1" dirty="0"/>
          </a:p>
          <a:p>
            <a:r>
              <a:rPr lang="pt-BR" sz="4000" b="1" dirty="0"/>
              <a:t>HD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100 a 200 MB/s</a:t>
            </a:r>
          </a:p>
          <a:p>
            <a:endParaRPr lang="pt-BR" sz="4000" b="1" dirty="0"/>
          </a:p>
          <a:p>
            <a:r>
              <a:rPr lang="pt-BR" sz="4000" b="1" dirty="0"/>
              <a:t>SSD SATA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450 a 550 MB/s</a:t>
            </a:r>
          </a:p>
          <a:p>
            <a:endParaRPr lang="pt-BR" sz="4000" b="1" dirty="0"/>
          </a:p>
          <a:p>
            <a:r>
              <a:rPr lang="pt-BR" sz="4000" b="1" dirty="0"/>
              <a:t>SSD </a:t>
            </a:r>
            <a:r>
              <a:rPr lang="pt-BR" sz="4000" b="1" dirty="0" err="1"/>
              <a:t>NVMe</a:t>
            </a:r>
            <a:endParaRPr lang="pt-BR" sz="4000" b="1" dirty="0"/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4000" dirty="0"/>
              <a:t>3.000 MB/s ou mais</a:t>
            </a:r>
          </a:p>
          <a:p>
            <a:endParaRPr lang="pt-BR" sz="4000" dirty="0"/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8756351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D0D44-A196-F67C-DEC5-856252CA0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E55E7F8-A308-2AED-4111-A42436503FD5}"/>
              </a:ext>
            </a:extLst>
          </p:cNvPr>
          <p:cNvSpPr/>
          <p:nvPr/>
        </p:nvSpPr>
        <p:spPr>
          <a:xfrm>
            <a:off x="2117" y="-378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F9E2E07-A13F-8983-1855-98B6CA5631C1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75AE9BD-ABE9-D7AA-6F75-59A9F636C53D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6D82C0E-F34F-0618-D808-B6B24476375B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6CE90C40-2199-B8F1-97D4-5EA481D49886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F7F4033-17FB-B4DD-078C-4FAE7F2A4D72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E1A026BC-3B1F-A1AF-4EDB-AE06B6955A52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14408D28-BB98-73DF-33C6-C30596C40A98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9E519B36-0BD8-5AE2-1745-095B38B618CE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70CCB1C7-F0EF-28D6-E701-BD8FA3B79C2C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B040432D-657A-BBE2-7CBD-2276365E262F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40D77D49-4DA1-9291-902B-16DFDA84EAFE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FE4EB790-E61E-7200-AD4A-803900D72BCB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D6400725-066D-F095-D7B8-9E5E645C58DD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757C3D8C-1D6F-815B-1B96-EBF0D5F2F1B2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C9167282-ADD7-3244-B976-0EC5200C8587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252CC6F0-0D3E-2688-AB22-B31BC2D2AB4B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E0C0B812-595E-240C-C863-E80477E95A86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4F18DDDA-1840-4067-62D2-921B6FA4D64D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56A6BD18-8DE9-333A-87E0-9BB746D88C71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1095A438-8809-B927-B251-F46153771167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922EAAF2-7DFA-367B-EA86-B24B0BF64DEC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4D8E6B1B-C604-A1BB-A483-3255D7EA06DA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3C7ECFC3-DA6E-E5B4-CCE5-5B3A451F025A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401AFE01-E781-729A-157A-6F085CE7B857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E08F1900-024C-0F28-6333-6431CD538884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5B9E6DFD-D645-CFC5-61A7-9D0F74AA2D7A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96054D23-5550-CFA2-3008-E08DA242F118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EEB090D0-09B6-F132-5E6A-931A951BED06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4D3B0FB7-98CF-0F66-E8C5-C95CB30FCA8C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FF1D1229-CCF7-2B28-4E04-7A36B2AE68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sp>
        <p:nvSpPr>
          <p:cNvPr id="32" name="object 71">
            <a:extLst>
              <a:ext uri="{FF2B5EF4-FFF2-40B4-BE49-F238E27FC236}">
                <a16:creationId xmlns:a16="http://schemas.microsoft.com/office/drawing/2014/main" id="{BD66CD74-1383-A784-193A-DE18E2365F44}"/>
              </a:ext>
            </a:extLst>
          </p:cNvPr>
          <p:cNvSpPr txBox="1">
            <a:spLocks/>
          </p:cNvSpPr>
          <p:nvPr/>
        </p:nvSpPr>
        <p:spPr>
          <a:xfrm>
            <a:off x="1485782" y="1047088"/>
            <a:ext cx="13737560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chemeClr val="bg1">
                    <a:lumMod val="85000"/>
                  </a:schemeClr>
                </a:solidFill>
                <a:latin typeface="Montserrat ExtraBold"/>
                <a:cs typeface="Montserrat ExtraBold"/>
              </a:rPr>
              <a:t>ARMAZENAMENTO (SSD e HD)</a:t>
            </a:r>
          </a:p>
        </p:txBody>
      </p:sp>
      <p:pic>
        <p:nvPicPr>
          <p:cNvPr id="33" name="Imagem 32" descr="133,121 Fotos de Stock de Armazenamento Em Computador - Fotos de Stock  Gratuitas e Sem Fidelização a partir da Dreamstime">
            <a:extLst>
              <a:ext uri="{FF2B5EF4-FFF2-40B4-BE49-F238E27FC236}">
                <a16:creationId xmlns:a16="http://schemas.microsoft.com/office/drawing/2014/main" id="{67CA0894-0B6F-EEF4-8560-FF08FAFB7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2691" y="3049907"/>
            <a:ext cx="10898717" cy="727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090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F5DE6-52A5-AEF2-AACB-DB360C939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C057DFD-2487-D343-811A-F51F9BDDB38B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47F881E-DAC2-8741-EBF0-7B680D3C8FC9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79A39CD-B17A-E6DD-439B-D8E28AABEE2F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E2A02B2-1AC6-D1CA-BA98-E5C77F45FD66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B8361C0-FBE3-7183-FBAA-DD3B6ECF42F0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91BD2AF4-F4EC-9982-2E15-661DB75DE1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66234" y="1167618"/>
            <a:ext cx="13897699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 panose="00000900000000000000" pitchFamily="2" charset="0"/>
                <a:cs typeface="Montserrat ExtraBold"/>
              </a:rPr>
              <a:t>Placa de vídeo - GPU </a:t>
            </a:r>
            <a:br>
              <a:rPr lang="pt-BR" sz="5400" b="1" dirty="0"/>
            </a:b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2420467-60A9-7FF6-5D8E-B28F1055D059}"/>
              </a:ext>
            </a:extLst>
          </p:cNvPr>
          <p:cNvSpPr txBox="1"/>
          <p:nvPr/>
        </p:nvSpPr>
        <p:spPr>
          <a:xfrm>
            <a:off x="1476684" y="2599273"/>
            <a:ext cx="1698376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	A </a:t>
            </a:r>
            <a:r>
              <a:rPr lang="pt-BR" sz="4000" b="1" dirty="0"/>
              <a:t>GPU (</a:t>
            </a:r>
            <a:r>
              <a:rPr lang="pt-BR" sz="4000" b="1" dirty="0" err="1"/>
              <a:t>Graphics</a:t>
            </a:r>
            <a:r>
              <a:rPr lang="pt-BR" sz="4000" b="1" dirty="0"/>
              <a:t> </a:t>
            </a:r>
            <a:r>
              <a:rPr lang="pt-BR" sz="4000" b="1" dirty="0" err="1"/>
              <a:t>Processing</a:t>
            </a:r>
            <a:r>
              <a:rPr lang="pt-BR" sz="4000" b="1" dirty="0"/>
              <a:t> Unit)</a:t>
            </a:r>
            <a:r>
              <a:rPr lang="pt-BR" sz="4000" dirty="0"/>
              <a:t>, também conhecida como </a:t>
            </a:r>
            <a:r>
              <a:rPr lang="pt-BR" sz="4000" b="1" dirty="0"/>
              <a:t>placa de vídeo</a:t>
            </a:r>
            <a:r>
              <a:rPr lang="pt-BR" sz="4000" dirty="0"/>
              <a:t> ou </a:t>
            </a:r>
            <a:r>
              <a:rPr lang="pt-BR" sz="4000" b="1" dirty="0"/>
              <a:t>processador gráfico</a:t>
            </a:r>
            <a:r>
              <a:rPr lang="pt-BR" sz="4000" dirty="0"/>
              <a:t>, é o componente responsável por processar e gerar imagens, vídeos, animações e gráficos exibidos no monitor. Além dos jogos, a GPU também é utilizada em aplicações como edição de vídeo, modelagem 3D, inteligência artificial e computação científica.</a:t>
            </a:r>
          </a:p>
          <a:p>
            <a:endParaRPr lang="pt-BR" sz="4000" dirty="0"/>
          </a:p>
        </p:txBody>
      </p:sp>
      <p:pic>
        <p:nvPicPr>
          <p:cNvPr id="8" name="Imagem 7" descr="Como escolher a placa de vídeo certa - Infográficos - Estadão">
            <a:extLst>
              <a:ext uri="{FF2B5EF4-FFF2-40B4-BE49-F238E27FC236}">
                <a16:creationId xmlns:a16="http://schemas.microsoft.com/office/drawing/2014/main" id="{E29823B1-1039-41CA-7AF8-BEA467A2B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050" y="6358467"/>
            <a:ext cx="7620000" cy="428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1436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46E38-E713-7054-8857-49E3137AC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5F526ECD-1681-0BBA-B119-22B71D91B4F0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6BDF29F-F084-6C1B-62B6-1D774B58AE6C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FECB0F7-243C-E7DB-9667-EF4D1E3A28A4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B0AD628-F8E0-1DA5-C06B-F75A57D5C6F8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90AD879-1A89-015A-C7D3-232B40FB282E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89B4B22-EFEF-B6CD-A210-24A1973A3D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66234" y="1167618"/>
            <a:ext cx="13897699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 panose="00000900000000000000" pitchFamily="2" charset="0"/>
                <a:cs typeface="Montserrat ExtraBold"/>
              </a:rPr>
              <a:t>Placa de vídeo - GPU </a:t>
            </a:r>
            <a:br>
              <a:rPr lang="pt-BR" sz="5400" b="1" dirty="0"/>
            </a:b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74F826F-06E9-5ADC-FA24-8AD4CEF37773}"/>
              </a:ext>
            </a:extLst>
          </p:cNvPr>
          <p:cNvSpPr txBox="1"/>
          <p:nvPr/>
        </p:nvSpPr>
        <p:spPr>
          <a:xfrm>
            <a:off x="1476684" y="2599273"/>
            <a:ext cx="1698376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1. Núcleos de Processamento</a:t>
            </a:r>
          </a:p>
          <a:p>
            <a:r>
              <a:rPr lang="pt-BR" sz="4000" dirty="0"/>
              <a:t>	A GPU possui milhares de pequenos núcleos especializados em realizar cálculos paralelos.</a:t>
            </a:r>
          </a:p>
          <a:p>
            <a:r>
              <a:rPr lang="pt-BR" sz="4000" dirty="0"/>
              <a:t>	Quanto maior o número de núcleos, maior tende a ser sua capacidade de processamento gráfico.</a:t>
            </a:r>
          </a:p>
          <a:p>
            <a:endParaRPr lang="pt-BR" sz="4000" dirty="0"/>
          </a:p>
          <a:p>
            <a:r>
              <a:rPr lang="pt-BR" sz="4000" b="1" dirty="0"/>
              <a:t>Memória de Vídeo (VRAM)</a:t>
            </a:r>
          </a:p>
          <a:p>
            <a:r>
              <a:rPr lang="pt-BR" sz="4000" dirty="0"/>
              <a:t>	A VRAM é uma memória dedicada exclusivamente à GPU.</a:t>
            </a:r>
          </a:p>
          <a:p>
            <a:endParaRPr lang="pt-BR" sz="4000" dirty="0"/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41074438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75DFD-CC2F-E2B1-5EA0-102D92587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B390FCAB-E36A-74B3-AE60-F46AE1A570A7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DB03154-9EDC-D458-948C-D7D69974A6EB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CE9DECD-0168-B03B-0FFD-4086FB3EE86B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280840A4-48FE-CFC4-70F8-F46E9D2953EC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4B8EE03-D7C4-71D2-FFEA-BFFECF49BC4C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0E65D8C2-A31E-5175-67F7-07CDB6E4FF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66234" y="1167618"/>
            <a:ext cx="13897699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 panose="00000900000000000000" pitchFamily="2" charset="0"/>
              </a:rPr>
              <a:t>Dedicada VS Integrada</a:t>
            </a:r>
            <a:br>
              <a:rPr lang="pt-BR" sz="5400" b="1" dirty="0"/>
            </a:b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3998135-E840-B919-6ED9-8FA81E2A42D0}"/>
              </a:ext>
            </a:extLst>
          </p:cNvPr>
          <p:cNvSpPr txBox="1"/>
          <p:nvPr/>
        </p:nvSpPr>
        <p:spPr>
          <a:xfrm>
            <a:off x="1476684" y="2599273"/>
            <a:ext cx="7508566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GPU Integrada</a:t>
            </a:r>
          </a:p>
          <a:p>
            <a:endParaRPr lang="pt-BR" sz="4000" b="1" dirty="0"/>
          </a:p>
          <a:p>
            <a:r>
              <a:rPr lang="pt-BR" sz="3600" dirty="0"/>
              <a:t>	Está incorporada ao processador.</a:t>
            </a:r>
          </a:p>
          <a:p>
            <a:endParaRPr lang="pt-BR" sz="3600" dirty="0"/>
          </a:p>
          <a:p>
            <a:r>
              <a:rPr lang="pt-BR" sz="3600" b="1" dirty="0"/>
              <a:t>Características</a:t>
            </a:r>
            <a:r>
              <a:rPr lang="pt-BR" sz="3600" dirty="0"/>
              <a:t>: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3600" dirty="0"/>
              <a:t>Menor desempenho gráfico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3600" dirty="0"/>
              <a:t>Menor consumo de energia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3600" dirty="0"/>
              <a:t>Ideal para navegação, estudos e escritório</a:t>
            </a:r>
          </a:p>
          <a:p>
            <a:endParaRPr lang="pt-BR" sz="4000" dirty="0"/>
          </a:p>
          <a:p>
            <a:endParaRPr lang="pt-BR" sz="40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708342A-574B-3D7E-7486-6382CBB0C966}"/>
              </a:ext>
            </a:extLst>
          </p:cNvPr>
          <p:cNvSpPr txBox="1"/>
          <p:nvPr/>
        </p:nvSpPr>
        <p:spPr>
          <a:xfrm>
            <a:off x="10280650" y="2513303"/>
            <a:ext cx="7508566" cy="754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GPU Dedicada</a:t>
            </a:r>
          </a:p>
          <a:p>
            <a:endParaRPr lang="pt-BR" sz="4000" b="1" dirty="0"/>
          </a:p>
          <a:p>
            <a:r>
              <a:rPr lang="pt-BR" sz="3600" dirty="0"/>
              <a:t>É uma placa independente instalada no slot PCI Express.</a:t>
            </a:r>
          </a:p>
          <a:p>
            <a:endParaRPr lang="pt-BR" sz="3600" dirty="0"/>
          </a:p>
          <a:p>
            <a:r>
              <a:rPr lang="pt-BR" sz="3600" b="1" dirty="0"/>
              <a:t>Características</a:t>
            </a:r>
            <a:r>
              <a:rPr lang="pt-BR" sz="3600" dirty="0"/>
              <a:t>: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3600" dirty="0"/>
              <a:t>Muito maior desempenho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3600" dirty="0"/>
              <a:t>Possui memória VRAM própria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pt-BR" sz="3600" dirty="0"/>
              <a:t>Indicada para jogos, edição de vídeo, projetos 3D e inteligência artificial </a:t>
            </a:r>
          </a:p>
          <a:p>
            <a:endParaRPr lang="pt-BR" sz="4000" dirty="0"/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1379252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EF1AC-BF98-EA31-7033-E05C78B2F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62E47F9-7BCE-E19F-530B-447E6BD2F442}"/>
              </a:ext>
            </a:extLst>
          </p:cNvPr>
          <p:cNvSpPr/>
          <p:nvPr/>
        </p:nvSpPr>
        <p:spPr>
          <a:xfrm>
            <a:off x="-1" y="-379"/>
            <a:ext cx="20104100" cy="11151871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D44B91F-E2AC-7018-F302-E980AF1C0DE9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4CCA5EA-47AF-2D33-6EBB-25F39A29813B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D9F7068-E224-737A-AD07-0CF558468BD0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DF51802-148D-0A61-E2B5-2AB1DAB26C54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93D3626-8ABC-C170-6255-0CAF405DF197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89DAC7A7-1468-9F70-043C-89044F8D77BE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E5034F61-03B6-BB69-422B-4B37D44AB6C2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D8419FF7-05B6-C21F-CC26-F99A0A1EAF58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2C0A4C2C-2BFB-6B63-D813-60EE5DFE0EE3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39EE692F-E078-9AF7-3967-D1041F906A32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54011EF3-B482-D4F8-9693-DBD509473B92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B38F2A61-2DC3-054B-140B-A5333CE18D8B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004B4716-91B6-5A0E-916D-C8D972FEEF77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7269D17-6CAA-8277-B2F7-22389C2B50D6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3E8B1D84-0288-86A4-B167-14FB223F4E63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B8C51285-EDAA-3A62-0450-764A47BF95BF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C71C13BF-1167-382A-36E1-A59AB89920F4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3F933CAC-020D-8B85-2953-31D59BCA33E6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4DFC597C-8D6E-CEF9-1266-47EFE81F143E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AB8AF031-7BC4-7E51-43C2-AFA710A520B5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9288462F-933E-4B9B-E8CB-2F1AC2597D63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12AE24FF-58A2-ACFB-0878-FBB9072E1530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3777F74B-2AF4-5DAD-FBBD-DBCCDF36B222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181FE041-6A75-697A-2E18-D23272DDF9B9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AD4A0AFA-A99F-4D6B-99C1-2E56DFDE8130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DDAA9CE3-21F9-1CEF-0CE2-EFE9FF69FF01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C0DF5016-A0DF-2412-D666-5BB9D82B3A0D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C664F78F-B863-4F1C-5B47-B6F3D1A5C355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A4590687-D125-11F4-4DDC-A1137E032474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ABD5DEE5-7DE8-14BC-3A4C-84E0F6BAE1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sp>
        <p:nvSpPr>
          <p:cNvPr id="32" name="object 71">
            <a:extLst>
              <a:ext uri="{FF2B5EF4-FFF2-40B4-BE49-F238E27FC236}">
                <a16:creationId xmlns:a16="http://schemas.microsoft.com/office/drawing/2014/main" id="{AF41A7AB-2E17-937A-2DCF-1095B5A4E8F0}"/>
              </a:ext>
            </a:extLst>
          </p:cNvPr>
          <p:cNvSpPr txBox="1">
            <a:spLocks/>
          </p:cNvSpPr>
          <p:nvPr/>
        </p:nvSpPr>
        <p:spPr>
          <a:xfrm>
            <a:off x="1485782" y="1047088"/>
            <a:ext cx="13737560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chemeClr val="bg1">
                    <a:lumMod val="85000"/>
                  </a:schemeClr>
                </a:solidFill>
                <a:latin typeface="Montserrat ExtraBold"/>
                <a:cs typeface="Montserrat ExtraBold"/>
              </a:rPr>
              <a:t>Placa de vídeo</a:t>
            </a:r>
          </a:p>
        </p:txBody>
      </p:sp>
      <p:pic>
        <p:nvPicPr>
          <p:cNvPr id="33" name="Imagem 32" descr="NVIDIA GeForce RTX 5090 pode ter GPU de 2,9 GHz, memória GDDR7 e interface  de 512 bits - Tudocelular.com">
            <a:extLst>
              <a:ext uri="{FF2B5EF4-FFF2-40B4-BE49-F238E27FC236}">
                <a16:creationId xmlns:a16="http://schemas.microsoft.com/office/drawing/2014/main" id="{82A40E70-7613-5FEB-49FA-2E0903FC6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941" y="2983505"/>
            <a:ext cx="11978217" cy="673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1255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549EE-29D8-0909-2D2D-53B60A09C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1980C169-09A8-2C95-B2E9-7E76A2C14544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82F1251-212D-427F-7BA8-2A6174045837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A012942-E2DC-61C0-F487-FC08697D6C7B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2507CBCE-DAFC-F62B-D478-758814363D5C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AD7A568-BD68-76FD-35A8-572D5398A7E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2945E4BB-0158-B6F3-1D7D-1E19C73B42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66234" y="1167618"/>
            <a:ext cx="13897699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 panose="00000900000000000000" pitchFamily="2" charset="0"/>
              </a:rPr>
              <a:t>Fonte de Alimentação</a:t>
            </a:r>
            <a:br>
              <a:rPr lang="pt-BR" sz="5400" b="1" dirty="0"/>
            </a:b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EC86CFC-0C3E-589A-C305-79876F653640}"/>
              </a:ext>
            </a:extLst>
          </p:cNvPr>
          <p:cNvSpPr txBox="1"/>
          <p:nvPr/>
        </p:nvSpPr>
        <p:spPr>
          <a:xfrm>
            <a:off x="1476684" y="2599273"/>
            <a:ext cx="17161182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	A </a:t>
            </a:r>
            <a:r>
              <a:rPr lang="pt-BR" sz="4000" b="1" dirty="0"/>
              <a:t>fonte de alimentação (Power </a:t>
            </a:r>
            <a:r>
              <a:rPr lang="pt-BR" sz="4000" b="1" dirty="0" err="1"/>
              <a:t>Supply</a:t>
            </a:r>
            <a:r>
              <a:rPr lang="pt-BR" sz="4000" b="1" dirty="0"/>
              <a:t> Unit – PSU)</a:t>
            </a:r>
            <a:r>
              <a:rPr lang="pt-BR" sz="4000" dirty="0"/>
              <a:t> é o componente responsável por fornecer energia elétrica para todos os dispositivos do computador. Ela converte a corrente alternada (AC) da tomada em corrente contínua (DC), com as tensões adequadas para o funcionamento da </a:t>
            </a:r>
            <a:r>
              <a:rPr lang="pt-BR" sz="4000" dirty="0" err="1"/>
              <a:t>placa-mãe</a:t>
            </a:r>
            <a:r>
              <a:rPr lang="pt-BR" sz="4000" dirty="0"/>
              <a:t>, processador, placa de vídeo, armazenamento e demais componentes.</a:t>
            </a:r>
          </a:p>
          <a:p>
            <a:endParaRPr lang="pt-BR" sz="4000" dirty="0"/>
          </a:p>
          <a:p>
            <a:r>
              <a:rPr lang="pt-BR" sz="4000" b="1" dirty="0"/>
              <a:t>Características</a:t>
            </a:r>
            <a:r>
              <a:rPr lang="pt-BR" sz="4000" dirty="0"/>
              <a:t>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Potência (450w, 800w ...)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Eficiência energética (80 plus bronze, </a:t>
            </a:r>
            <a:r>
              <a:rPr lang="pt-BR" sz="4000" dirty="0" err="1"/>
              <a:t>gold</a:t>
            </a:r>
            <a:r>
              <a:rPr lang="pt-BR" sz="4000" dirty="0"/>
              <a:t>...)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Tensões de saída (12v, 5v, 3.3v...)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Modulares, </a:t>
            </a:r>
            <a:r>
              <a:rPr lang="pt-BR" sz="4000" dirty="0" err="1"/>
              <a:t>semi</a:t>
            </a:r>
            <a:r>
              <a:rPr lang="pt-BR" sz="4000" dirty="0"/>
              <a:t> e não modulares.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8241228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A1178-821F-774C-70D3-622D44D4D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4EF2614-1672-F08F-E862-5D0940522EE5}"/>
              </a:ext>
            </a:extLst>
          </p:cNvPr>
          <p:cNvSpPr/>
          <p:nvPr/>
        </p:nvSpPr>
        <p:spPr>
          <a:xfrm>
            <a:off x="-1" y="-379"/>
            <a:ext cx="20104100" cy="11151871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2083236-D85B-A483-2BC4-3BB58EB2EBEE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D585869-45A6-EFA2-688D-2174CFE60FD2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31760C2-65F1-4727-1ECA-65665F26C8D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CC1ED53A-5851-EC80-0C48-3A461B37B0DB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4C01422-0F31-D87C-4386-7408E3D14C5D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ED0C3D69-D4FD-0B7E-11BD-47C03B08C867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977E5973-007A-7C89-B6AA-DD49FF07452F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1B409B00-058A-FEB5-E3B1-F193566F6C66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1A79B35D-1F72-053E-7BED-9A438D1DD9C1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C1D95B9B-9751-4491-2CE1-78C96AF805F7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99593D37-369D-5DCF-E72E-F278C7007599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2472B5E0-76F3-6CF5-DF3F-EE5BAE68098D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163F7657-072C-FB6A-0DC2-CD86875D7111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462E6086-5D04-E3C8-04F9-FA171705EEE2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4A635D62-EA49-02A0-09CA-7B3AC0648986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88FDEF7A-B029-C8A0-0F92-F3BAD7C25B55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2116945C-EF9C-7C11-EDB0-BAB8D1E351CF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70671C8A-0820-E8D7-227D-B0E616188405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362D0F15-4829-548E-36DF-8ECFEFE82AB5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63B44AF5-3C20-A52D-B69A-231363659D2F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695CA4EA-B282-3868-3F52-07745C865720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FA4895B5-A81F-BA8A-D8F7-FD8C45DBF134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DF4900AC-0BBE-9CCA-BF31-37F3EDEEB175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B6DF2744-0B05-79A8-D899-64608F0D7A29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248950EC-D3AD-A671-A870-0F65831BBB3B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5BF56F4C-7580-124C-3A74-B0CAF36331F4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8EB683B9-9132-7C8C-CBD5-8129A1C01C7A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3BDBAEBF-1AEC-51FB-52C3-AF426B040CF4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E244CFBF-44FA-F7B5-D213-676F4EBE75D0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8F50552A-7E4C-0645-341E-3673BFB334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sp>
        <p:nvSpPr>
          <p:cNvPr id="32" name="object 71">
            <a:extLst>
              <a:ext uri="{FF2B5EF4-FFF2-40B4-BE49-F238E27FC236}">
                <a16:creationId xmlns:a16="http://schemas.microsoft.com/office/drawing/2014/main" id="{6B34CC66-A220-23B3-A7C1-9A6EDEB5F1BC}"/>
              </a:ext>
            </a:extLst>
          </p:cNvPr>
          <p:cNvSpPr txBox="1">
            <a:spLocks/>
          </p:cNvSpPr>
          <p:nvPr/>
        </p:nvSpPr>
        <p:spPr>
          <a:xfrm>
            <a:off x="1485782" y="1047088"/>
            <a:ext cx="13737560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chemeClr val="bg1">
                    <a:lumMod val="85000"/>
                  </a:schemeClr>
                </a:solidFill>
                <a:latin typeface="Montserrat ExtraBold"/>
                <a:cs typeface="Montserrat ExtraBold"/>
              </a:rPr>
              <a:t>Fonte </a:t>
            </a:r>
          </a:p>
        </p:txBody>
      </p:sp>
      <p:pic>
        <p:nvPicPr>
          <p:cNvPr id="35" name="Imagem 34">
            <a:extLst>
              <a:ext uri="{FF2B5EF4-FFF2-40B4-BE49-F238E27FC236}">
                <a16:creationId xmlns:a16="http://schemas.microsoft.com/office/drawing/2014/main" id="{D21F90F7-B1A4-9FF6-FF98-FC7533D1F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4949" y="2432263"/>
            <a:ext cx="14554200" cy="8186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0808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CDE90-9A84-AD29-481C-640D7EC4C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3CD64270-30FD-6725-22BF-69AE5437294C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1A45A8F-6B4C-4E46-D801-3BD01EC633A4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AA3A36C-93DC-B6E0-019D-FBD7020B2AC1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23C00F7C-C40A-C938-D1B2-C41DC3482AF9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0337937-CDA8-2354-7FE4-10AECAD7F3A0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70C41E40-59F8-ED4D-BBF9-C523D6487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9050" y="1265291"/>
            <a:ext cx="14300816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 panose="00000900000000000000" pitchFamily="2" charset="0"/>
              </a:rPr>
              <a:t>Como os componentes trabalham juntos?</a:t>
            </a:r>
            <a:br>
              <a:rPr lang="pt-BR" sz="5400" b="1" dirty="0"/>
            </a:b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75BF971-5D23-4CD0-B2DE-44FF8FA57F4F}"/>
              </a:ext>
            </a:extLst>
          </p:cNvPr>
          <p:cNvSpPr txBox="1"/>
          <p:nvPr/>
        </p:nvSpPr>
        <p:spPr>
          <a:xfrm>
            <a:off x="1471459" y="2241878"/>
            <a:ext cx="17161182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pt-BR" sz="4000" dirty="0"/>
              <a:t>A </a:t>
            </a:r>
            <a:r>
              <a:rPr lang="pt-BR" sz="4000" b="1" dirty="0"/>
              <a:t>fonte de alimentação</a:t>
            </a:r>
            <a:r>
              <a:rPr lang="pt-BR" sz="4000" dirty="0"/>
              <a:t> fornece energia ao computador.</a:t>
            </a:r>
          </a:p>
          <a:p>
            <a:pPr marL="742950" indent="-742950">
              <a:buFont typeface="+mj-lt"/>
              <a:buAutoNum type="arabicPeriod"/>
            </a:pPr>
            <a:endParaRPr lang="pt-BR" sz="4000" dirty="0"/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A </a:t>
            </a:r>
            <a:r>
              <a:rPr lang="pt-BR" sz="4000" b="1" dirty="0"/>
              <a:t>ROM (BIOS/UEFI) </a:t>
            </a:r>
            <a:r>
              <a:rPr lang="pt-BR" sz="4000" dirty="0"/>
              <a:t>inicia o processo de inicialização (boot).</a:t>
            </a:r>
          </a:p>
          <a:p>
            <a:pPr marL="742950" indent="-742950">
              <a:buFont typeface="+mj-lt"/>
              <a:buAutoNum type="arabicPeriod"/>
            </a:pPr>
            <a:endParaRPr lang="pt-BR" sz="4000" dirty="0"/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A </a:t>
            </a:r>
            <a:r>
              <a:rPr lang="pt-BR" sz="4000" b="1" dirty="0"/>
              <a:t>CPU</a:t>
            </a:r>
            <a:r>
              <a:rPr lang="pt-BR" sz="4000" dirty="0"/>
              <a:t> começa a executar as instruções do sistema operacional.</a:t>
            </a:r>
          </a:p>
          <a:p>
            <a:pPr marL="742950" indent="-742950">
              <a:buFont typeface="+mj-lt"/>
              <a:buAutoNum type="arabicPeriod"/>
            </a:pPr>
            <a:endParaRPr lang="pt-BR" sz="4000" dirty="0"/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O </a:t>
            </a:r>
            <a:r>
              <a:rPr lang="pt-BR" sz="4000" b="1" dirty="0"/>
              <a:t>HD ou SSD </a:t>
            </a:r>
            <a:r>
              <a:rPr lang="pt-BR" sz="4000" dirty="0"/>
              <a:t>fornece os arquivos necessários ao sistema.</a:t>
            </a:r>
          </a:p>
          <a:p>
            <a:pPr marL="742950" indent="-742950">
              <a:buFont typeface="+mj-lt"/>
              <a:buAutoNum type="arabicPeriod"/>
            </a:pPr>
            <a:endParaRPr lang="pt-BR" sz="4000" dirty="0"/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A </a:t>
            </a:r>
            <a:r>
              <a:rPr lang="pt-BR" sz="4000" b="1" dirty="0"/>
              <a:t>RAM</a:t>
            </a:r>
            <a:r>
              <a:rPr lang="pt-BR" sz="4000" dirty="0"/>
              <a:t> armazena temporariamente os dados dos programas em execução.</a:t>
            </a:r>
          </a:p>
          <a:p>
            <a:pPr marL="742950" indent="-742950">
              <a:buFont typeface="+mj-lt"/>
              <a:buAutoNum type="arabicPeriod"/>
            </a:pPr>
            <a:endParaRPr lang="pt-BR" sz="4000" dirty="0"/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A </a:t>
            </a:r>
            <a:r>
              <a:rPr lang="pt-BR" sz="4000" b="1" dirty="0"/>
              <a:t>GPU</a:t>
            </a:r>
            <a:r>
              <a:rPr lang="pt-BR" sz="4000" dirty="0"/>
              <a:t> processa e exibe as imagens no monitor.</a:t>
            </a:r>
          </a:p>
          <a:p>
            <a:pPr marL="742950" indent="-742950">
              <a:buFont typeface="+mj-lt"/>
              <a:buAutoNum type="arabicPeriod"/>
            </a:pPr>
            <a:endParaRPr lang="pt-BR" sz="4000" dirty="0"/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A </a:t>
            </a:r>
            <a:r>
              <a:rPr lang="pt-BR" sz="4000" b="1" dirty="0" err="1"/>
              <a:t>placa-mãe</a:t>
            </a:r>
            <a:r>
              <a:rPr lang="pt-BR" sz="4000" dirty="0"/>
              <a:t> conecta todos esses componentes, permitindo a comunicação entre eles.</a:t>
            </a:r>
          </a:p>
        </p:txBody>
      </p:sp>
    </p:spTree>
    <p:extLst>
      <p:ext uri="{BB962C8B-B14F-4D97-AF65-F5344CB8AC3E}">
        <p14:creationId xmlns:p14="http://schemas.microsoft.com/office/powerpoint/2010/main" val="28524252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32C79-876F-8BCA-8D12-D4F2BB551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36EDED2-0AD8-D73E-BC33-370CE9C79306}"/>
              </a:ext>
            </a:extLst>
          </p:cNvPr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39B7059-B4B7-9ECD-2145-F7DFA1EA78A1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ABEB08A-CD28-43C9-F728-778EA0AABA7A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10737E5-88E5-8F78-242C-022CD77A1A1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F994BF1-8081-4507-FD5B-0E9BB55D8CB4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9E71D00-A664-C3A1-DA05-4B69D011180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9EFEC6E-DDF2-7E10-1169-9F07853EAE6B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9719C9A4-E42E-69F2-D740-79E7D7ADBD8A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A164F6C-03AF-82A0-4C7B-26442C3A01F4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CD9D6A4D-9ED2-966D-3FD1-B1B805747483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69F371D6-36D1-3827-583E-CBD46FEDFB93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52F8A60A-F880-F79B-755A-EB3916E6E3EA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E9F4AF6B-F234-2BEF-E2B2-B5F70D04D28C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39042008-CE9E-E81A-36F6-BDC7772B6152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4688A5F-9ED1-9D6D-21F4-25FFDFC9B303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366C110C-C67B-CFE0-EC27-6CCED0C9DD96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6A8FB3BC-B7E2-5B39-1DA2-C46B7ED68467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9B0EEDBD-B5DD-BAA2-8D78-6036AA1F45A6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49087C3B-E86B-C77E-2FF5-036BBB0BCF78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FAEF9E9A-09D0-1C78-9449-DFB0E474D1DC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6254855F-55DD-DB07-69CC-56914308DBB2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5567B985-9066-3F15-080A-9147D2EE62D6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A399721C-0FD9-EF7D-A065-A2B7003B775A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61DA38DD-6CE2-DE52-ED39-B8F197E5464B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841B397A-B5A8-7F96-A82A-3933C02F6CA2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E6EF9F64-01FD-1D6C-90DA-D0703DEB01C1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78D5B3B6-92A0-14F5-CD14-58213C224CC1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D0C933A4-FBDB-BBEA-952C-F431EC0685BE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1E30F71D-003E-8A31-2CAC-C1B290C3B8BA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110D9E37-6F63-5769-0ADC-03A5570B1F19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FCD99148-6146-CDF9-7BCD-118E4B0681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1F1F1"/>
                </a:solidFill>
                <a:latin typeface="Montserrat ExtraBold"/>
              </a:rPr>
              <a:t>Dúvidas?</a:t>
            </a: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pic>
        <p:nvPicPr>
          <p:cNvPr id="10242" name="Picture 2" descr="Pulp Fiction Travolta GIFs - Find &amp; Share on GIPHY">
            <a:extLst>
              <a:ext uri="{FF2B5EF4-FFF2-40B4-BE49-F238E27FC236}">
                <a16:creationId xmlns:a16="http://schemas.microsoft.com/office/drawing/2014/main" id="{0F93ECCB-FC30-C590-CEF8-40F96FEBA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396" y="3766122"/>
            <a:ext cx="11513308" cy="5756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6668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0D1E2450D2CCF4B94B30D13213EC305" ma:contentTypeVersion="14" ma:contentTypeDescription="Crie um novo documento." ma:contentTypeScope="" ma:versionID="80af2ae99a390bb8f99db6a6f71dbd11">
  <xsd:schema xmlns:xsd="http://www.w3.org/2001/XMLSchema" xmlns:xs="http://www.w3.org/2001/XMLSchema" xmlns:p="http://schemas.microsoft.com/office/2006/metadata/properties" xmlns:ns3="e2750cde-43d6-4eda-a582-fdf0d091b109" xmlns:ns4="b37a9e9f-dabd-4ec4-96f1-5ea18684f50e" targetNamespace="http://schemas.microsoft.com/office/2006/metadata/properties" ma:root="true" ma:fieldsID="2dc6d4c45140fd29241634ff7e109878" ns3:_="" ns4:_="">
    <xsd:import namespace="e2750cde-43d6-4eda-a582-fdf0d091b109"/>
    <xsd:import namespace="b37a9e9f-dabd-4ec4-96f1-5ea18684f50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750cde-43d6-4eda-a582-fdf0d091b1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7a9e9f-dabd-4ec4-96f1-5ea18684f50e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AA42D19-56A1-4D0B-AB84-67451006DC5A}">
  <ds:schemaRefs>
    <ds:schemaRef ds:uri="http://purl.org/dc/elements/1.1/"/>
    <ds:schemaRef ds:uri="http://schemas.microsoft.com/office/2006/metadata/properties"/>
    <ds:schemaRef ds:uri="b37a9e9f-dabd-4ec4-96f1-5ea18684f50e"/>
    <ds:schemaRef ds:uri="http://purl.org/dc/terms/"/>
    <ds:schemaRef ds:uri="http://schemas.openxmlformats.org/package/2006/metadata/core-properties"/>
    <ds:schemaRef ds:uri="e2750cde-43d6-4eda-a582-fdf0d091b109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5F35E67-04E6-4922-B19E-6681FBF95D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169B78-FDA6-4A96-82D9-CDF50108CD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750cde-43d6-4eda-a582-fdf0d091b109"/>
    <ds:schemaRef ds:uri="b37a9e9f-dabd-4ec4-96f1-5ea18684f5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4148a6de-0dd1-4d04-a4c5-78e374e4f6d6}" enabled="0" method="" siteId="{4148a6de-0dd1-4d04-a4c5-78e374e4f6d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4409</TotalTime>
  <Words>8163</Words>
  <Application>Microsoft Office PowerPoint</Application>
  <PresentationFormat>Personalizar</PresentationFormat>
  <Paragraphs>473</Paragraphs>
  <Slides>45</Slides>
  <Notes>45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45</vt:i4>
      </vt:variant>
    </vt:vector>
  </HeadingPairs>
  <TitlesOfParts>
    <vt:vector size="51" baseType="lpstr">
      <vt:lpstr>Montserrat Light</vt:lpstr>
      <vt:lpstr>Montserrat</vt:lpstr>
      <vt:lpstr>Calibri</vt:lpstr>
      <vt:lpstr>Montserrat ExtraBold</vt:lpstr>
      <vt:lpstr>Arial</vt:lpstr>
      <vt:lpstr>Office Theme</vt:lpstr>
      <vt:lpstr>Apresentação do PowerPoint</vt:lpstr>
      <vt:lpstr>Softwares </vt:lpstr>
      <vt:lpstr>Acessos</vt:lpstr>
      <vt:lpstr>Apresentação do PowerPoint</vt:lpstr>
      <vt:lpstr>O que é um computador?</vt:lpstr>
      <vt:lpstr>O que é um computador?</vt:lpstr>
      <vt:lpstr>O que é um computador?</vt:lpstr>
      <vt:lpstr>Principais componentes de um computador:</vt:lpstr>
      <vt:lpstr>Hardware</vt:lpstr>
      <vt:lpstr>Hardware</vt:lpstr>
      <vt:lpstr>Hardware Internos</vt:lpstr>
      <vt:lpstr>Placa mãe</vt:lpstr>
      <vt:lpstr>Placa mãe</vt:lpstr>
      <vt:lpstr>Placa mãe</vt:lpstr>
      <vt:lpstr>Placa mãe</vt:lpstr>
      <vt:lpstr>Placa mãe</vt:lpstr>
      <vt:lpstr> </vt:lpstr>
      <vt:lpstr>Processador</vt:lpstr>
      <vt:lpstr>Processador</vt:lpstr>
      <vt:lpstr>Processador</vt:lpstr>
      <vt:lpstr>Processador</vt:lpstr>
      <vt:lpstr>Processador</vt:lpstr>
      <vt:lpstr>Processador</vt:lpstr>
      <vt:lpstr> </vt:lpstr>
      <vt:lpstr>Memória RAM</vt:lpstr>
      <vt:lpstr>Memória RAM</vt:lpstr>
      <vt:lpstr>Memória RAM</vt:lpstr>
      <vt:lpstr>Memória RAM</vt:lpstr>
      <vt:lpstr> </vt:lpstr>
      <vt:lpstr>Memória ROM</vt:lpstr>
      <vt:lpstr>Memória ROM</vt:lpstr>
      <vt:lpstr>Memória ROM</vt:lpstr>
      <vt:lpstr> </vt:lpstr>
      <vt:lpstr>Armazenamento – HD (HARD DISK)</vt:lpstr>
      <vt:lpstr>Armazenamento - SSD </vt:lpstr>
      <vt:lpstr>Armazenamento  </vt:lpstr>
      <vt:lpstr> </vt:lpstr>
      <vt:lpstr>Placa de vídeo - GPU  </vt:lpstr>
      <vt:lpstr>Placa de vídeo - GPU  </vt:lpstr>
      <vt:lpstr>Dedicada VS Integrada </vt:lpstr>
      <vt:lpstr> </vt:lpstr>
      <vt:lpstr>Fonte de Alimentação </vt:lpstr>
      <vt:lpstr> </vt:lpstr>
      <vt:lpstr>Como os componentes trabalham juntos? </vt:lpstr>
      <vt:lpstr>Dúvidas?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template_ppt_senaisp</dc:title>
  <dc:creator>carlos</dc:creator>
  <cp:lastModifiedBy>Luis Fernando Spoljaric</cp:lastModifiedBy>
  <cp:revision>547</cp:revision>
  <cp:lastPrinted>2025-02-13T13:17:19Z</cp:lastPrinted>
  <dcterms:created xsi:type="dcterms:W3CDTF">2021-08-24T16:20:14Z</dcterms:created>
  <dcterms:modified xsi:type="dcterms:W3CDTF">2026-07-24T13:30:32Z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2021-08-24T00:00:00Z</vt:filetime>
  </property>
  <property fmtid="{D5CDD505-2E9C-101B-9397-08002B2CF9AE}" pid="3" name="Creator">
    <vt:lpwstr>Adobe Illustrator 25.2 (Windows)</vt:lpwstr>
  </property>
  <property fmtid="{D5CDD505-2E9C-101B-9397-08002B2CF9AE}" pid="4" name="LastSaved">
    <vt:filetime>2021-08-24T00:00:00Z</vt:filetime>
  </property>
  <property fmtid="{D5CDD505-2E9C-101B-9397-08002B2CF9AE}" pid="5" name="ContentTypeId">
    <vt:lpwstr>0x010100A0D1E2450D2CCF4B94B30D13213EC305</vt:lpwstr>
  </property>
</Properties>
</file>