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7" r:id="rId4"/>
  </p:sldMasterIdLst>
  <p:notesMasterIdLst>
    <p:notesMasterId r:id="rId30"/>
  </p:notesMasterIdLst>
  <p:sldIdLst>
    <p:sldId id="278" r:id="rId5"/>
    <p:sldId id="1450" r:id="rId6"/>
    <p:sldId id="1351" r:id="rId7"/>
    <p:sldId id="1385" r:id="rId8"/>
    <p:sldId id="1436" r:id="rId9"/>
    <p:sldId id="1459" r:id="rId10"/>
    <p:sldId id="1480" r:id="rId11"/>
    <p:sldId id="1481" r:id="rId12"/>
    <p:sldId id="1460" r:id="rId13"/>
    <p:sldId id="1437" r:id="rId14"/>
    <p:sldId id="1439" r:id="rId15"/>
    <p:sldId id="1482" r:id="rId16"/>
    <p:sldId id="1483" r:id="rId17"/>
    <p:sldId id="1484" r:id="rId18"/>
    <p:sldId id="1461" r:id="rId19"/>
    <p:sldId id="1485" r:id="rId20"/>
    <p:sldId id="1462" r:id="rId21"/>
    <p:sldId id="1463" r:id="rId22"/>
    <p:sldId id="1464" r:id="rId23"/>
    <p:sldId id="1486" r:id="rId24"/>
    <p:sldId id="1465" r:id="rId25"/>
    <p:sldId id="1466" r:id="rId26"/>
    <p:sldId id="1467" r:id="rId27"/>
    <p:sldId id="1468" r:id="rId28"/>
    <p:sldId id="1383" r:id="rId29"/>
  </p:sldIdLst>
  <p:sldSz cx="20104100" cy="11309350"/>
  <p:notesSz cx="20104100" cy="11309350"/>
  <p:embeddedFontLst>
    <p:embeddedFont>
      <p:font typeface="Montserrat" panose="00000500000000000000" pitchFamily="2" charset="0"/>
      <p:regular r:id="rId31"/>
      <p:bold r:id="rId32"/>
      <p:italic r:id="rId33"/>
      <p:boldItalic r:id="rId34"/>
    </p:embeddedFont>
    <p:embeddedFont>
      <p:font typeface="Montserrat ExtraBold" panose="00000900000000000000" pitchFamily="2" charset="0"/>
      <p:bold r:id="rId35"/>
      <p:boldItalic r:id="rId36"/>
    </p:embeddedFont>
    <p:embeddedFont>
      <p:font typeface="Montserrat Light" panose="00000400000000000000" pitchFamily="2" charset="0"/>
      <p:regular r:id="rId37"/>
      <p:italic r:id="rId38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verton Fernando Souza Ribeiro" initials="WFSR [2]" lastIdx="5" clrIdx="0">
    <p:extLst>
      <p:ext uri="{19B8F6BF-5375-455C-9EA6-DF929625EA0E}">
        <p15:presenceInfo xmlns:p15="http://schemas.microsoft.com/office/powerpoint/2012/main" userId="S::weverton.ribeiro@sp.senai.br::98c758d7-d0b8-461f-a4ce-ab5e52e2556b" providerId="AD"/>
      </p:ext>
    </p:extLst>
  </p:cmAuthor>
  <p:cmAuthor id="2" name="Weverton Fernando Souza Ribeiro" initials="WFSR" lastIdx="21" clrIdx="1">
    <p:extLst>
      <p:ext uri="{19B8F6BF-5375-455C-9EA6-DF929625EA0E}">
        <p15:presenceInfo xmlns:p15="http://schemas.microsoft.com/office/powerpoint/2012/main" userId="S-1-5-21-3467313907-1213806960-2174068774-2498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394" autoAdjust="0"/>
  </p:normalViewPr>
  <p:slideViewPr>
    <p:cSldViewPr>
      <p:cViewPr varScale="1">
        <p:scale>
          <a:sx n="38" d="100"/>
          <a:sy n="38" d="100"/>
        </p:scale>
        <p:origin x="804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ommentAuthors" Target="commentAuthors.xml"/><Relationship Id="rId21" Type="http://schemas.openxmlformats.org/officeDocument/2006/relationships/slide" Target="slides/slide17.xml"/><Relationship Id="rId34" Type="http://schemas.openxmlformats.org/officeDocument/2006/relationships/font" Target="fonts/font4.fntdata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11300-05A8-42F5-84F5-2A0388843EF7}" type="datetimeFigureOut">
              <a:rPr lang="pt-BR" smtClean="0"/>
              <a:t>05/03/2026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25586-B76B-45BD-812B-997E365A37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264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Agradecimentos paroquiais:</a:t>
            </a:r>
          </a:p>
          <a:p>
            <a:pPr marL="171450" indent="-171450">
              <a:buFontTx/>
              <a:buChar char="-"/>
            </a:pPr>
            <a:r>
              <a:rPr lang="pt-BR" dirty="0"/>
              <a:t>Ao publico</a:t>
            </a:r>
          </a:p>
          <a:p>
            <a:pPr marL="171450" indent="-171450">
              <a:buFontTx/>
              <a:buChar char="-"/>
            </a:pPr>
            <a:r>
              <a:rPr lang="pt-BR" dirty="0"/>
              <a:t>A organização da </a:t>
            </a:r>
            <a:r>
              <a:rPr lang="pt-BR" dirty="0" err="1"/>
              <a:t>Fenasucro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420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B0C93-8C4D-D342-0751-DFAFFC3A0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D4DA30-F33C-A2F7-F92A-DB0DDF479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EFC1E1E-52E2-0E7D-856E-315F556A6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2ECF61-001D-548A-6B73-EF7A0CE53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7902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EB18-D916-058E-EADA-B6D3EB09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E85CCC1-3AA3-B2D8-B9FF-8D4924C3E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10EC8CE-4C3C-10AB-AC05-D5D96FB6B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32404A-876F-B4CD-9738-58FBA1E87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530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C70D5-D78B-2AE9-8D97-551E75B4B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9F964E-AC07-B5D0-53A5-3E49E8167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1D073F-637C-67B3-18F2-9BD68E5CF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DE46CA-E8C4-78B3-6C95-FD0CCE109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6865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67B97-2F35-C755-9483-FA93C8477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5DEDE7-5C61-CB66-ED8B-153E3D37D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9A7E664-2E11-EC62-4BAB-8E2FE557B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73EE7A-14B3-98BC-1EC8-00183FB20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166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91D07-2765-8329-78B1-2CE0C0DB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6CF7CBC-CC7B-46D4-723C-46AB67724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E80D94C-7D8A-6B72-9D38-F287D9449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BEAD41-C8D8-EE88-589C-DE8E9A20A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781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09A78-09C5-056A-4A92-C35C7DB6E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2230452-5570-7A09-AF5C-F4AFD3444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599753F-92B2-295E-9C3E-FAFDE78D1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EC2814B-FB2A-F293-5C79-CE33D6E5D2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1195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47C53-7E6A-2C9A-B1D1-8F498C619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B15915-CD36-C76B-2646-743018EFB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C34C3AA-CE5E-AB5D-9076-78E287B91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24F28B-A634-F2B9-DBD3-E798A51C2A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09441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4D6CB-DF9D-32ED-30C1-F790FB58E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DE47213-B021-1DE3-D88B-6BA231D0D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7090A5C-C4EA-7392-4BD3-B5884D170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6E6BFF-4F39-2AB0-3152-CADD566BD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6747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8489D-FB49-F7A2-E302-075988D44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FB15743-B70A-1B50-EEA3-4106C0DE6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0A0550-2792-D41E-72AB-97F3C1C71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274D301-64B1-0A06-D040-65EBDAC06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33032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88B1D-366B-4175-CC1F-70BF8E6A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5B9F202-D839-13D8-09F0-CBDC550F7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343D9D-4788-8D75-56EA-D4CCD1441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3CD274-26A0-5F4F-1484-BF58BA109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241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9EBD9-CD21-2D9E-E174-90FEEC2FD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E9B9F3D-F551-9F17-758B-5ED0134C0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0FE3D2F-F8A9-FA13-7903-F3DE38256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8F7CD0-5500-E6D9-BA49-3778A0797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51972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8D5E9-6411-8566-3970-D4889A0CA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DDDB3E6-E8AB-1269-1BD2-E68E76D09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A8CCBF0-7F4E-F7E2-18FE-445B8540D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94AACA-A4DD-7F38-3B69-1EAA5FFD7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36826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C64AF-6444-B265-A698-4F36473E2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393FD1D-8515-BF94-E31E-3E4E2514A1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3BB0EBF-2D3A-CCAD-5AD9-BA1D549E9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3E4C06-3850-3BE0-13B5-0A5204B48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13534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B4677-1320-8BFC-7405-AF003BC30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CE279AB-FCDA-0B0A-80D1-8820376A5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CBAF55C-D297-81B5-AD9E-C712C76B8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12E1DD-73A5-1E4E-A02C-F4C5A7250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3700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4A5DE-798A-1945-40E1-0062989C4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079A502-5E36-AC02-447E-774B3BDAA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4B4E147-DF53-4DC8-54C8-CC9E6C452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A427EF6-F7BF-04ED-C555-8A1BCA893B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47941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DEEB4-AB18-B48B-C963-2A2C89101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C41A92E-0CE6-7CF5-3518-4A4ED7758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AF4FBE5-6992-68BC-D540-FA9F2C597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69F97A-358A-8FD3-4747-1B8599886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5930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08A0F-3374-6ED7-1F11-3A2CEC738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FB4C956-0911-2C62-C3B3-2E783B064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EE17FD7-CAF9-B3DB-E573-2BFEDA3F4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80DCCD-94FE-57A1-78BA-6ACFF40D3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235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10717-76F2-B7F1-0E22-14A9BD1CF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1DDC080-6F2F-8E91-D4A9-0675D03FB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F45AFF4-5589-A2FF-29CD-A90B394B9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5499A8-D0FA-545B-B221-4E1CD73D5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47542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CACFD-B52C-240F-F24E-FAA6CE6B5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A2A7E03-E062-D6D0-C50B-5D9D70A659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1D9BE90-9709-AB0D-3DE8-8C746F867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6CA48C-D6EB-4409-4D8E-D5B56D145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54360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B0B9C-688A-11EA-608D-BB9063D9C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E8080CA-BDE8-6B09-0A1A-F966854DD3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A5C8DE2-55B0-D85D-3979-D3E0090E2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5AFA30-EB72-CD19-22E5-68E62FA06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11915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E0E1A-5E25-B06A-339C-071C7E5E5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E3E2A49-E982-F738-D480-123A160C0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3441A2-C715-8DCC-A3EF-A6960F6A0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8C9A0DB-ECCF-20C6-688B-EC3A4780F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1174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E42BC-32BE-35C6-89C3-3B1DCC1C3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135C692-C987-D5FF-179B-FE04A8A86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E298AC9-E168-9607-6077-5CC6F222E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96D8C3-0570-C162-3EEF-2A342A4F8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72344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6BC9C-7C72-3142-BD0F-82B376AD0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9D1EF6-848C-2F16-9A2B-2A0388D50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5291018-93D9-0F56-EEF7-713BC29B6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09D5F4-682B-7A96-0AD2-EB76744CC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31477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52EFB-EDEE-3B16-E36E-574FD694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9A819D2-E95F-C169-504B-27710A7F8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D43577B-6B26-D3E0-57EF-BD0B7EF28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6045AF-A5AB-3CC4-7E80-4E881D1B1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16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sp>
        <p:nvSpPr>
          <p:cNvPr id="6" name="Espaço Reservado para Texto 14">
            <a:extLst>
              <a:ext uri="{FF2B5EF4-FFF2-40B4-BE49-F238E27FC236}">
                <a16:creationId xmlns:a16="http://schemas.microsoft.com/office/drawing/2014/main" id="{741322F5-93ED-4D68-A8FF-9359DF6E75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5099" y="448220"/>
            <a:ext cx="15513191" cy="111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56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5277"/>
            </a:lvl2pPr>
            <a:lvl3pPr>
              <a:defRPr sz="4617"/>
            </a:lvl3pPr>
            <a:lvl4pPr>
              <a:defRPr sz="3958"/>
            </a:lvl4pPr>
            <a:lvl5pPr>
              <a:defRPr sz="3958"/>
            </a:lvl5pPr>
          </a:lstStyle>
          <a:p>
            <a:pPr lvl="0"/>
            <a:r>
              <a:rPr lang="pt-BR"/>
              <a:t>Digitar seu título aqui</a:t>
            </a:r>
          </a:p>
        </p:txBody>
      </p:sp>
      <p:sp>
        <p:nvSpPr>
          <p:cNvPr id="7" name="Espaço Reservado para Texto 16">
            <a:extLst>
              <a:ext uri="{FF2B5EF4-FFF2-40B4-BE49-F238E27FC236}">
                <a16:creationId xmlns:a16="http://schemas.microsoft.com/office/drawing/2014/main" id="{2B77ECB5-455F-48E1-AC6C-CB94B5AD6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3929" y="2063797"/>
            <a:ext cx="15514360" cy="507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98" b="1">
                <a:solidFill>
                  <a:srgbClr val="E51E3C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Digitar seu subtítulo aqui</a:t>
            </a:r>
          </a:p>
        </p:txBody>
      </p:sp>
      <p:sp>
        <p:nvSpPr>
          <p:cNvPr id="8" name="Espaço Reservado para Texto 18">
            <a:extLst>
              <a:ext uri="{FF2B5EF4-FFF2-40B4-BE49-F238E27FC236}">
                <a16:creationId xmlns:a16="http://schemas.microsoft.com/office/drawing/2014/main" id="{94A25BC8-06B9-4702-900E-C725EC8984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3930" y="3105603"/>
            <a:ext cx="14341622" cy="1872116"/>
          </a:xfrm>
          <a:prstGeom prst="rect">
            <a:avLst/>
          </a:prstGeom>
        </p:spPr>
        <p:txBody>
          <a:bodyPr/>
          <a:lstStyle>
            <a:lvl1pPr marL="0" marR="0" indent="0" algn="l" defTabSz="1507846" rtl="0" eaLnBrk="1" fontAlgn="auto" latinLnBrk="0" hangingPunct="1">
              <a:lnSpc>
                <a:spcPct val="90000"/>
              </a:lnSpc>
              <a:spcBef>
                <a:spcPts val="16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958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 vero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eos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accusamus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iusto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odio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dignissimos</a:t>
            </a:r>
            <a:endParaRPr lang="pt-BR" sz="3298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77"/>
            </a:endParaRPr>
          </a:p>
          <a:p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praesentium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voluptatum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deleniti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atque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.</a:t>
            </a:r>
          </a:p>
          <a:p>
            <a:pPr lvl="0"/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290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" y="398"/>
            <a:ext cx="20102688" cy="11307763"/>
          </a:xfrm>
          <a:prstGeom prst="rect">
            <a:avLst/>
          </a:prstGeom>
        </p:spPr>
      </p:pic>
      <p:sp>
        <p:nvSpPr>
          <p:cNvPr id="12" name="object 10">
            <a:extLst>
              <a:ext uri="{FF2B5EF4-FFF2-40B4-BE49-F238E27FC236}">
                <a16:creationId xmlns:a16="http://schemas.microsoft.com/office/drawing/2014/main" id="{4D48E881-58D3-4B18-B397-6971EA7E7E23}"/>
              </a:ext>
            </a:extLst>
          </p:cNvPr>
          <p:cNvSpPr/>
          <p:nvPr/>
        </p:nvSpPr>
        <p:spPr>
          <a:xfrm>
            <a:off x="706" y="11131431"/>
            <a:ext cx="20102688" cy="16204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299A9214-8828-4B4B-9941-B4CFBF09BDD0}"/>
              </a:ext>
            </a:extLst>
          </p:cNvPr>
          <p:cNvSpPr txBox="1">
            <a:spLocks/>
          </p:cNvSpPr>
          <p:nvPr/>
        </p:nvSpPr>
        <p:spPr>
          <a:xfrm>
            <a:off x="8884870" y="2759075"/>
            <a:ext cx="9994802" cy="1028486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699" defTabSz="1507846">
              <a:spcBef>
                <a:spcPts val="101"/>
              </a:spcBef>
            </a:pPr>
            <a:r>
              <a:rPr lang="pt-BR" sz="6600" b="1" i="1" kern="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Técnico em ADM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9DB5E0E8-CC40-4125-A2AE-B830D0D73C7D}"/>
              </a:ext>
            </a:extLst>
          </p:cNvPr>
          <p:cNvSpPr/>
          <p:nvPr/>
        </p:nvSpPr>
        <p:spPr>
          <a:xfrm>
            <a:off x="8017902" y="2454275"/>
            <a:ext cx="0" cy="3087979"/>
          </a:xfrm>
          <a:custGeom>
            <a:avLst/>
            <a:gdLst/>
            <a:ahLst/>
            <a:cxnLst/>
            <a:rect l="l" t="t" r="r" b="b"/>
            <a:pathLst>
              <a:path h="3001009">
                <a:moveTo>
                  <a:pt x="0" y="3000400"/>
                </a:moveTo>
                <a:lnTo>
                  <a:pt x="0" y="0"/>
                </a:lnTo>
              </a:path>
            </a:pathLst>
          </a:custGeom>
          <a:ln w="2783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3" name="object 3">
            <a:extLst>
              <a:ext uri="{FF2B5EF4-FFF2-40B4-BE49-F238E27FC236}">
                <a16:creationId xmlns:a16="http://schemas.microsoft.com/office/drawing/2014/main" id="{F6A5027A-E215-4339-A81A-70A4E1B2C71F}"/>
              </a:ext>
            </a:extLst>
          </p:cNvPr>
          <p:cNvGrpSpPr/>
          <p:nvPr/>
        </p:nvGrpSpPr>
        <p:grpSpPr>
          <a:xfrm>
            <a:off x="2243795" y="3261247"/>
            <a:ext cx="4357813" cy="1145007"/>
            <a:chOff x="15364003" y="1047088"/>
            <a:chExt cx="3693160" cy="94297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35C6579F-DD30-4CD7-8A2C-1FFFDBA4E0E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CD579FB6-1ED6-4812-81D3-EB30E18FC70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A258380-2930-47F4-ACEA-A6BA1F6CA553}"/>
              </a:ext>
            </a:extLst>
          </p:cNvPr>
          <p:cNvGrpSpPr/>
          <p:nvPr/>
        </p:nvGrpSpPr>
        <p:grpSpPr>
          <a:xfrm>
            <a:off x="9201247" y="6873875"/>
            <a:ext cx="9994803" cy="2033890"/>
            <a:chOff x="9201247" y="6873875"/>
            <a:chExt cx="9994803" cy="2033890"/>
          </a:xfrm>
        </p:grpSpPr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2F76E57F-4516-44C1-B269-693C768D9ADE}"/>
                </a:ext>
              </a:extLst>
            </p:cNvPr>
            <p:cNvSpPr txBox="1">
              <a:spLocks/>
            </p:cNvSpPr>
            <p:nvPr/>
          </p:nvSpPr>
          <p:spPr>
            <a:xfrm>
              <a:off x="9201247" y="6873875"/>
              <a:ext cx="9994803" cy="2033890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600" b="1" kern="0" spc="-25" dirty="0">
                <a:solidFill>
                  <a:srgbClr val="C00000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FENASUCRO 2022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Auditório ...</a:t>
              </a:r>
            </a:p>
            <a:p>
              <a:pPr marL="12700" algn="r">
                <a:spcBef>
                  <a:spcPts val="100"/>
                </a:spcBef>
              </a:pPr>
              <a:endParaRPr lang="pt-BR" sz="2400" i="1" kern="0" spc="-25" dirty="0">
                <a:solidFill>
                  <a:srgbClr val="C00000"/>
                </a:solidFill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2400" kern="0" spc="-25" dirty="0">
                  <a:solidFill>
                    <a:srgbClr val="C00000"/>
                  </a:solidFill>
                </a:rPr>
                <a:t>Sertãozinho/SP 19 de ago. de 2022</a:t>
              </a:r>
              <a:endParaRPr lang="pt-BR" sz="2800" kern="0" dirty="0">
                <a:solidFill>
                  <a:srgbClr val="C00000"/>
                </a:solidFill>
              </a:endParaRPr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7A133603-A712-4ECF-9A36-36E433CC4C03}"/>
                </a:ext>
              </a:extLst>
            </p:cNvPr>
            <p:cNvSpPr txBox="1">
              <a:spLocks/>
            </p:cNvSpPr>
            <p:nvPr/>
          </p:nvSpPr>
          <p:spPr>
            <a:xfrm>
              <a:off x="10270078" y="7360398"/>
              <a:ext cx="6857992" cy="1084912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4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FFFFFF"/>
                  </a:solidFill>
                  <a:latin typeface="Montserrat ExtraBold" panose="020B0604020202020204" charset="0"/>
                </a:rPr>
                <a:t>SENAI 5.13 - Jaguariúna</a:t>
              </a:r>
              <a:endParaRPr lang="pt-BR" sz="28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endParaRPr lang="pt-BR" sz="1800" i="1" kern="0" spc="-25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B79C395-5E26-4C89-A9E4-FA649F6D8416}"/>
              </a:ext>
            </a:extLst>
          </p:cNvPr>
          <p:cNvGrpSpPr/>
          <p:nvPr/>
        </p:nvGrpSpPr>
        <p:grpSpPr>
          <a:xfrm>
            <a:off x="12871450" y="9118387"/>
            <a:ext cx="6254754" cy="825868"/>
            <a:chOff x="12871450" y="9118387"/>
            <a:chExt cx="6254754" cy="825868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6CF72D63-5AAF-4BE9-AFFC-BCAFEEB76FB9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8"/>
              <a:ext cx="6254754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chemeClr val="bg2">
                      <a:lumMod val="25000"/>
                    </a:schemeClr>
                  </a:solidFill>
                </a:rPr>
                <a:t>Paulo Rogério Ferreira Tescaro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chemeClr val="bg2">
                      <a:lumMod val="25000"/>
                    </a:schemeClr>
                  </a:solidFill>
                </a:rPr>
                <a:t>Especialista em Tecnologia</a:t>
              </a:r>
              <a:endParaRPr lang="pt-BR" sz="2800" kern="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C0F3FD7B-98E7-4252-8F7C-5224E77E0354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7"/>
              <a:ext cx="6019800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rgbClr val="FFFFFF"/>
                  </a:solidFill>
                </a:rPr>
                <a:t>Luis Fernando Spoljaric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rgbClr val="FFFFFF"/>
                  </a:solidFill>
                </a:rPr>
                <a:t>Instrutor de formação profissional III</a:t>
              </a:r>
              <a:endParaRPr lang="pt-BR" sz="2800" kern="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7EE7E-4B9E-84FC-A879-3D23CF0BF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1EAD97-7E48-D804-DF8E-E8432D9ABDDD}"/>
              </a:ext>
            </a:extLst>
          </p:cNvPr>
          <p:cNvSpPr/>
          <p:nvPr/>
        </p:nvSpPr>
        <p:spPr>
          <a:xfrm>
            <a:off x="-14817" y="-378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E147C2A-AEFD-A4B1-12B7-EAE2931EBD1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0C93F40-920B-99B6-DD14-BF409634303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3AB46CB-D7AF-F4FB-625E-DB63B2FD6A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8847225-EA29-B263-4AAB-7A6A07F4A72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BC0A9A9-0832-B2FC-B348-49820B93E2C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F5C4AF6-1144-D15E-8D31-C4DDA4EDC3D4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4A75463-75D1-30ED-7BE3-9BB6D9872C01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6A9B463-D921-6C9C-78FA-4B9CFED140CB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6B2C8C6-D565-5BB4-2118-BDD5919A82CE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A9B9CD50-41A5-5E01-1AA2-EFE2065620E1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1D8A778E-9BD6-1B80-64AE-178F9B6F541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3ECCEAFB-96A9-BD83-94C2-01C46CAD6E23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EEC3AB2-45CC-0515-2441-B58A9C0C49F1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7F582F1-4263-BA22-A0B1-44D65A249821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2D0E1A2-61B9-5B7B-58EE-144587213048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3D22A34-9985-75DF-59C3-17A4E46B3C53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D2D0A9A9-C7C7-B9C7-B43D-C26633AC6E4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E6C24C5-1FB4-FBE7-6736-799FF197A484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8B91537-915C-F06D-D199-40F9E667C15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F205ADDA-6173-9F10-61D9-0BCC19981C48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D9A6A54-E90D-456E-B44F-D59E94516943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7EB6CDA5-54BC-4390-E511-2DB1615DCDF1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47025E88-C48C-4425-662F-F79E8B30A770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3F39FE87-4E26-E884-821C-ADA9886E2FA1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737AFA5-D653-DA93-FA86-6933893E9F59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DC846E0B-0519-7B71-8716-1AD780537D2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8E58707-6519-9AB1-CA20-740792B93FF9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CDC35C44-6054-6C3D-2450-C770EC1668D8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AA5C7764-3DEA-35F5-AD84-D31BAE58BC66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0F3849E0-35F5-8B5D-31AE-2CD2CF7243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384012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Lei Geral de Proteção de Dados (LGPD)</a:t>
            </a: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6" name="Picture 2" descr="Lei de Proteção de Dados – LGPD - Azumi - Novo">
            <a:extLst>
              <a:ext uri="{FF2B5EF4-FFF2-40B4-BE49-F238E27FC236}">
                <a16:creationId xmlns:a16="http://schemas.microsoft.com/office/drawing/2014/main" id="{CB028CD6-EA06-ACCF-ACEE-0EE34E3C2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8550" y="3241520"/>
            <a:ext cx="10287000" cy="642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880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3C8F-B663-0463-E887-B4CAFB68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BB05AB8-E681-D36B-C2D6-65F979C00D9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4B1B6C-6FD2-C4BD-4934-1D43C1B34C2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7678B0-47B8-9FEA-CDAA-AD777BE4475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4E5F8F3-9610-6FE9-2AD2-C5BC8496E5E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519059-48BB-77C4-E999-9DE30F423B7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823E162-8BED-FF78-C48A-780A25D8E9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0458" y="1362192"/>
            <a:ext cx="1384173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 que é a LGPD?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2CE79D-FBBD-1F15-A0C0-4C1623434A09}"/>
              </a:ext>
            </a:extLst>
          </p:cNvPr>
          <p:cNvSpPr txBox="1"/>
          <p:nvPr/>
        </p:nvSpPr>
        <p:spPr>
          <a:xfrm>
            <a:off x="1526491" y="3063875"/>
            <a:ext cx="1691184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A </a:t>
            </a:r>
            <a:r>
              <a:rPr lang="pt-BR" sz="4000" b="1" dirty="0"/>
              <a:t>Lei Geral de Proteção de Dados Pessoais (LGPD)</a:t>
            </a:r>
            <a:r>
              <a:rPr lang="pt-BR" sz="4000" dirty="0"/>
              <a:t> é a legislação brasileira que regula </a:t>
            </a:r>
            <a:r>
              <a:rPr lang="pt-BR" sz="4000" b="1" dirty="0"/>
              <a:t>como dados pessoais devem ser coletados, armazenados, utilizados e compartilhados</a:t>
            </a:r>
            <a:r>
              <a:rPr lang="pt-BR" sz="4000" dirty="0"/>
              <a:t> por empresas e organizações.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Número da lei: </a:t>
            </a:r>
            <a:r>
              <a:rPr lang="pt-BR" sz="4000" b="1" dirty="0"/>
              <a:t>Lei nº 13.709/2018</a:t>
            </a: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Entrou em vigor em </a:t>
            </a:r>
            <a:r>
              <a:rPr lang="pt-BR" sz="4000" b="1" dirty="0"/>
              <a:t>2020</a:t>
            </a: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Inspirada na lei europeia </a:t>
            </a:r>
            <a:r>
              <a:rPr lang="pt-BR" sz="4000" b="1" dirty="0"/>
              <a:t>General Data </a:t>
            </a:r>
            <a:r>
              <a:rPr lang="pt-BR" sz="4000" b="1" dirty="0" err="1"/>
              <a:t>Protection</a:t>
            </a:r>
            <a:r>
              <a:rPr lang="pt-BR" sz="4000" b="1" dirty="0"/>
              <a:t> </a:t>
            </a:r>
            <a:r>
              <a:rPr lang="pt-BR" sz="4000" b="1" dirty="0" err="1"/>
              <a:t>Regulation</a:t>
            </a:r>
            <a:r>
              <a:rPr lang="pt-BR" sz="4000" b="1" dirty="0"/>
              <a:t> (GDPR)</a:t>
            </a:r>
            <a:r>
              <a:rPr lang="pt-BR" sz="4000" dirty="0"/>
              <a:t>.</a:t>
            </a:r>
          </a:p>
          <a:p>
            <a:endParaRPr lang="pt-BR" sz="4000" dirty="0"/>
          </a:p>
          <a:p>
            <a:r>
              <a:rPr lang="pt-BR" sz="4000" dirty="0"/>
              <a:t>📌 Objetivo principal:</a:t>
            </a:r>
            <a:br>
              <a:rPr lang="pt-BR" sz="4000" dirty="0"/>
            </a:br>
            <a:r>
              <a:rPr lang="pt-BR" sz="4000" b="1" dirty="0"/>
              <a:t>Proteger a privacidade e os dados pessoais dos cidadãos.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231613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2FC6B-4A73-3666-DFCF-E153B3E7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0FCC871-585E-CBE6-5F4C-0DEF290EC00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05CEFCF-BB14-7A6F-CCF9-8D65540216A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3CDEF7E-A9DF-223A-6717-BD6E880A22A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4A4961C-7C03-F84F-5795-8A5F4E11D75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2A5131-5932-902F-779D-252A6B81276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9925B0-592C-2216-07C5-699A06B41D38}"/>
              </a:ext>
            </a:extLst>
          </p:cNvPr>
          <p:cNvSpPr txBox="1"/>
          <p:nvPr/>
        </p:nvSpPr>
        <p:spPr>
          <a:xfrm>
            <a:off x="1490458" y="2785136"/>
            <a:ext cx="1691184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São dados mais delicados, que podem gerar </a:t>
            </a:r>
            <a:r>
              <a:rPr lang="pt-BR" sz="4000" b="1" dirty="0"/>
              <a:t>discriminação</a:t>
            </a:r>
            <a:r>
              <a:rPr lang="pt-BR" sz="4000" dirty="0"/>
              <a:t>.</a:t>
            </a:r>
          </a:p>
          <a:p>
            <a:endParaRPr lang="pt-BR" sz="4000" dirty="0"/>
          </a:p>
          <a:p>
            <a:r>
              <a:rPr lang="pt-BR" sz="4000" b="1" dirty="0"/>
              <a:t>Exemplos: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Origem racial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Religião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Opinião política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Dados de saúde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Dados biométricos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Orientação sexual</a:t>
            </a:r>
          </a:p>
          <a:p>
            <a:endParaRPr lang="pt-BR" sz="4000" dirty="0"/>
          </a:p>
        </p:txBody>
      </p:sp>
      <p:sp>
        <p:nvSpPr>
          <p:cNvPr id="2" name="object 15">
            <a:extLst>
              <a:ext uri="{FF2B5EF4-FFF2-40B4-BE49-F238E27FC236}">
                <a16:creationId xmlns:a16="http://schemas.microsoft.com/office/drawing/2014/main" id="{07EE59CE-64CD-A41F-7BE8-31B2B24979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0458" y="1362192"/>
            <a:ext cx="1384173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Dados Pessoais Sensíveis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E9484A-E046-9B0F-46A9-F412D666D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650" y="5197475"/>
            <a:ext cx="8042710" cy="253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446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18FEE-1638-5E9E-73E1-031C1E544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EFB6DC2-0C47-D4C7-716D-D41C4BC56FB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A2AAD6E-D5BF-44AD-5411-8BBE8D6A1BD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FA91FA0-B669-EAF4-9502-620F2D3EF2D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631F33D-AB25-7CD9-3965-A52A93BDEC1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69D8B77-840C-6C5E-2C13-0F038F47572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3D9B4A4-08F7-F5C8-9EAC-7639EFFA4A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Quem deve cumprir a LGPD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5322D1F-32A3-FB69-5EF3-F5F88BD6B8DD}"/>
              </a:ext>
            </a:extLst>
          </p:cNvPr>
          <p:cNvSpPr txBox="1"/>
          <p:nvPr/>
        </p:nvSpPr>
        <p:spPr>
          <a:xfrm>
            <a:off x="1526490" y="3063875"/>
            <a:ext cx="17136159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A </a:t>
            </a:r>
            <a:r>
              <a:rPr lang="pt-BR" sz="4000" b="1" dirty="0"/>
              <a:t>LGPD</a:t>
            </a:r>
            <a:r>
              <a:rPr lang="pt-BR" sz="4000" dirty="0"/>
              <a:t> se aplica a: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Empresas privadas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Órgãos públicos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Sites e aplicativos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Profissionais autônomos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Escolas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Hospitais</a:t>
            </a:r>
          </a:p>
          <a:p>
            <a:endParaRPr lang="pt-BR" sz="4000" dirty="0"/>
          </a:p>
          <a:p>
            <a:r>
              <a:rPr lang="pt-BR" sz="4000" dirty="0"/>
              <a:t>Ou seja, </a:t>
            </a:r>
            <a:r>
              <a:rPr lang="pt-BR" sz="4000" b="1" dirty="0"/>
              <a:t>qualquer organização que trate dados pessoais no Brasil</a:t>
            </a:r>
            <a:r>
              <a:rPr lang="pt-BR" sz="4000" dirty="0"/>
              <a:t>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75771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F6FE8-3914-24FD-A95E-2693A4276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5B9F6CC-E024-CF92-C2B6-31049BF0837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EAF9493-0484-D0FE-BBFF-2161808EB97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37BBE96-5DA5-2F86-ACD8-39987B5FF42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E0D2F90-815D-DD65-58F9-383D8ED28FD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26F50D4-BC0F-6BDB-208F-36EE3A5730F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5E88F38-C850-7A03-2338-01C3E42ACA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Principais agentes da LGPD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0C0704-CFB4-7C6D-15B9-E187A9DC5C4D}"/>
              </a:ext>
            </a:extLst>
          </p:cNvPr>
          <p:cNvSpPr txBox="1"/>
          <p:nvPr/>
        </p:nvSpPr>
        <p:spPr>
          <a:xfrm>
            <a:off x="1526490" y="3063875"/>
            <a:ext cx="17136159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A lei define três papéis principais.</a:t>
            </a:r>
          </a:p>
          <a:p>
            <a:endParaRPr lang="pt-BR" sz="4000" b="1" dirty="0"/>
          </a:p>
          <a:p>
            <a:r>
              <a:rPr lang="pt-BR" sz="4000" b="1" dirty="0"/>
              <a:t>1. Titular dos Dados</a:t>
            </a:r>
          </a:p>
          <a:p>
            <a:endParaRPr lang="pt-BR" sz="4000" b="1" dirty="0"/>
          </a:p>
          <a:p>
            <a:r>
              <a:rPr lang="pt-BR" sz="4000" dirty="0"/>
              <a:t>É</a:t>
            </a:r>
            <a:r>
              <a:rPr lang="pt-BR" sz="4000" b="1" dirty="0"/>
              <a:t> a pessoa dona dos dados.</a:t>
            </a:r>
          </a:p>
          <a:p>
            <a:endParaRPr lang="pt-BR" sz="4000" b="1" dirty="0"/>
          </a:p>
          <a:p>
            <a:r>
              <a:rPr lang="pt-BR" sz="4000" b="1" dirty="0"/>
              <a:t>Exemplo: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Cliente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Usuário de um site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Funcionário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729091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5B017-C330-CF5A-5019-E2FCF2787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ECB2822A-9E5C-8914-43C5-30C591D8D533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ECC791D-3EB0-D1C8-D47E-B09652C027C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74886FC-0C8C-018D-F926-06EBC4EF5B7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6BE5F69-2E3B-111E-5C73-AA60C27E362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EF72885-EC28-4010-AE1A-C3CDB2DD57A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4389726-AF05-F358-A61D-D4966CDE29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Principais agentes da LGPD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8505231-768F-4A3B-9529-EA734BCB9309}"/>
              </a:ext>
            </a:extLst>
          </p:cNvPr>
          <p:cNvSpPr txBox="1"/>
          <p:nvPr/>
        </p:nvSpPr>
        <p:spPr>
          <a:xfrm>
            <a:off x="1526490" y="3063875"/>
            <a:ext cx="1713615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2. Controlador</a:t>
            </a:r>
          </a:p>
          <a:p>
            <a:endParaRPr lang="pt-BR" sz="4000" dirty="0"/>
          </a:p>
          <a:p>
            <a:r>
              <a:rPr lang="pt-BR" sz="4000" dirty="0"/>
              <a:t>É quem </a:t>
            </a:r>
            <a:r>
              <a:rPr lang="pt-BR" sz="4000" b="1" dirty="0"/>
              <a:t>decide o que será feito com os dados.</a:t>
            </a:r>
          </a:p>
          <a:p>
            <a:endParaRPr lang="pt-BR" sz="4000" b="1" dirty="0"/>
          </a:p>
          <a:p>
            <a:r>
              <a:rPr lang="pt-BR" sz="4000" b="1" dirty="0"/>
              <a:t>Exemplo: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Empresa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Escola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Aplicativo</a:t>
            </a:r>
          </a:p>
        </p:txBody>
      </p:sp>
    </p:spTree>
    <p:extLst>
      <p:ext uri="{BB962C8B-B14F-4D97-AF65-F5344CB8AC3E}">
        <p14:creationId xmlns:p14="http://schemas.microsoft.com/office/powerpoint/2010/main" val="1436837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DC9E1-4086-3633-01C7-BFB8EE708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7D94F15-37FB-9B5B-D934-1659A3CB305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F6C219E-6D44-D557-05D3-53A9D9885E7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01B5734-10A6-2838-B3FF-1C336FB41D81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FAEBB54-DD9F-BFE4-A7E0-CFFDCC316C3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220DB45-9302-9DCA-5C06-808069B9F56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8E6DF06-5681-D0B0-C13F-6644B9EBD0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Principais agentes da LGPD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651D52A-5BA9-15D8-6C27-746768F54684}"/>
              </a:ext>
            </a:extLst>
          </p:cNvPr>
          <p:cNvSpPr txBox="1"/>
          <p:nvPr/>
        </p:nvSpPr>
        <p:spPr>
          <a:xfrm>
            <a:off x="1526490" y="3063875"/>
            <a:ext cx="1713615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3. Operador</a:t>
            </a:r>
          </a:p>
          <a:p>
            <a:endParaRPr lang="pt-BR" sz="4000" b="1" dirty="0"/>
          </a:p>
          <a:p>
            <a:r>
              <a:rPr lang="pt-BR" sz="4000" dirty="0"/>
              <a:t>É quem </a:t>
            </a:r>
            <a:r>
              <a:rPr lang="pt-BR" sz="4000" b="1" dirty="0"/>
              <a:t>processa os dados em nome do controlador.</a:t>
            </a:r>
          </a:p>
          <a:p>
            <a:endParaRPr lang="pt-BR" sz="4000" b="1" dirty="0"/>
          </a:p>
          <a:p>
            <a:r>
              <a:rPr lang="pt-BR" sz="4000" b="1" dirty="0"/>
              <a:t>Exemplo: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Empresa de TI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Empresa de marketing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Sistema de CRM</a:t>
            </a:r>
          </a:p>
        </p:txBody>
      </p:sp>
    </p:spTree>
    <p:extLst>
      <p:ext uri="{BB962C8B-B14F-4D97-AF65-F5344CB8AC3E}">
        <p14:creationId xmlns:p14="http://schemas.microsoft.com/office/powerpoint/2010/main" val="1062022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30C73-C299-202E-D987-A816D17B1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2E0EB3E-23B5-3E8D-A228-2D044A61704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AC321A5-6154-5DD7-7612-D89C17E0EC7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244EEE4-C719-40E4-D237-4DDC87E9FD2C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CA285F0-C900-91FF-920F-C20F0C289A5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3F0578A-C473-2A48-278E-E59098D5FD4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949A307-9F93-036C-D291-12E7456F7D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Autoridade responsável pela LGPD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0B90B90-D33A-627C-A834-2D9976F0ACD7}"/>
              </a:ext>
            </a:extLst>
          </p:cNvPr>
          <p:cNvSpPr txBox="1"/>
          <p:nvPr/>
        </p:nvSpPr>
        <p:spPr>
          <a:xfrm>
            <a:off x="1526490" y="3063875"/>
            <a:ext cx="171361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Quem fiscaliza o cumprimento da lei é a:</a:t>
            </a:r>
          </a:p>
          <a:p>
            <a:endParaRPr lang="pt-BR" sz="4000" b="1" dirty="0"/>
          </a:p>
          <a:p>
            <a:r>
              <a:rPr lang="pt-BR" sz="4000" b="1" dirty="0"/>
              <a:t>Autoridade Nacional de Proteção de Dados (ANPD).</a:t>
            </a:r>
          </a:p>
          <a:p>
            <a:endParaRPr lang="pt-BR" sz="4000" b="1" dirty="0"/>
          </a:p>
          <a:p>
            <a:r>
              <a:rPr lang="pt-BR" sz="4000" b="1" dirty="0"/>
              <a:t>Funções da ANPD: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Fiscalizar empresas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Aplicar multas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Criar regras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Orientar organizações</a:t>
            </a:r>
          </a:p>
        </p:txBody>
      </p:sp>
    </p:spTree>
    <p:extLst>
      <p:ext uri="{BB962C8B-B14F-4D97-AF65-F5344CB8AC3E}">
        <p14:creationId xmlns:p14="http://schemas.microsoft.com/office/powerpoint/2010/main" val="4177743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7C53-729D-F4BE-15CC-ADA2C4415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C3F61A4-0FC9-BD0F-48C1-FEB1E076EDC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8AC48CF-B0D1-21DB-865F-648657E9BC4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2489227-2007-9DAC-850E-840E66DA7F5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786C3D0-A94D-4384-18FB-A4DCD857C52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2AD92FF-1B7B-3AA3-BBBA-A98A0650A22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A8D6344-D3FF-B10C-19AF-C4B879558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417339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Direitos do Titular dos Dados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B184AD-C041-F4CC-F3E2-CB4FC1A4D0D3}"/>
              </a:ext>
            </a:extLst>
          </p:cNvPr>
          <p:cNvSpPr txBox="1"/>
          <p:nvPr/>
        </p:nvSpPr>
        <p:spPr>
          <a:xfrm>
            <a:off x="1904386" y="3061589"/>
            <a:ext cx="15306197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A LGPD garante vários direitos ao cidadão.</a:t>
            </a:r>
          </a:p>
          <a:p>
            <a:endParaRPr lang="pt-BR" sz="4000" b="1" dirty="0"/>
          </a:p>
          <a:p>
            <a:r>
              <a:rPr lang="pt-BR" sz="4000" b="1" dirty="0"/>
              <a:t>Principais direitos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Saber quais dados a empresa possui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Corrigir dados incorretos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Pedir exclusão dos dados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Solicitar portabilidade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Revogar consentimento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Saber com quem os dados foram compartilhados</a:t>
            </a:r>
          </a:p>
          <a:p>
            <a:endParaRPr lang="pt-BR" sz="40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CB133C5-FA64-C0D9-07FF-1E6C8C0D03C9}"/>
              </a:ext>
            </a:extLst>
          </p:cNvPr>
          <p:cNvSpPr txBox="1"/>
          <p:nvPr/>
        </p:nvSpPr>
        <p:spPr>
          <a:xfrm>
            <a:off x="3727450" y="10160738"/>
            <a:ext cx="1234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“Quero saber quais dados vocês sabem sobre mim!”</a:t>
            </a:r>
          </a:p>
        </p:txBody>
      </p:sp>
    </p:spTree>
    <p:extLst>
      <p:ext uri="{BB962C8B-B14F-4D97-AF65-F5344CB8AC3E}">
        <p14:creationId xmlns:p14="http://schemas.microsoft.com/office/powerpoint/2010/main" val="2949675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98163-78B1-0566-A2BB-E496019C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B4A8737-9039-D33A-048B-4995CE5EDED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2F26487-C564-2C81-C32C-0F35D5511E6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A8B9E85-E9CD-41C9-D942-0DB61B67A2D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4112E9B-BADE-910A-D15A-2C774B03BE1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65DCCD0-6B11-510B-6A10-2AD84D7D191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785AC3E-B791-07C6-8D63-4783A72456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Bases Legais para uso de dados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746D7C4-38F3-1B1E-5D3A-822FE5CA1F49}"/>
              </a:ext>
            </a:extLst>
          </p:cNvPr>
          <p:cNvSpPr txBox="1"/>
          <p:nvPr/>
        </p:nvSpPr>
        <p:spPr>
          <a:xfrm>
            <a:off x="1441450" y="2824321"/>
            <a:ext cx="15383559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A empresa </a:t>
            </a:r>
            <a:r>
              <a:rPr lang="pt-BR" sz="4000" b="1" dirty="0"/>
              <a:t>não pode usar dados livremente.</a:t>
            </a:r>
          </a:p>
          <a:p>
            <a:r>
              <a:rPr lang="pt-BR" sz="4000" dirty="0"/>
              <a:t>Ela precisa de uma </a:t>
            </a:r>
            <a:r>
              <a:rPr lang="pt-BR" sz="4000" b="1" dirty="0"/>
              <a:t>base legal.</a:t>
            </a:r>
          </a:p>
          <a:p>
            <a:endParaRPr lang="pt-BR" sz="4000" dirty="0"/>
          </a:p>
          <a:p>
            <a:r>
              <a:rPr lang="pt-BR" sz="4000" dirty="0"/>
              <a:t>Principais bases:</a:t>
            </a:r>
          </a:p>
          <a:p>
            <a:endParaRPr lang="pt-BR" sz="4000" dirty="0"/>
          </a:p>
          <a:p>
            <a:r>
              <a:rPr lang="pt-BR" sz="4000" b="1" dirty="0"/>
              <a:t>Consentimento</a:t>
            </a:r>
          </a:p>
          <a:p>
            <a:endParaRPr lang="pt-BR" sz="4000" dirty="0"/>
          </a:p>
          <a:p>
            <a:r>
              <a:rPr lang="pt-BR" sz="4000" dirty="0"/>
              <a:t>Usuário autoriza o uso.</a:t>
            </a:r>
          </a:p>
          <a:p>
            <a:endParaRPr lang="pt-BR" sz="4000" dirty="0"/>
          </a:p>
          <a:p>
            <a:r>
              <a:rPr lang="pt-BR" sz="4000" b="1" dirty="0"/>
              <a:t>Exemplo:</a:t>
            </a:r>
          </a:p>
          <a:p>
            <a:pPr algn="ctr"/>
            <a:r>
              <a:rPr lang="pt-BR" sz="4000" dirty="0"/>
              <a:t>“Aceito que meus dados sejam usados para receber promoções.”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77133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D63F1-21A7-AAF3-2D82-41D67F33B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3E18903-0A23-DCD4-3780-97AC22505FB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1C4A7CB-044A-192C-F661-A5E718584CC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2994D51-9C56-3A7E-38EA-39CC105D361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B628B64-11BF-4AC1-3B6B-B9A185D4A7B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05F5E7E-E028-A781-16FA-446DB9FFA0B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7AACC1E-B408-C412-049C-089C17C4B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Bases Legais para uso de dados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EEC9945-C266-4FF6-0075-B4AA7A7309B0}"/>
              </a:ext>
            </a:extLst>
          </p:cNvPr>
          <p:cNvSpPr txBox="1"/>
          <p:nvPr/>
        </p:nvSpPr>
        <p:spPr>
          <a:xfrm>
            <a:off x="1441450" y="2824321"/>
            <a:ext cx="1538355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Obrigação legal</a:t>
            </a:r>
          </a:p>
          <a:p>
            <a:endParaRPr lang="pt-BR" sz="4000" dirty="0"/>
          </a:p>
          <a:p>
            <a:r>
              <a:rPr lang="pt-BR" sz="4000" dirty="0"/>
              <a:t>Quando a lei exige.</a:t>
            </a:r>
          </a:p>
          <a:p>
            <a:endParaRPr lang="pt-BR" sz="4000" dirty="0"/>
          </a:p>
          <a:p>
            <a:endParaRPr lang="pt-BR" sz="4000" dirty="0"/>
          </a:p>
          <a:p>
            <a:r>
              <a:rPr lang="pt-BR" sz="4000" b="1" dirty="0"/>
              <a:t>Exemplo:</a:t>
            </a: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Dados para nota fiscal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Cadastro de funcionário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487740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E9298-A58E-BDE9-576A-E30DFE9B6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76472DD-9750-72D3-5D46-F5CA73055030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EDC6B5-5ABC-04AE-88AF-BCE3956214D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168B619-BC40-7B59-96CD-45DFD0648C2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9E365CB-5050-9267-7AC6-E6A24AED55E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AEBD4E7-0351-086D-D4B8-FCC7C4BF33F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7CC616E-D803-931F-4C51-4402D87595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Bases Legais para uso de dados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ADA1BC-D144-DF65-2C35-E1F731F792B2}"/>
              </a:ext>
            </a:extLst>
          </p:cNvPr>
          <p:cNvSpPr txBox="1"/>
          <p:nvPr/>
        </p:nvSpPr>
        <p:spPr>
          <a:xfrm>
            <a:off x="1441450" y="2824321"/>
            <a:ext cx="1538355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Execução de contrato</a:t>
            </a:r>
          </a:p>
          <a:p>
            <a:endParaRPr lang="pt-BR" sz="4000" b="1" dirty="0"/>
          </a:p>
          <a:p>
            <a:r>
              <a:rPr lang="pt-BR" sz="4000" dirty="0"/>
              <a:t>Quando os dados são necessários para cumprir um serviço.</a:t>
            </a:r>
          </a:p>
          <a:p>
            <a:endParaRPr lang="pt-BR" sz="4000" dirty="0"/>
          </a:p>
          <a:p>
            <a:endParaRPr lang="pt-BR" sz="4000" dirty="0"/>
          </a:p>
          <a:p>
            <a:r>
              <a:rPr lang="pt-BR" sz="4000" b="1" dirty="0"/>
              <a:t>Exemplo: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Entrega de produto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Assinatura de serviços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288709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E6400-983C-864F-7F3E-E43124680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267C29C-471A-FA02-37F6-F0645FB00CD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14E40F7-C0DB-1F1A-0D0F-3F3EE87BDF7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8398F07-C3BD-0910-B54D-0CA71F9C778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66B7CB1-3F4F-E4AF-847C-213D2D0EA76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11479BA-B4FF-C244-6FC2-1BDFAAC2755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B63B7B3-8B18-974B-C6E4-53F1DB2834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Bases Legais para uso de dados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0E460CD-2CF5-5064-5295-294CFC71E38C}"/>
              </a:ext>
            </a:extLst>
          </p:cNvPr>
          <p:cNvSpPr txBox="1"/>
          <p:nvPr/>
        </p:nvSpPr>
        <p:spPr>
          <a:xfrm>
            <a:off x="1441450" y="2824321"/>
            <a:ext cx="1538355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Legítimo interesse</a:t>
            </a:r>
          </a:p>
          <a:p>
            <a:endParaRPr lang="pt-BR" sz="4000" dirty="0"/>
          </a:p>
          <a:p>
            <a:r>
              <a:rPr lang="pt-BR" sz="4000" dirty="0"/>
              <a:t>Quando há interesse da empresa, sem prejudicar o usuário.</a:t>
            </a:r>
          </a:p>
          <a:p>
            <a:endParaRPr lang="pt-BR" sz="4000" dirty="0"/>
          </a:p>
          <a:p>
            <a:endParaRPr lang="pt-BR" sz="4000" dirty="0"/>
          </a:p>
          <a:p>
            <a:r>
              <a:rPr lang="pt-BR" sz="4000" b="1" dirty="0"/>
              <a:t>Exemplo: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Prevenção a fraudes</a:t>
            </a:r>
          </a:p>
        </p:txBody>
      </p:sp>
    </p:spTree>
    <p:extLst>
      <p:ext uri="{BB962C8B-B14F-4D97-AF65-F5344CB8AC3E}">
        <p14:creationId xmlns:p14="http://schemas.microsoft.com/office/powerpoint/2010/main" val="3355043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BA72E-EDB4-826E-3EEE-111A94936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855E04BD-32CD-A071-4355-55123A791EC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D513A1F-D41C-F716-8EFD-57AB1298F2D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E3D1BC6-A993-D492-604B-7D9C8447F79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EE48071-40FB-62B8-13D0-422265BB166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676A3BB-0501-7249-1FFE-1478C7A59C8C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AA2ACF6-3853-C6F7-B2A1-36F0F9986B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Princípios da LGPD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C9DCB7C-0F05-28BE-44A5-0E7D38C28383}"/>
              </a:ext>
            </a:extLst>
          </p:cNvPr>
          <p:cNvSpPr txBox="1"/>
          <p:nvPr/>
        </p:nvSpPr>
        <p:spPr>
          <a:xfrm>
            <a:off x="1441450" y="2824321"/>
            <a:ext cx="15383559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A LGPD possui</a:t>
            </a:r>
            <a:r>
              <a:rPr lang="pt-BR" sz="4400" b="1" dirty="0"/>
              <a:t> alguns princípios principais</a:t>
            </a:r>
            <a:r>
              <a:rPr lang="pt-BR" sz="4400" dirty="0"/>
              <a:t>.</a:t>
            </a:r>
          </a:p>
          <a:p>
            <a:endParaRPr lang="pt-BR" sz="4400" dirty="0"/>
          </a:p>
          <a:p>
            <a:r>
              <a:rPr lang="pt-BR" sz="4400" b="1" dirty="0"/>
              <a:t>Finalidade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Uso dos dados para objetivo específico.</a:t>
            </a:r>
          </a:p>
          <a:p>
            <a:endParaRPr lang="pt-BR" sz="4400" b="1" dirty="0"/>
          </a:p>
          <a:p>
            <a:r>
              <a:rPr lang="pt-BR" sz="4400" b="1" dirty="0"/>
              <a:t>Necessidade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Coletar </a:t>
            </a:r>
            <a:r>
              <a:rPr lang="pt-BR" sz="4400" b="1" dirty="0"/>
              <a:t>apenas o mínimo necessário</a:t>
            </a:r>
            <a:r>
              <a:rPr lang="pt-BR" sz="4400" dirty="0"/>
              <a:t>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379244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4802B-9C89-406C-B1C9-2D646F468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11E7727-C8D3-69EB-D1C4-D8C375C18EE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5D0D9DA-A596-C878-850C-62D9CBBAD46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0763DF9-8EC8-F8DB-C14F-051E1386E7D0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79722B8-913B-58C9-D135-712B847097A1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356F972-C951-7C46-1846-7A3B73DC28E6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EBFF0A0-6AF1-4BF5-89EF-F82B883979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Princípios da LGPD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D40C910-51D1-717D-28CE-FC99F6C77F0A}"/>
              </a:ext>
            </a:extLst>
          </p:cNvPr>
          <p:cNvSpPr txBox="1"/>
          <p:nvPr/>
        </p:nvSpPr>
        <p:spPr>
          <a:xfrm>
            <a:off x="1441450" y="2824321"/>
            <a:ext cx="15383559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Transparência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Explicar claramente como os dados serão usados.</a:t>
            </a:r>
          </a:p>
          <a:p>
            <a:endParaRPr lang="pt-BR" sz="4400" b="1" dirty="0"/>
          </a:p>
          <a:p>
            <a:r>
              <a:rPr lang="pt-BR" sz="4400" b="1" dirty="0"/>
              <a:t>Segurança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Proteger os dados contra vazamentos.</a:t>
            </a:r>
          </a:p>
          <a:p>
            <a:endParaRPr lang="pt-BR" sz="4400" b="1" dirty="0"/>
          </a:p>
          <a:p>
            <a:r>
              <a:rPr lang="pt-BR" sz="4400" b="1" dirty="0"/>
              <a:t>Prevenção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Evitar riscos antes que ocorram.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711924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AB587-CC47-4D5D-D06A-12A05A78D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049DA36-169D-6873-5A21-58D1F77E168B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D442199-7190-81BA-A762-6B89E3DF3D4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1FAA6D1-3D58-3B05-9288-9D577278F111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A3AEBF0-7FC3-405E-75CE-DE826C7D141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CAFE190-A37B-F509-B772-D56B9192F03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6F33FC4-92BA-FC57-4F18-6FD5283040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Vazamento de dados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CC5ABD1-CBFF-EFDF-DDAC-69D9D44CC259}"/>
              </a:ext>
            </a:extLst>
          </p:cNvPr>
          <p:cNvSpPr txBox="1"/>
          <p:nvPr/>
        </p:nvSpPr>
        <p:spPr>
          <a:xfrm>
            <a:off x="1441450" y="2824321"/>
            <a:ext cx="15383559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Se houver vazamento de dados:</a:t>
            </a:r>
          </a:p>
          <a:p>
            <a:endParaRPr lang="pt-BR" sz="4400" dirty="0"/>
          </a:p>
          <a:p>
            <a:r>
              <a:rPr lang="pt-BR" sz="4400" dirty="0"/>
              <a:t>A empresa deve:</a:t>
            </a:r>
          </a:p>
          <a:p>
            <a:endParaRPr lang="pt-BR" sz="4400" dirty="0"/>
          </a:p>
          <a:p>
            <a:pPr marL="742950" indent="-742950">
              <a:buFont typeface="+mj-lt"/>
              <a:buAutoNum type="arabicPeriod"/>
            </a:pPr>
            <a:r>
              <a:rPr lang="pt-BR" sz="4400" dirty="0"/>
              <a:t>Comunicar a </a:t>
            </a:r>
            <a:r>
              <a:rPr lang="pt-BR" sz="4400" b="1" dirty="0"/>
              <a:t>Autoridade Nacional de Proteção de Dados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400" dirty="0"/>
              <a:t>Informar os titulares afetados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400" dirty="0"/>
              <a:t>Explicar os riscos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400" dirty="0"/>
              <a:t>Informar medidas de correção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543686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45B9C-ECAF-3ED9-BDCC-4A81846EB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C10AB82-A24D-8E74-A9D1-45E039499FD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AE27A60-440E-5864-677E-3E2CDB964B1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0475C73-2EC9-CE67-71CA-E4F57DFE8A98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267EAA6-86B0-7FC7-F1EA-45D6B30250E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6A79B10-2760-F590-E7AD-998EF990ED0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9B1FCBB-8C93-90B7-761C-1B57E0AE36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Penalidades da LGPD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63BBB17-AD7C-43E2-FFD3-8A397216230A}"/>
              </a:ext>
            </a:extLst>
          </p:cNvPr>
          <p:cNvSpPr txBox="1"/>
          <p:nvPr/>
        </p:nvSpPr>
        <p:spPr>
          <a:xfrm>
            <a:off x="1441450" y="2824321"/>
            <a:ext cx="153835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Empresas que descumprem a lei podem sofrer punições.</a:t>
            </a:r>
          </a:p>
          <a:p>
            <a:endParaRPr lang="pt-BR" sz="4000" dirty="0"/>
          </a:p>
          <a:p>
            <a:r>
              <a:rPr lang="pt-BR" sz="4000" b="1" dirty="0"/>
              <a:t>Penalidades possíveis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Advertência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Multa de até 2% do faturamento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Multa máxima de R$ 50 milhões por infração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Bloqueio de dados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Exclusão de dados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Suspensão das atividades relacionadas</a:t>
            </a:r>
          </a:p>
        </p:txBody>
      </p:sp>
    </p:spTree>
    <p:extLst>
      <p:ext uri="{BB962C8B-B14F-4D97-AF65-F5344CB8AC3E}">
        <p14:creationId xmlns:p14="http://schemas.microsoft.com/office/powerpoint/2010/main" val="2099242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16CC7-6D39-DDB7-4975-29831AA8B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E82785D-0CEE-49E4-A8EE-CE198BA3A5D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51E58F3-CDC8-679B-B054-E4CA825B5CD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444451B-6EF9-18D5-9304-EE8F8E2FDB8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A719031-F1AB-B937-0602-C2FECA61C2DC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36A7DC5-4478-D9AF-2CF3-4AC30054C6D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368166D-9DDE-F4E7-BD92-0F4A847B3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Exemplos práticos de LGPD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8C46EA1-A1E0-F084-FB18-6312FFF0CAB4}"/>
              </a:ext>
            </a:extLst>
          </p:cNvPr>
          <p:cNvSpPr txBox="1"/>
          <p:nvPr/>
        </p:nvSpPr>
        <p:spPr>
          <a:xfrm>
            <a:off x="1441450" y="2824321"/>
            <a:ext cx="15383559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Exemplo 1 – Site</a:t>
            </a:r>
          </a:p>
          <a:p>
            <a:endParaRPr lang="pt-BR" sz="4400" dirty="0"/>
          </a:p>
          <a:p>
            <a:r>
              <a:rPr lang="pt-BR" sz="4400" dirty="0"/>
              <a:t>Um site pede: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Nome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Email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Telefone</a:t>
            </a:r>
          </a:p>
          <a:p>
            <a:endParaRPr lang="pt-BR" sz="4400" dirty="0"/>
          </a:p>
          <a:p>
            <a:r>
              <a:rPr lang="pt-BR" sz="4400" dirty="0"/>
              <a:t>Ele deve informar: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Para que os dados serão usados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Como serão armazenados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Como o usuário pode excluir os dados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802910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CBE2C-1298-A3B7-885B-988BA613A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2F2ADF4-C4A4-CD5D-DF92-16D9E7DD722B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C6A6BB0-5F4B-7E09-4E1D-BC3753B533B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735FAA7-23BF-4C38-6CE1-81FCAB154ED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F3CB9C9-1E3B-3CFE-E38E-FF0AD8997B7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D700A2C-7112-0BD4-BEAF-9AE69C43F23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861E495-7092-A2B6-9E73-15D4A6115F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Exemplos práticos de LGPD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60E963D-8391-5263-64B8-23BA7B163804}"/>
              </a:ext>
            </a:extLst>
          </p:cNvPr>
          <p:cNvSpPr txBox="1"/>
          <p:nvPr/>
        </p:nvSpPr>
        <p:spPr>
          <a:xfrm>
            <a:off x="1441450" y="2567158"/>
            <a:ext cx="15383559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Exemplo 2 – Escola</a:t>
            </a:r>
          </a:p>
          <a:p>
            <a:endParaRPr lang="pt-BR" sz="4400" b="1" dirty="0"/>
          </a:p>
          <a:p>
            <a:r>
              <a:rPr lang="pt-BR" sz="4400" dirty="0"/>
              <a:t>A escola possui: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Nome dos alunos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CPF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Endereço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Histórico escolar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400" dirty="0"/>
          </a:p>
          <a:p>
            <a:r>
              <a:rPr lang="pt-BR" sz="4400" dirty="0"/>
              <a:t>Esses dados devem ser: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Protegidos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acessíveis apenas a pessoas autorizadas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armazenados com segurança</a:t>
            </a:r>
          </a:p>
        </p:txBody>
      </p:sp>
    </p:spTree>
    <p:extLst>
      <p:ext uri="{BB962C8B-B14F-4D97-AF65-F5344CB8AC3E}">
        <p14:creationId xmlns:p14="http://schemas.microsoft.com/office/powerpoint/2010/main" val="2431193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F4F90-7113-78C9-8C27-B5CB6ACD1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A866597-1A86-6104-F50F-462B1753586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FA37C47-FD51-F2FF-71E7-9730060D283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2304A8C-5797-D744-A7AD-08D2215A0F3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BC594E5-0305-509D-ED28-FD469C4C344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DD08B13-1EA5-2C7F-0F32-4524CFD399E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EE059FB-EC02-6DA2-E62A-34EB2ED0E0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LGPD no dia a dia da internet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88E301F-75D3-153C-2261-E817031040DB}"/>
              </a:ext>
            </a:extLst>
          </p:cNvPr>
          <p:cNvSpPr txBox="1"/>
          <p:nvPr/>
        </p:nvSpPr>
        <p:spPr>
          <a:xfrm>
            <a:off x="1441450" y="2824321"/>
            <a:ext cx="1538355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Situações comuns:</a:t>
            </a:r>
          </a:p>
          <a:p>
            <a:endParaRPr lang="pt-BR" sz="4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Cookies em sites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Cadastro em aplicativos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Redes sociais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Compras online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Cadastro em newsletters</a:t>
            </a:r>
          </a:p>
          <a:p>
            <a:endParaRPr lang="pt-BR" sz="4400" dirty="0"/>
          </a:p>
          <a:p>
            <a:r>
              <a:rPr lang="pt-BR" sz="4400" dirty="0"/>
              <a:t>Todos devem seguir a LGPD.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812747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95386-295D-D676-8D68-86110BCEB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0B72EFD-BFAA-3FCD-59B5-02632E79E87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EFEF5F2-424D-5DE9-D809-7FB36CC4DBF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8AECA66-8E94-CEF9-1AA9-45EF09EA2E5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C5F16F3-5438-0651-AE82-97988F71F9D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6458057-56D2-1B0C-27CD-EC04D9B4A53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96192E9-8BC6-8F28-5E35-BFEC88CCF3CC}"/>
              </a:ext>
            </a:extLst>
          </p:cNvPr>
          <p:cNvSpPr txBox="1"/>
          <p:nvPr/>
        </p:nvSpPr>
        <p:spPr>
          <a:xfrm>
            <a:off x="1441450" y="2824321"/>
            <a:ext cx="15383559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Organizações devem:</a:t>
            </a:r>
          </a:p>
          <a:p>
            <a:endParaRPr lang="pt-BR" sz="4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Usar criptografia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Controlar acesso a sistemas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Treinar funcionários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Criar políticas de privacidade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Monitorar vazamentos</a:t>
            </a:r>
          </a:p>
          <a:p>
            <a:endParaRPr lang="pt-BR" sz="4000" dirty="0"/>
          </a:p>
        </p:txBody>
      </p:sp>
      <p:sp>
        <p:nvSpPr>
          <p:cNvPr id="9" name="object 15">
            <a:extLst>
              <a:ext uri="{FF2B5EF4-FFF2-40B4-BE49-F238E27FC236}">
                <a16:creationId xmlns:a16="http://schemas.microsoft.com/office/drawing/2014/main" id="{21DED315-60F3-8969-E87C-00F33A769A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413"/>
            <a:ext cx="12411075" cy="769937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Boas práticas de proteção de dados</a:t>
            </a:r>
          </a:p>
        </p:txBody>
      </p:sp>
    </p:spTree>
    <p:extLst>
      <p:ext uri="{BB962C8B-B14F-4D97-AF65-F5344CB8AC3E}">
        <p14:creationId xmlns:p14="http://schemas.microsoft.com/office/powerpoint/2010/main" val="4276317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8185D-22DE-F13A-8410-9BEF29EBC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A6DC3B6-6603-F4FA-C608-3004ED89168F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A7B45F4-6F0F-0DC7-5BFA-7CD3518B07A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52EFE8F-DF17-E205-FEC5-71F190F91E8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FA59687-5CBC-B0A3-D471-908FD207B73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86F576D-84AE-264B-5EBF-E60CF7BBE48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270A6EB-FCD1-DB79-3E51-E1E06BC79348}"/>
              </a:ext>
            </a:extLst>
          </p:cNvPr>
          <p:cNvSpPr txBox="1"/>
          <p:nvPr/>
        </p:nvSpPr>
        <p:spPr>
          <a:xfrm>
            <a:off x="1441450" y="2824321"/>
            <a:ext cx="1538355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A </a:t>
            </a:r>
            <a:r>
              <a:rPr lang="pt-BR" sz="4000" b="1" dirty="0"/>
              <a:t>Lei Geral de Proteção de Dados Pessoais (LGPD) </a:t>
            </a:r>
            <a:r>
              <a:rPr lang="pt-BR" sz="4000" dirty="0"/>
              <a:t>é fundamental para: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proteger a privacidade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garantir direitos digitais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aumentar a segurança de informações</a:t>
            </a:r>
          </a:p>
          <a:p>
            <a:endParaRPr lang="pt-BR" sz="4000" b="1" dirty="0"/>
          </a:p>
          <a:p>
            <a:r>
              <a:rPr lang="pt-BR" sz="4000" dirty="0"/>
              <a:t>Ela cria um </a:t>
            </a:r>
            <a:r>
              <a:rPr lang="pt-BR" sz="4000" b="1" dirty="0"/>
              <a:t>equilíbrio entre inovação tecnológica e proteção do cidadão.</a:t>
            </a:r>
            <a:endParaRPr lang="pt-BR" sz="3600" b="1" dirty="0"/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E7203A7D-A04E-F49C-EAF4-20C0F5BDCA73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3210816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B85CE-7334-A4F6-2827-A464B3C8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E8F7B1E-5B20-C7FD-044A-38954A0519B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3100B8E-C747-1AB8-2C3C-1D707F3D5AD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A7178C3-5134-BAF4-A2B5-77E3BCD3638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390C87E-074C-8850-FFFC-3843B6A4A32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FD15BFB-04D2-244F-F22D-6AECF030A22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DBA666F-C272-AC0F-9CAD-2E3754B39B41}"/>
              </a:ext>
            </a:extLst>
          </p:cNvPr>
          <p:cNvSpPr txBox="1"/>
          <p:nvPr/>
        </p:nvSpPr>
        <p:spPr>
          <a:xfrm>
            <a:off x="1441450" y="2824321"/>
            <a:ext cx="1538355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LGPD é a lei que:</a:t>
            </a:r>
          </a:p>
          <a:p>
            <a:endParaRPr lang="pt-BR" sz="4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protege dados pessoais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define regras para empresas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garante direitos aos cidadãos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aplica punições em caso de uso indevido</a:t>
            </a: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0A339CDC-E918-BDAA-5779-A84B30402A28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Breve Resumo</a:t>
            </a:r>
          </a:p>
        </p:txBody>
      </p:sp>
    </p:spTree>
    <p:extLst>
      <p:ext uri="{BB962C8B-B14F-4D97-AF65-F5344CB8AC3E}">
        <p14:creationId xmlns:p14="http://schemas.microsoft.com/office/powerpoint/2010/main" val="41956401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32C79-876F-8BCA-8D12-D4F2BB55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6EDED2-0AD8-D73E-BC33-370CE9C79306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39B7059-B4B7-9ECD-2145-F7DFA1EA78A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ABEB08A-CD28-43C9-F728-778EA0AABA7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10737E5-88E5-8F78-242C-022CD77A1A1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F994BF1-8081-4507-FD5B-0E9BB55D8CB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9E71D00-A664-C3A1-DA05-4B69D011180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9EFEC6E-DDF2-7E10-1169-9F07853EAE6B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719C9A4-E42E-69F2-D740-79E7D7ADBD8A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A164F6C-03AF-82A0-4C7B-26442C3A01F4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D9D6A4D-9ED2-966D-3FD1-B1B805747483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9F371D6-36D1-3827-583E-CBD46FEDFB93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2F8A60A-F880-F79B-755A-EB3916E6E3E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9F4AF6B-F234-2BEF-E2B2-B5F70D04D28C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9042008-CE9E-E81A-36F6-BDC7772B6152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4688A5F-9ED1-9D6D-21F4-25FFDFC9B303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366C110C-C67B-CFE0-EC27-6CCED0C9DD9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A8FB3BC-B7E2-5B39-1DA2-C46B7ED68467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B0EEDBD-B5DD-BAA2-8D78-6036AA1F45A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9087C3B-E86B-C77E-2FF5-036BBB0BCF78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FAEF9E9A-09D0-1C78-9449-DFB0E474D1D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254855F-55DD-DB07-69CC-56914308DBB2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567B985-9066-3F15-080A-9147D2EE62D6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A399721C-0FD9-EF7D-A065-A2B7003B775A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61DA38DD-6CE2-DE52-ED39-B8F197E5464B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41B397A-B5A8-7F96-A82A-3933C02F6CA2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E6EF9F64-01FD-1D6C-90DA-D0703DEB01C1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78D5B3B6-92A0-14F5-CD14-58213C224CC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0C933A4-FBDB-BBEA-952C-F431EC0685BE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E30F71D-003E-8A31-2CAC-C1B290C3B8BA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110D9E37-6F63-5769-0ADC-03A5570B1F19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FCD99148-6146-CDF9-7BCD-118E4B0681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Dúvidas?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42" name="Picture 2" descr="Pulp Fiction Travolta GIFs - Find &amp; Share on GIPHY">
            <a:extLst>
              <a:ext uri="{FF2B5EF4-FFF2-40B4-BE49-F238E27FC236}">
                <a16:creationId xmlns:a16="http://schemas.microsoft.com/office/drawing/2014/main" id="{0F93ECCB-FC30-C590-CEF8-40F96FEBA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396" y="3766122"/>
            <a:ext cx="11513308" cy="575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668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0D1E2450D2CCF4B94B30D13213EC305" ma:contentTypeVersion="14" ma:contentTypeDescription="Crie um novo documento." ma:contentTypeScope="" ma:versionID="80af2ae99a390bb8f99db6a6f71dbd11">
  <xsd:schema xmlns:xsd="http://www.w3.org/2001/XMLSchema" xmlns:xs="http://www.w3.org/2001/XMLSchema" xmlns:p="http://schemas.microsoft.com/office/2006/metadata/properties" xmlns:ns3="e2750cde-43d6-4eda-a582-fdf0d091b109" xmlns:ns4="b37a9e9f-dabd-4ec4-96f1-5ea18684f50e" targetNamespace="http://schemas.microsoft.com/office/2006/metadata/properties" ma:root="true" ma:fieldsID="2dc6d4c45140fd29241634ff7e109878" ns3:_="" ns4:_="">
    <xsd:import namespace="e2750cde-43d6-4eda-a582-fdf0d091b109"/>
    <xsd:import namespace="b37a9e9f-dabd-4ec4-96f1-5ea18684f5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50cde-43d6-4eda-a582-fdf0d091b1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a9e9f-dabd-4ec4-96f1-5ea18684f50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A42D19-56A1-4D0B-AB84-67451006DC5A}">
  <ds:schemaRefs>
    <ds:schemaRef ds:uri="http://purl.org/dc/elements/1.1/"/>
    <ds:schemaRef ds:uri="http://schemas.microsoft.com/office/2006/metadata/properties"/>
    <ds:schemaRef ds:uri="b37a9e9f-dabd-4ec4-96f1-5ea18684f50e"/>
    <ds:schemaRef ds:uri="http://purl.org/dc/terms/"/>
    <ds:schemaRef ds:uri="http://schemas.openxmlformats.org/package/2006/metadata/core-properties"/>
    <ds:schemaRef ds:uri="e2750cde-43d6-4eda-a582-fdf0d091b109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1169B78-FDA6-4A96-82D9-CDF50108CD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750cde-43d6-4eda-a582-fdf0d091b109"/>
    <ds:schemaRef ds:uri="b37a9e9f-dabd-4ec4-96f1-5ea18684f5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148a6de-0dd1-4d04-a4c5-78e374e4f6d6}" enabled="0" method="" siteId="{4148a6de-0dd1-4d04-a4c5-78e374e4f6d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4445</TotalTime>
  <Words>4836</Words>
  <Application>Microsoft Office PowerPoint</Application>
  <PresentationFormat>Personalizar</PresentationFormat>
  <Paragraphs>325</Paragraphs>
  <Slides>25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1" baseType="lpstr">
      <vt:lpstr>Montserrat Light</vt:lpstr>
      <vt:lpstr>Calibri</vt:lpstr>
      <vt:lpstr>Arial</vt:lpstr>
      <vt:lpstr>Montserrat ExtraBold</vt:lpstr>
      <vt:lpstr>Montserrat</vt:lpstr>
      <vt:lpstr>Office Theme</vt:lpstr>
      <vt:lpstr>Apresentação do PowerPoint</vt:lpstr>
      <vt:lpstr>Lei Geral de Proteção de Dados (LGPD)</vt:lpstr>
      <vt:lpstr>O que é a LGPD?</vt:lpstr>
      <vt:lpstr>Dados Pessoais Sensíveis</vt:lpstr>
      <vt:lpstr>Quem deve cumprir a LGPD</vt:lpstr>
      <vt:lpstr>Principais agentes da LGPD</vt:lpstr>
      <vt:lpstr>Principais agentes da LGPD</vt:lpstr>
      <vt:lpstr>Principais agentes da LGPD</vt:lpstr>
      <vt:lpstr>Autoridade responsável pela LGPD</vt:lpstr>
      <vt:lpstr>Direitos do Titular dos Dados</vt:lpstr>
      <vt:lpstr>Bases Legais para uso de dados</vt:lpstr>
      <vt:lpstr>Bases Legais para uso de dados</vt:lpstr>
      <vt:lpstr>Bases Legais para uso de dados</vt:lpstr>
      <vt:lpstr>Bases Legais para uso de dados</vt:lpstr>
      <vt:lpstr>Princípios da LGPD</vt:lpstr>
      <vt:lpstr>Princípios da LGPD</vt:lpstr>
      <vt:lpstr>Vazamento de dados</vt:lpstr>
      <vt:lpstr>Penalidades da LGPD</vt:lpstr>
      <vt:lpstr>Exemplos práticos de LGPD</vt:lpstr>
      <vt:lpstr>Exemplos práticos de LGPD</vt:lpstr>
      <vt:lpstr>LGPD no dia a dia da internet</vt:lpstr>
      <vt:lpstr>Boas práticas de proteção de dados</vt:lpstr>
      <vt:lpstr>Apresentação do PowerPoint</vt:lpstr>
      <vt:lpstr>Apresentação do PowerPoint</vt:lpstr>
      <vt:lpstr>Dúvidas?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Luis Fernando Spoljaric</cp:lastModifiedBy>
  <cp:revision>547</cp:revision>
  <cp:lastPrinted>2025-02-13T13:17:19Z</cp:lastPrinted>
  <dcterms:created xsi:type="dcterms:W3CDTF">2021-08-24T16:20:14Z</dcterms:created>
  <dcterms:modified xsi:type="dcterms:W3CDTF">2026-03-05T14:20:08Z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0x010100A0D1E2450D2CCF4B94B30D13213EC305</vt:lpwstr>
  </property>
</Properties>
</file>