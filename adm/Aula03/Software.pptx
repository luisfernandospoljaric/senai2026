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7" r:id="rId4"/>
  </p:sldMasterIdLst>
  <p:notesMasterIdLst>
    <p:notesMasterId r:id="rId25"/>
  </p:notesMasterIdLst>
  <p:sldIdLst>
    <p:sldId id="278" r:id="rId5"/>
    <p:sldId id="1450" r:id="rId6"/>
    <p:sldId id="1351" r:id="rId7"/>
    <p:sldId id="1385" r:id="rId8"/>
    <p:sldId id="1436" r:id="rId9"/>
    <p:sldId id="1437" r:id="rId10"/>
    <p:sldId id="1439" r:id="rId11"/>
    <p:sldId id="1445" r:id="rId12"/>
    <p:sldId id="1376" r:id="rId13"/>
    <p:sldId id="1441" r:id="rId14"/>
    <p:sldId id="1442" r:id="rId15"/>
    <p:sldId id="1443" r:id="rId16"/>
    <p:sldId id="1444" r:id="rId17"/>
    <p:sldId id="1454" r:id="rId18"/>
    <p:sldId id="1455" r:id="rId19"/>
    <p:sldId id="1456" r:id="rId20"/>
    <p:sldId id="1433" r:id="rId21"/>
    <p:sldId id="1457" r:id="rId22"/>
    <p:sldId id="1458" r:id="rId23"/>
    <p:sldId id="1383" r:id="rId24"/>
  </p:sldIdLst>
  <p:sldSz cx="20104100" cy="11309350"/>
  <p:notesSz cx="20104100" cy="11309350"/>
  <p:embeddedFontLst>
    <p:embeddedFont>
      <p:font typeface="Montserrat" panose="00000500000000000000" pitchFamily="2" charset="0"/>
      <p:regular r:id="rId26"/>
      <p:bold r:id="rId27"/>
      <p:italic r:id="rId28"/>
      <p:boldItalic r:id="rId29"/>
    </p:embeddedFont>
    <p:embeddedFont>
      <p:font typeface="Montserrat ExtraBold" panose="00000900000000000000" pitchFamily="2" charset="0"/>
      <p:bold r:id="rId30"/>
      <p:boldItalic r:id="rId31"/>
    </p:embeddedFont>
    <p:embeddedFont>
      <p:font typeface="Montserrat Light" panose="00000400000000000000" pitchFamily="2" charset="0"/>
      <p:regular r:id="rId32"/>
      <p:italic r:id="rId33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verton Fernando Souza Ribeiro" initials="WFSR [2]" lastIdx="5" clrIdx="0">
    <p:extLst>
      <p:ext uri="{19B8F6BF-5375-455C-9EA6-DF929625EA0E}">
        <p15:presenceInfo xmlns:p15="http://schemas.microsoft.com/office/powerpoint/2012/main" userId="S::weverton.ribeiro@sp.senai.br::98c758d7-d0b8-461f-a4ce-ab5e52e2556b" providerId="AD"/>
      </p:ext>
    </p:extLst>
  </p:cmAuthor>
  <p:cmAuthor id="2" name="Weverton Fernando Souza Ribeiro" initials="WFSR" lastIdx="21" clrIdx="1">
    <p:extLst>
      <p:ext uri="{19B8F6BF-5375-455C-9EA6-DF929625EA0E}">
        <p15:presenceInfo xmlns:p15="http://schemas.microsoft.com/office/powerpoint/2012/main" userId="S-1-5-21-3467313907-1213806960-2174068774-24985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394" autoAdjust="0"/>
  </p:normalViewPr>
  <p:slideViewPr>
    <p:cSldViewPr>
      <p:cViewPr varScale="1">
        <p:scale>
          <a:sx n="38" d="100"/>
          <a:sy n="38" d="100"/>
        </p:scale>
        <p:origin x="804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7.fntdata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11300-05A8-42F5-84F5-2A0388843EF7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625586-B76B-45BD-812B-997E365A37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264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Agradecimentos paroquiais:</a:t>
            </a:r>
          </a:p>
          <a:p>
            <a:pPr marL="171450" indent="-171450">
              <a:buFontTx/>
              <a:buChar char="-"/>
            </a:pPr>
            <a:r>
              <a:rPr lang="pt-BR" dirty="0"/>
              <a:t>Ao publico</a:t>
            </a:r>
          </a:p>
          <a:p>
            <a:pPr marL="171450" indent="-171450">
              <a:buFontTx/>
              <a:buChar char="-"/>
            </a:pPr>
            <a:r>
              <a:rPr lang="pt-BR" dirty="0"/>
              <a:t>A organização da </a:t>
            </a:r>
            <a:r>
              <a:rPr lang="pt-BR" dirty="0" err="1"/>
              <a:t>Fenasucro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2420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B0C93-8C4D-D342-0751-DFAFFC3A0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AD4DA30-F33C-A2F7-F92A-DB0DDF479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EFC1E1E-52E2-0E7D-856E-315F556A6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2ECF61-001D-548A-6B73-EF7A0CE53D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7902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9EB18-D916-058E-EADA-B6D3EB096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E85CCC1-3AA3-B2D8-B9FF-8D4924C3E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10EC8CE-4C3C-10AB-AC05-D5D96FB6B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32404A-876F-B4CD-9738-58FBA1E87C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4530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C70D5-D78B-2AE9-8D97-551E75B4B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89F964E-AC07-B5D0-53A5-3E49E8167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21D073F-637C-67B3-18F2-9BD68E5CF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DE46CA-E8C4-78B3-6C95-FD0CCE109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6865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67B97-2F35-C755-9483-FA93C8477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25DEDE7-5C61-CB66-ED8B-153E3D37D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9A7E664-2E11-EC62-4BAB-8E2FE557B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73EE7A-14B3-98BC-1EC8-00183FB20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5166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8489D-FB49-F7A2-E302-075988D44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FB15743-B70A-1B50-EEA3-4106C0DE6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B0A0550-2792-D41E-72AB-97F3C1C71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274D301-64B1-0A06-D040-65EBDAC06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3303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88B1D-366B-4175-CC1F-70BF8E6AE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5B9F202-D839-13D8-09F0-CBDC550F7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B343D9D-4788-8D75-56EA-D4CCD1441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63CD274-26A0-5F4F-1484-BF58BA109E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241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7C54A-C34A-35EC-3E7D-724C5EAB5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431480F-5A81-ACFC-B078-2872CB3ED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08812EB-DB00-A9C0-FD68-416E888998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2060B7B-3235-9738-7AEE-F18198BDD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45322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D3F72-BD2C-7833-A759-E4F7D82B4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B347061-4864-C9C9-8F14-3229B27E4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9037810-18DE-60B7-C236-0C7E3D0BC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5C77D7-6155-BDF8-AE88-35F74755B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71480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C65CA-8A95-5777-E06A-DF2FC9B86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B9866C5-3215-8304-F9AD-BDE5A3462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A7C65C1-A0C7-DF66-C174-FBAA21D0E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AE027C3-E207-5FB4-B86B-3B6C5A563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4610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9DE79-3E8B-0FBF-830C-C9BEC503F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55C4BB8-82D6-C17F-DC3D-4C031FA1C4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CB38368-69D4-DC2A-F71E-76FCFEE4F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ED5109B-0F87-28CF-AB16-6E845DCEF2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4086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D00BD-0318-577B-5902-F77A068FE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2152998-EFA5-C7F4-1B73-22ACA4276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E5C5C0D-345B-D63B-57EC-1358B93A1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D9B7E8F-27A8-2FFB-8189-AA620E145C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20022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13998-C9A0-242A-33CD-83005FED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9C0767F-C11F-D4AE-F815-4129B8A53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69E21A6-3D1C-FCBB-44C7-9E3875EBE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26B84B-CAE1-CC8E-4D1C-F40CD10533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09210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2488F-2724-4EE0-A98C-A13009AC8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BBA646D-BFDA-7B94-A185-35F40F926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50E0A14-E8EA-95FE-04B6-3E6EDF845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A2606D5-E12E-9EB4-237A-8FE709DAB6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58889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52C4A-F278-233F-05FC-BB7FDA7B2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E1E6979-C6F3-C74E-57D6-5398EE5F3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D095B2E-4AF7-AC20-9598-C88A5BB19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D9EED2-358E-EB0B-8B57-BDFB858BA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2378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03A3D-D491-29F0-EDB1-BFD0ACC8B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1FF7302-A106-E3EA-E3AF-B9E4FE6307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7DAD5E7-6AF5-8F50-6DBC-B839C6C8D5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23185C6-7FAE-724C-0826-305613A5F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8985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D2320-9E11-F43C-D393-77ED3DE67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3D2AC2E-349A-E4F4-1925-F78220CB5D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A791935-AB7F-0E47-6B60-0F3638F50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1897171-5135-CCE5-D519-A674A1BC3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17999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85E24-A164-5C44-9F60-5F52A8CAD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721FCCA-BBDE-9B19-BFF7-525B96706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5896965-7C6B-E911-9CAC-2CC85D1A53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1FFD3D-3377-71EA-F5F1-2630E96CA1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41987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CD342-B102-7572-3E74-B2B97600C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7715761-B555-157D-01C6-64943DD14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F7B6D84-10CD-5176-5281-465BF65B06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1D632C-903D-2B3F-7B8F-AECA14F52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29372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52EFB-EDEE-3B16-E36E-574FD6946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9A819D2-E95F-C169-504B-27710A7F8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D43577B-6B26-D3E0-57EF-BD0B7EF28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6045AF-A5AB-3CC4-7E80-4E881D1B1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0162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7076" y="9439611"/>
            <a:ext cx="3693160" cy="700405"/>
          </a:xfrm>
          <a:custGeom>
            <a:avLst/>
            <a:gdLst/>
            <a:ahLst/>
            <a:cxnLst/>
            <a:rect l="l" t="t" r="r" b="b"/>
            <a:pathLst>
              <a:path w="3693160" h="700404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1057130"/>
            <a:ext cx="3245974" cy="272241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4303094"/>
            <a:ext cx="3245974" cy="27224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7549068"/>
            <a:ext cx="3245974" cy="27224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  <p:sp>
        <p:nvSpPr>
          <p:cNvPr id="6" name="Espaço Reservado para Texto 14">
            <a:extLst>
              <a:ext uri="{FF2B5EF4-FFF2-40B4-BE49-F238E27FC236}">
                <a16:creationId xmlns:a16="http://schemas.microsoft.com/office/drawing/2014/main" id="{741322F5-93ED-4D68-A8FF-9359DF6E75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45099" y="448220"/>
            <a:ext cx="15513191" cy="111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256" b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  <a:lvl2pPr>
              <a:defRPr sz="5277"/>
            </a:lvl2pPr>
            <a:lvl3pPr>
              <a:defRPr sz="4617"/>
            </a:lvl3pPr>
            <a:lvl4pPr>
              <a:defRPr sz="3958"/>
            </a:lvl4pPr>
            <a:lvl5pPr>
              <a:defRPr sz="3958"/>
            </a:lvl5pPr>
          </a:lstStyle>
          <a:p>
            <a:pPr lvl="0"/>
            <a:r>
              <a:rPr lang="pt-BR"/>
              <a:t>Digitar seu título aqui</a:t>
            </a:r>
          </a:p>
        </p:txBody>
      </p:sp>
      <p:sp>
        <p:nvSpPr>
          <p:cNvPr id="7" name="Espaço Reservado para Texto 16">
            <a:extLst>
              <a:ext uri="{FF2B5EF4-FFF2-40B4-BE49-F238E27FC236}">
                <a16:creationId xmlns:a16="http://schemas.microsoft.com/office/drawing/2014/main" id="{2B77ECB5-455F-48E1-AC6C-CB94B5AD6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43929" y="2063797"/>
            <a:ext cx="15514360" cy="507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98" b="1">
                <a:solidFill>
                  <a:srgbClr val="E51E3C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/>
              <a:t>Digitar seu subtítulo aqui</a:t>
            </a:r>
          </a:p>
        </p:txBody>
      </p:sp>
      <p:sp>
        <p:nvSpPr>
          <p:cNvPr id="8" name="Espaço Reservado para Texto 18">
            <a:extLst>
              <a:ext uri="{FF2B5EF4-FFF2-40B4-BE49-F238E27FC236}">
                <a16:creationId xmlns:a16="http://schemas.microsoft.com/office/drawing/2014/main" id="{94A25BC8-06B9-4702-900E-C725EC8984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43930" y="3105603"/>
            <a:ext cx="14341622" cy="1872116"/>
          </a:xfrm>
          <a:prstGeom prst="rect">
            <a:avLst/>
          </a:prstGeom>
        </p:spPr>
        <p:txBody>
          <a:bodyPr/>
          <a:lstStyle>
            <a:lvl1pPr marL="0" marR="0" indent="0" algn="l" defTabSz="1507846" rtl="0" eaLnBrk="1" fontAlgn="auto" latinLnBrk="0" hangingPunct="1">
              <a:lnSpc>
                <a:spcPct val="90000"/>
              </a:lnSpc>
              <a:spcBef>
                <a:spcPts val="164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958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 vero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eos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accusamus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iusto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odio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dignissimos</a:t>
            </a:r>
            <a:endParaRPr lang="pt-BR" sz="3298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77"/>
            </a:endParaRPr>
          </a:p>
          <a:p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praesentium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voluptatum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deleniti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atque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.</a:t>
            </a:r>
          </a:p>
          <a:p>
            <a:pPr lvl="0"/>
            <a:r>
              <a:rPr lang="pt-B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2902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" y="398"/>
            <a:ext cx="20102688" cy="11307763"/>
          </a:xfrm>
          <a:prstGeom prst="rect">
            <a:avLst/>
          </a:prstGeom>
        </p:spPr>
      </p:pic>
      <p:sp>
        <p:nvSpPr>
          <p:cNvPr id="12" name="object 10">
            <a:extLst>
              <a:ext uri="{FF2B5EF4-FFF2-40B4-BE49-F238E27FC236}">
                <a16:creationId xmlns:a16="http://schemas.microsoft.com/office/drawing/2014/main" id="{4D48E881-58D3-4B18-B397-6971EA7E7E23}"/>
              </a:ext>
            </a:extLst>
          </p:cNvPr>
          <p:cNvSpPr/>
          <p:nvPr/>
        </p:nvSpPr>
        <p:spPr>
          <a:xfrm>
            <a:off x="706" y="11131431"/>
            <a:ext cx="20102688" cy="16204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pPr defTabSz="1507846"/>
            <a:endParaRPr sz="18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299A9214-8828-4B4B-9941-B4CFBF09BDD0}"/>
              </a:ext>
            </a:extLst>
          </p:cNvPr>
          <p:cNvSpPr txBox="1">
            <a:spLocks/>
          </p:cNvSpPr>
          <p:nvPr/>
        </p:nvSpPr>
        <p:spPr>
          <a:xfrm>
            <a:off x="8884870" y="2759075"/>
            <a:ext cx="9994802" cy="1028486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699" defTabSz="1507846">
              <a:spcBef>
                <a:spcPts val="101"/>
              </a:spcBef>
            </a:pPr>
            <a:r>
              <a:rPr lang="pt-BR" sz="6600" b="1" i="1" kern="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Técnico em ADM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9DB5E0E8-CC40-4125-A2AE-B830D0D73C7D}"/>
              </a:ext>
            </a:extLst>
          </p:cNvPr>
          <p:cNvSpPr/>
          <p:nvPr/>
        </p:nvSpPr>
        <p:spPr>
          <a:xfrm>
            <a:off x="8017902" y="2454275"/>
            <a:ext cx="0" cy="3087979"/>
          </a:xfrm>
          <a:custGeom>
            <a:avLst/>
            <a:gdLst/>
            <a:ahLst/>
            <a:cxnLst/>
            <a:rect l="l" t="t" r="r" b="b"/>
            <a:pathLst>
              <a:path h="3001009">
                <a:moveTo>
                  <a:pt x="0" y="3000400"/>
                </a:moveTo>
                <a:lnTo>
                  <a:pt x="0" y="0"/>
                </a:lnTo>
              </a:path>
            </a:pathLst>
          </a:custGeom>
          <a:ln w="2783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1507846"/>
            <a:endParaRPr sz="1801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3" name="object 3">
            <a:extLst>
              <a:ext uri="{FF2B5EF4-FFF2-40B4-BE49-F238E27FC236}">
                <a16:creationId xmlns:a16="http://schemas.microsoft.com/office/drawing/2014/main" id="{F6A5027A-E215-4339-A81A-70A4E1B2C71F}"/>
              </a:ext>
            </a:extLst>
          </p:cNvPr>
          <p:cNvGrpSpPr/>
          <p:nvPr/>
        </p:nvGrpSpPr>
        <p:grpSpPr>
          <a:xfrm>
            <a:off x="2243795" y="3261247"/>
            <a:ext cx="4357813" cy="1145007"/>
            <a:chOff x="15364003" y="1047088"/>
            <a:chExt cx="3693160" cy="94297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35C6579F-DD30-4CD7-8A2C-1FFFDBA4E0E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pPr defTabSz="1507846"/>
              <a:endParaRPr sz="180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CD579FB6-1ED6-4812-81D3-EB30E18FC70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507846"/>
              <a:endParaRPr sz="180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8A258380-2930-47F4-ACEA-A6BA1F6CA553}"/>
              </a:ext>
            </a:extLst>
          </p:cNvPr>
          <p:cNvGrpSpPr/>
          <p:nvPr/>
        </p:nvGrpSpPr>
        <p:grpSpPr>
          <a:xfrm>
            <a:off x="9201247" y="6873875"/>
            <a:ext cx="9994803" cy="2033890"/>
            <a:chOff x="9201247" y="6873875"/>
            <a:chExt cx="9994803" cy="2033890"/>
          </a:xfrm>
        </p:grpSpPr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2F76E57F-4516-44C1-B269-693C768D9ADE}"/>
                </a:ext>
              </a:extLst>
            </p:cNvPr>
            <p:cNvSpPr txBox="1">
              <a:spLocks/>
            </p:cNvSpPr>
            <p:nvPr/>
          </p:nvSpPr>
          <p:spPr>
            <a:xfrm>
              <a:off x="9201247" y="6873875"/>
              <a:ext cx="9994803" cy="2033890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endParaRPr lang="pt-BR" sz="1600" b="1" kern="0" spc="-25" dirty="0">
                <a:solidFill>
                  <a:srgbClr val="C00000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3600" b="1" kern="0" spc="-25" dirty="0">
                  <a:solidFill>
                    <a:srgbClr val="C00000"/>
                  </a:solidFill>
                  <a:latin typeface="Montserrat ExtraBold" panose="020B0604020202020204" charset="0"/>
                </a:rPr>
                <a:t>FENASUCRO 2022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b="1" kern="0" spc="-25" dirty="0">
                  <a:solidFill>
                    <a:srgbClr val="C00000"/>
                  </a:solidFill>
                  <a:latin typeface="Montserrat ExtraBold" panose="020B0604020202020204" charset="0"/>
                </a:rPr>
                <a:t>Auditório ...</a:t>
              </a:r>
            </a:p>
            <a:p>
              <a:pPr marL="12700" algn="r">
                <a:spcBef>
                  <a:spcPts val="100"/>
                </a:spcBef>
              </a:pPr>
              <a:endParaRPr lang="pt-BR" sz="2400" i="1" kern="0" spc="-25" dirty="0">
                <a:solidFill>
                  <a:srgbClr val="C00000"/>
                </a:solidFill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2400" kern="0" spc="-25" dirty="0">
                  <a:solidFill>
                    <a:srgbClr val="C00000"/>
                  </a:solidFill>
                </a:rPr>
                <a:t>Sertãozinho/SP 19 de ago. de 2022</a:t>
              </a:r>
              <a:endParaRPr lang="pt-BR" sz="2800" kern="0" dirty="0">
                <a:solidFill>
                  <a:srgbClr val="C00000"/>
                </a:solidFill>
              </a:endParaRPr>
            </a:p>
          </p:txBody>
        </p:sp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7A133603-A712-4ECF-9A36-36E433CC4C03}"/>
                </a:ext>
              </a:extLst>
            </p:cNvPr>
            <p:cNvSpPr txBox="1">
              <a:spLocks/>
            </p:cNvSpPr>
            <p:nvPr/>
          </p:nvSpPr>
          <p:spPr>
            <a:xfrm>
              <a:off x="10270078" y="7360398"/>
              <a:ext cx="6857992" cy="1084912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endParaRPr lang="pt-BR" sz="1400" b="1" kern="0" spc="-25" dirty="0">
                <a:solidFill>
                  <a:srgbClr val="FFFFFF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3600" b="1" kern="0" spc="-25" dirty="0">
                  <a:solidFill>
                    <a:srgbClr val="FFFFFF"/>
                  </a:solidFill>
                  <a:latin typeface="Montserrat ExtraBold" panose="020B0604020202020204" charset="0"/>
                </a:rPr>
                <a:t>SENAI 5.13 - Jaguariúna</a:t>
              </a:r>
              <a:endParaRPr lang="pt-BR" sz="2800" b="1" kern="0" spc="-25" dirty="0">
                <a:solidFill>
                  <a:srgbClr val="FFFFFF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endParaRPr lang="pt-BR" sz="1800" i="1" kern="0" spc="-25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4B79C395-5E26-4C89-A9E4-FA649F6D8416}"/>
              </a:ext>
            </a:extLst>
          </p:cNvPr>
          <p:cNvGrpSpPr/>
          <p:nvPr/>
        </p:nvGrpSpPr>
        <p:grpSpPr>
          <a:xfrm>
            <a:off x="12871450" y="9118387"/>
            <a:ext cx="6254754" cy="825868"/>
            <a:chOff x="12871450" y="9118387"/>
            <a:chExt cx="6254754" cy="825868"/>
          </a:xfrm>
        </p:grpSpPr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6CF72D63-5AAF-4BE9-AFFC-BCAFEEB76FB9}"/>
                </a:ext>
              </a:extLst>
            </p:cNvPr>
            <p:cNvSpPr txBox="1">
              <a:spLocks/>
            </p:cNvSpPr>
            <p:nvPr/>
          </p:nvSpPr>
          <p:spPr>
            <a:xfrm>
              <a:off x="12871450" y="9118388"/>
              <a:ext cx="6254754" cy="82586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r>
                <a:rPr lang="pt-BR" sz="2800" b="1" kern="0" spc="-25" dirty="0">
                  <a:solidFill>
                    <a:schemeClr val="bg2">
                      <a:lumMod val="25000"/>
                    </a:schemeClr>
                  </a:solidFill>
                </a:rPr>
                <a:t>Paulo Rogério Ferreira Tescaro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i="1" kern="0" spc="-25" dirty="0">
                  <a:solidFill>
                    <a:schemeClr val="bg2">
                      <a:lumMod val="25000"/>
                    </a:schemeClr>
                  </a:solidFill>
                </a:rPr>
                <a:t>Especialista em Tecnologia</a:t>
              </a:r>
              <a:endParaRPr lang="pt-BR" sz="2800" kern="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C0F3FD7B-98E7-4252-8F7C-5224E77E0354}"/>
                </a:ext>
              </a:extLst>
            </p:cNvPr>
            <p:cNvSpPr txBox="1">
              <a:spLocks/>
            </p:cNvSpPr>
            <p:nvPr/>
          </p:nvSpPr>
          <p:spPr>
            <a:xfrm>
              <a:off x="12871450" y="9118387"/>
              <a:ext cx="6019800" cy="82586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r>
                <a:rPr lang="pt-BR" sz="2800" b="1" kern="0" spc="-25" dirty="0">
                  <a:solidFill>
                    <a:srgbClr val="FFFFFF"/>
                  </a:solidFill>
                </a:rPr>
                <a:t>Luis Fernando Spoljaric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i="1" kern="0" spc="-25" dirty="0">
                  <a:solidFill>
                    <a:srgbClr val="FFFFFF"/>
                  </a:solidFill>
                </a:rPr>
                <a:t>Instrutor de formação profissional III</a:t>
              </a:r>
              <a:endParaRPr lang="pt-BR" sz="2800" kern="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7EE7E-4B9E-84FC-A879-3D23CF0BF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01EAD97-7E48-D804-DF8E-E8432D9ABDDD}"/>
              </a:ext>
            </a:extLst>
          </p:cNvPr>
          <p:cNvSpPr/>
          <p:nvPr/>
        </p:nvSpPr>
        <p:spPr>
          <a:xfrm>
            <a:off x="-14817" y="-378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E147C2A-AEFD-A4B1-12B7-EAE2931EBD1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0C93F40-920B-99B6-DD14-BF409634303F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3AB46CB-D7AF-F4FB-625E-DB63B2FD6A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8847225-EA29-B263-4AAB-7A6A07F4A72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BC0A9A9-0832-B2FC-B348-49820B93E2C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F5C4AF6-1144-D15E-8D31-C4DDA4EDC3D4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4A75463-75D1-30ED-7BE3-9BB6D9872C01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46A9B463-D921-6C9C-78FA-4B9CFED140CB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6B2C8C6-D565-5BB4-2118-BDD5919A82CE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A9B9CD50-41A5-5E01-1AA2-EFE2065620E1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1D8A778E-9BD6-1B80-64AE-178F9B6F541A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3ECCEAFB-96A9-BD83-94C2-01C46CAD6E23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EEC3AB2-45CC-0515-2441-B58A9C0C49F1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7F582F1-4263-BA22-A0B1-44D65A249821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C2D0E1A2-61B9-5B7B-58EE-144587213048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73D22A34-9985-75DF-59C3-17A4E46B3C53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D2D0A9A9-C7C7-B9C7-B43D-C26633AC6E4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DE6C24C5-1FB4-FBE7-6736-799FF197A484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18B91537-915C-F06D-D199-40F9E667C15C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F205ADDA-6173-9F10-61D9-0BCC19981C48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5D9A6A54-E90D-456E-B44F-D59E94516943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7EB6CDA5-54BC-4390-E511-2DB1615DCDF1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47025E88-C48C-4425-662F-F79E8B30A770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3F39FE87-4E26-E884-821C-ADA9886E2FA1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2737AFA5-D653-DA93-FA86-6933893E9F59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DC846E0B-0519-7B71-8716-1AD780537D21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A8E58707-6519-9AB1-CA20-740792B93FF9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CDC35C44-6054-6C3D-2450-C770EC1668D8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AA5C7764-3DEA-35F5-AD84-D31BAE58BC66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0F3849E0-35F5-8B5D-31AE-2CD2CF7243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79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Softwares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1026" name="Picture 2" descr="Melhores livros de lógica de programação de iniciante a avançado">
            <a:extLst>
              <a:ext uri="{FF2B5EF4-FFF2-40B4-BE49-F238E27FC236}">
                <a16:creationId xmlns:a16="http://schemas.microsoft.com/office/drawing/2014/main" id="{95905678-A3DD-5E2C-F91B-B13AB7E0D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2333" y="2714062"/>
            <a:ext cx="9829800" cy="737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9880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F3C8F-B663-0463-E887-B4CAFB680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1BB05AB8-E681-D36B-C2D6-65F979C00D96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E4B1B6C-6FD2-C4BD-4934-1D43C1B34C2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C7678B0-47B8-9FEA-CDAA-AD777BE4475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4E5F8F3-9610-6FE9-2AD2-C5BC8496E5E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A519059-48BB-77C4-E999-9DE30F423B7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823E162-8BED-FF78-C48A-780A25D8E9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62474" y="1105314"/>
            <a:ext cx="1384173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Softwares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62CE79D-FBBD-1F15-A0C0-4C1623434A09}"/>
              </a:ext>
            </a:extLst>
          </p:cNvPr>
          <p:cNvSpPr txBox="1"/>
          <p:nvPr/>
        </p:nvSpPr>
        <p:spPr>
          <a:xfrm>
            <a:off x="1526491" y="3063875"/>
            <a:ext cx="169118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que é Software??	</a:t>
            </a:r>
          </a:p>
          <a:p>
            <a:endParaRPr lang="pt-BR" sz="4000" b="1" dirty="0"/>
          </a:p>
          <a:p>
            <a:r>
              <a:rPr lang="pt-BR" sz="4000" b="1" dirty="0"/>
              <a:t>	Software é a parte lógica do computador.</a:t>
            </a:r>
          </a:p>
          <a:p>
            <a:br>
              <a:rPr lang="pt-BR" sz="4000" dirty="0"/>
            </a:br>
            <a:r>
              <a:rPr lang="pt-BR" sz="4000" dirty="0"/>
              <a:t>São os programas, aplicativos e sistemas que dizem ao hardware o que fazer.</a:t>
            </a:r>
          </a:p>
          <a:p>
            <a:endParaRPr lang="pt-BR" sz="4000" dirty="0"/>
          </a:p>
          <a:p>
            <a:r>
              <a:rPr lang="pt-BR" sz="4000" dirty="0"/>
              <a:t>	Se o </a:t>
            </a:r>
            <a:r>
              <a:rPr lang="pt-BR" sz="4000" b="1" dirty="0"/>
              <a:t>hardware</a:t>
            </a:r>
            <a:r>
              <a:rPr lang="pt-BR" sz="4000" dirty="0"/>
              <a:t> é o corpo do computador, o </a:t>
            </a:r>
            <a:r>
              <a:rPr lang="pt-BR" sz="4000" b="1" dirty="0"/>
              <a:t>software</a:t>
            </a:r>
            <a:r>
              <a:rPr lang="pt-BR" sz="4000" dirty="0"/>
              <a:t> é o cérebro.</a:t>
            </a:r>
          </a:p>
          <a:p>
            <a:endParaRPr lang="pt-BR" sz="4000" dirty="0"/>
          </a:p>
          <a:p>
            <a:r>
              <a:rPr lang="pt-BR" sz="4000" dirty="0"/>
              <a:t>Sem software, o computador é apenas um conjunto de peças eletrônicas.</a:t>
            </a:r>
          </a:p>
        </p:txBody>
      </p:sp>
    </p:spTree>
    <p:extLst>
      <p:ext uri="{BB962C8B-B14F-4D97-AF65-F5344CB8AC3E}">
        <p14:creationId xmlns:p14="http://schemas.microsoft.com/office/powerpoint/2010/main" val="1231613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2FC6B-4A73-3666-DFCF-E153B3E7A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F0FCC871-585E-CBE6-5F4C-0DEF290EC00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05CEFCF-BB14-7A6F-CCF9-8D65540216A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3CDEF7E-A9DF-223A-6717-BD6E880A22A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4A4961C-7C03-F84F-5795-8A5F4E11D75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A2A5131-5932-902F-779D-252A6B81276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9925B0-592C-2216-07C5-699A06B41D38}"/>
              </a:ext>
            </a:extLst>
          </p:cNvPr>
          <p:cNvSpPr txBox="1"/>
          <p:nvPr/>
        </p:nvSpPr>
        <p:spPr>
          <a:xfrm>
            <a:off x="1526491" y="3063875"/>
            <a:ext cx="1691184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pt-BR" sz="4000" dirty="0"/>
              <a:t>Software de Sistema.</a:t>
            </a:r>
          </a:p>
          <a:p>
            <a:pPr marL="742950" indent="-742950">
              <a:buFont typeface="+mj-lt"/>
              <a:buAutoNum type="arabicPeriod"/>
            </a:pPr>
            <a:endParaRPr lang="pt-BR" sz="4000" dirty="0"/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Software de Aplicação</a:t>
            </a:r>
          </a:p>
          <a:p>
            <a:pPr marL="742950" indent="-742950">
              <a:buFont typeface="+mj-lt"/>
              <a:buAutoNum type="arabicPeriod"/>
            </a:pPr>
            <a:endParaRPr lang="pt-BR" sz="4000" dirty="0"/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Software de Programação</a:t>
            </a:r>
          </a:p>
          <a:p>
            <a:pPr marL="742950" indent="-742950">
              <a:buFont typeface="+mj-lt"/>
              <a:buAutoNum type="arabicPeriod"/>
            </a:pPr>
            <a:endParaRPr lang="pt-BR" sz="4000" dirty="0"/>
          </a:p>
          <a:p>
            <a:pPr marL="742950" indent="-742950">
              <a:buFont typeface="+mj-lt"/>
              <a:buAutoNum type="arabicPeriod"/>
            </a:pPr>
            <a:endParaRPr lang="pt-BR" sz="4000" dirty="0"/>
          </a:p>
          <a:p>
            <a:r>
              <a:rPr lang="pt-BR" sz="4000" dirty="0"/>
              <a:t>Quais a diferenças?</a:t>
            </a:r>
          </a:p>
        </p:txBody>
      </p:sp>
      <p:sp>
        <p:nvSpPr>
          <p:cNvPr id="12" name="object 15">
            <a:extLst>
              <a:ext uri="{FF2B5EF4-FFF2-40B4-BE49-F238E27FC236}">
                <a16:creationId xmlns:a16="http://schemas.microsoft.com/office/drawing/2014/main" id="{52C9B495-1408-1673-1FEE-D0EBC4BCC192}"/>
              </a:ext>
            </a:extLst>
          </p:cNvPr>
          <p:cNvSpPr txBox="1">
            <a:spLocks/>
          </p:cNvSpPr>
          <p:nvPr/>
        </p:nvSpPr>
        <p:spPr>
          <a:xfrm>
            <a:off x="1522208" y="1610836"/>
            <a:ext cx="1384173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Tipos de Softwares</a:t>
            </a:r>
          </a:p>
        </p:txBody>
      </p:sp>
    </p:spTree>
    <p:extLst>
      <p:ext uri="{BB962C8B-B14F-4D97-AF65-F5344CB8AC3E}">
        <p14:creationId xmlns:p14="http://schemas.microsoft.com/office/powerpoint/2010/main" val="686446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18FEE-1638-5E9E-73E1-031C1E544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EFB6DC2-0C47-D4C7-716D-D41C4BC56FB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A2AAD6E-D5BF-44AD-5411-8BBE8D6A1BD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FA91FA0-B669-EAF4-9502-620F2D3EF2D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631F33D-AB25-7CD9-3965-A52A93BDEC1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69D8B77-840C-6C5E-2C13-0F038F47572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3D9B4A4-08F7-F5C8-9EAC-7639EFFA4A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Softwares de sistema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5322D1F-32A3-FB69-5EF3-F5F88BD6B8DD}"/>
              </a:ext>
            </a:extLst>
          </p:cNvPr>
          <p:cNvSpPr txBox="1"/>
          <p:nvPr/>
        </p:nvSpPr>
        <p:spPr>
          <a:xfrm>
            <a:off x="1526490" y="3063875"/>
            <a:ext cx="17136159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São responsáveis por </a:t>
            </a:r>
            <a:r>
              <a:rPr lang="pt-BR" sz="4000" b="1" dirty="0"/>
              <a:t>controlar o hardware e permitir que o usuário utilize o computador</a:t>
            </a:r>
            <a:r>
              <a:rPr lang="pt-BR" sz="4000" dirty="0"/>
              <a:t>.</a:t>
            </a:r>
          </a:p>
          <a:p>
            <a:endParaRPr lang="pt-BR" sz="4000" dirty="0"/>
          </a:p>
          <a:p>
            <a:r>
              <a:rPr lang="pt-BR" sz="4000" b="1" dirty="0"/>
              <a:t>Exemplo: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Windows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Linux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 err="1"/>
              <a:t>macOS</a:t>
            </a: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Android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iOS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Drivers de impressora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BIOS/UEFI</a:t>
            </a:r>
          </a:p>
          <a:p>
            <a:endParaRPr lang="pt-BR" sz="40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4E37AE3-0535-899F-E654-DAF315F80C7D}"/>
              </a:ext>
            </a:extLst>
          </p:cNvPr>
          <p:cNvSpPr txBox="1"/>
          <p:nvPr/>
        </p:nvSpPr>
        <p:spPr>
          <a:xfrm>
            <a:off x="9366250" y="4995941"/>
            <a:ext cx="11277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Função: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Gerenciar memória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Controlar processador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Administrar arquivos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Controlar dispositivos (mouse, teclado, impressora)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👉 O principal software de sistema é o </a:t>
            </a:r>
            <a:r>
              <a:rPr lang="pt-BR" sz="4000" b="1" dirty="0"/>
              <a:t>Sistema Operacional</a:t>
            </a:r>
            <a:r>
              <a:rPr lang="pt-BR" sz="4000" dirty="0"/>
              <a:t>.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757714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A7C53-729D-F4BE-15CC-ADA2C4415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C3F61A4-0FC9-BD0F-48C1-FEB1E076EDC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8AC48CF-B0D1-21DB-865F-648657E9BC4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2489227-2007-9DAC-850E-840E66DA7F5F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786C3D0-A94D-4384-18FB-A4DCD857C52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2AD92FF-1B7B-3AA3-BBBA-A98A0650A22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A8D6344-D3FF-B10C-19AF-C4B8795587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417339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Software de Aplicação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CA60819-CE8B-7619-F5C7-D574835E354D}"/>
              </a:ext>
            </a:extLst>
          </p:cNvPr>
          <p:cNvSpPr txBox="1"/>
          <p:nvPr/>
        </p:nvSpPr>
        <p:spPr>
          <a:xfrm>
            <a:off x="1526491" y="3063875"/>
            <a:ext cx="169118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São programas usados pelo usuário para realizar tarefas específicas.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313D283-5932-E27E-6E00-DCEB6B5E2AEC}"/>
              </a:ext>
            </a:extLst>
          </p:cNvPr>
          <p:cNvSpPr txBox="1"/>
          <p:nvPr/>
        </p:nvSpPr>
        <p:spPr>
          <a:xfrm>
            <a:off x="1562474" y="4259700"/>
            <a:ext cx="51054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Exemplos: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Word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Excel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Google Chrome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Photoshop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WhatsApp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Spotify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Sistemas bancários</a:t>
            </a:r>
          </a:p>
          <a:p>
            <a:endParaRPr lang="pt-BR" sz="40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8B184AD-C041-F4CC-F3E2-CB4FC1A4D0D3}"/>
              </a:ext>
            </a:extLst>
          </p:cNvPr>
          <p:cNvSpPr txBox="1"/>
          <p:nvPr/>
        </p:nvSpPr>
        <p:spPr>
          <a:xfrm>
            <a:off x="9896209" y="4259700"/>
            <a:ext cx="708003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Função: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Produção de texto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Navegação na internet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Comunicação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Edição de imagens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Jogos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9675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98163-78B1-0566-A2BB-E496019CB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B4A8737-9039-D33A-048B-4995CE5EDED7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2F26487-C564-2C81-C32C-0F35D5511E6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A8B9E85-E9CD-41C9-D942-0DB61B67A2D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4112E9B-BADE-910A-D15A-2C774B03BE15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65DCCD0-6B11-510B-6A10-2AD84D7D1919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785AC3E-B791-07C6-8D63-4783A72456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Softwares de Programação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A074EF4-7CAB-B483-6E28-AFADAA8A1189}"/>
              </a:ext>
            </a:extLst>
          </p:cNvPr>
          <p:cNvSpPr txBox="1"/>
          <p:nvPr/>
        </p:nvSpPr>
        <p:spPr>
          <a:xfrm>
            <a:off x="1526491" y="3063875"/>
            <a:ext cx="169118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São utilizados para criar outros softwares.</a:t>
            </a:r>
            <a:endParaRPr lang="pt-BR" sz="4400" dirty="0">
              <a:solidFill>
                <a:srgbClr val="FF0000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746D7C4-38F3-1B1E-5D3A-822FE5CA1F49}"/>
              </a:ext>
            </a:extLst>
          </p:cNvPr>
          <p:cNvSpPr txBox="1"/>
          <p:nvPr/>
        </p:nvSpPr>
        <p:spPr>
          <a:xfrm>
            <a:off x="1526491" y="4732596"/>
            <a:ext cx="753495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Exemplos: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Visual Studio </a:t>
            </a:r>
            <a:r>
              <a:rPr lang="pt-BR" sz="4000" dirty="0" err="1"/>
              <a:t>Code</a:t>
            </a: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 err="1"/>
              <a:t>PyCharm</a:t>
            </a: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Eclipse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Compiladores (GCC)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Interpretadores (Python)</a:t>
            </a:r>
          </a:p>
          <a:p>
            <a:endParaRPr lang="pt-BR" sz="40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934F243-0FAA-08F6-2810-96A6EA6E08A8}"/>
              </a:ext>
            </a:extLst>
          </p:cNvPr>
          <p:cNvSpPr txBox="1"/>
          <p:nvPr/>
        </p:nvSpPr>
        <p:spPr>
          <a:xfrm>
            <a:off x="10585450" y="4732596"/>
            <a:ext cx="753495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Função: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Desenvolver programas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Criar aplicativos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Desenvolver sistemas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77133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02BDF-731E-8384-C96F-B683068CE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C1F49C39-B26F-1916-E23C-53F93C3F077E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F829799-90D3-ECE0-61D4-58DAC689DF5C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424D621-A0C9-F36F-59C2-7D762EB82EF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D6CA1DE-B624-7988-9395-E9F9FD5AFC38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9C8175D-10AE-2599-5DC1-90698FFC6FDC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EC099FE-2F8F-B26D-8373-E4D614D284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37074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spc="-15" dirty="0">
                <a:latin typeface="Montserrat ExtraBold" panose="00000900000000000000" pitchFamily="2" charset="0"/>
                <a:cs typeface="Montserrat ExtraBold"/>
              </a:rPr>
              <a:t>Compilada X Interpretada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46B6DE72-26B5-6B55-EF04-364B0515A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708623"/>
              </p:ext>
            </p:extLst>
          </p:nvPr>
        </p:nvGraphicFramePr>
        <p:xfrm>
          <a:off x="1822450" y="3444876"/>
          <a:ext cx="16764000" cy="6539377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5519436">
                  <a:extLst>
                    <a:ext uri="{9D8B030D-6E8A-4147-A177-3AD203B41FA5}">
                      <a16:colId xmlns:a16="http://schemas.microsoft.com/office/drawing/2014/main" val="2964530525"/>
                    </a:ext>
                  </a:extLst>
                </a:gridCol>
                <a:gridCol w="5622282">
                  <a:extLst>
                    <a:ext uri="{9D8B030D-6E8A-4147-A177-3AD203B41FA5}">
                      <a16:colId xmlns:a16="http://schemas.microsoft.com/office/drawing/2014/main" val="1301347749"/>
                    </a:ext>
                  </a:extLst>
                </a:gridCol>
                <a:gridCol w="5622282">
                  <a:extLst>
                    <a:ext uri="{9D8B030D-6E8A-4147-A177-3AD203B41FA5}">
                      <a16:colId xmlns:a16="http://schemas.microsoft.com/office/drawing/2014/main" val="1820631956"/>
                    </a:ext>
                  </a:extLst>
                </a:gridCol>
              </a:tblGrid>
              <a:tr h="11177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4400" b="1"/>
                        <a:t>Característica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4400" b="1"/>
                        <a:t>Compilada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4400" b="1" dirty="0"/>
                        <a:t>Interpretada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345793"/>
                  </a:ext>
                </a:extLst>
              </a:tr>
              <a:tr h="1117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Velocidade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Alta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Menor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8857691"/>
                  </a:ext>
                </a:extLst>
              </a:tr>
              <a:tr h="1117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Flexibilidade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Baixa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Alta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013860"/>
                  </a:ext>
                </a:extLst>
              </a:tr>
              <a:tr h="1117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 dirty="0"/>
                        <a:t>Facilidade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Média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Alta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6377249"/>
                  </a:ext>
                </a:extLst>
              </a:tr>
              <a:tr h="1117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Depuração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 dirty="0"/>
                        <a:t>Mais difícil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 dirty="0"/>
                        <a:t>Mais fácil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3982556"/>
                  </a:ext>
                </a:extLst>
              </a:tr>
              <a:tr h="950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Exemplo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C, C++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 dirty="0"/>
                        <a:t>Python, JS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9854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5333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CE169-0244-03A0-E180-5E8DF0463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E0814FE-CC5A-223C-62D0-670EB5F61869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30FBC48-7910-D081-15DA-9D6B7BC6120A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EB5C48A-BB15-54DE-8A88-F0129223904B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05A58F6-C196-CC1B-42D9-A82D4C23D97B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D4C3E8E-0647-ABA6-C41F-E3DC69938D4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B7995DC-8044-491A-DDFC-EE38BAF6212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39471ACE-E2BF-52DA-609D-5D23BDD5FFEE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34A2676-4005-AB9D-6A3A-B9C5DD9FF5EF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FECDBA6-D6B8-A9A3-CC63-A75928F0F447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63D9249-8E46-0619-CE96-DBF05901619E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5B4F5A2F-23C0-CB31-7DF3-638E67D268CE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AC220023-9DCC-4C0C-8149-7FDC5048C3D2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B1618201-3607-4AD2-2311-BC6AD3D552A4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117D290-036B-82FB-DC4E-790F31DCB379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349B9765-DC5C-06D4-367C-E9FC5FD87D9E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FFA4A3FA-4B8D-4977-5A72-3CEBA6A6C833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9A1A86C4-4AAB-B843-ABA4-FF889D800E9F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A6DD9CB6-469F-6215-D04F-9E8742932D6A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DD4B5768-BEFE-C9D8-D50C-AB5C5223B3A7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2E468CA4-56BA-37A0-5F0C-903FFA91EC58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EB4CF61E-0CEC-DE4D-3EB5-EBC128A1CE7A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97B454F8-5C09-299A-CCCD-FE79BE7F0C0A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52FE9206-20BD-6317-231D-6549EB365794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FEADF822-E3F9-25F7-3481-2556F541416A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E78B0AAA-CECB-6B04-100E-D6F84600EFF7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2D733C8F-F0A3-CEC5-CC37-FC1377547B72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F561AE32-6704-764D-185D-00AB51B936DD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A1B30187-A875-0688-D117-A3986CC4C90B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B2515AD9-C24D-EDFA-34CA-1D27F140D0B0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3CDBF6C7-3B0F-E589-891E-3A5F6258B1AF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384680C0-68A2-3AB4-EC1E-ABBDB6D063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sp>
        <p:nvSpPr>
          <p:cNvPr id="32" name="object 71">
            <a:extLst>
              <a:ext uri="{FF2B5EF4-FFF2-40B4-BE49-F238E27FC236}">
                <a16:creationId xmlns:a16="http://schemas.microsoft.com/office/drawing/2014/main" id="{95143CF8-195F-C5A5-17A9-D28D755B9B55}"/>
              </a:ext>
            </a:extLst>
          </p:cNvPr>
          <p:cNvSpPr txBox="1">
            <a:spLocks/>
          </p:cNvSpPr>
          <p:nvPr/>
        </p:nvSpPr>
        <p:spPr>
          <a:xfrm>
            <a:off x="1343689" y="1395795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bg1">
                    <a:lumMod val="85000"/>
                  </a:schemeClr>
                </a:solidFill>
                <a:latin typeface="Montserrat ExtraBold"/>
                <a:cs typeface="Montserrat ExtraBold"/>
              </a:rPr>
              <a:t>EM RESUMO:</a:t>
            </a:r>
          </a:p>
        </p:txBody>
      </p:sp>
      <p:pic>
        <p:nvPicPr>
          <p:cNvPr id="35" name="Imagem 34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C0F57094-7820-AFF4-4549-6BE9AF5A6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337" y="4392744"/>
            <a:ext cx="14113426" cy="423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642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91722-E55B-DBD8-20C1-64CE3511B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3CF6692-F033-A689-08A3-E5BBE8414465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FFB69EC-AE15-18B1-9040-955F55A1300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274B2FB-24B9-FDE1-89C3-594375147C0D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80F8C67-CCA2-7DA8-6BB1-BCCC7DC94DC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4926827-D644-80F1-7015-05B1ABAAAE4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BB1365C-5261-9880-30D8-5B7493F7A1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Sistemas Operacionais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62CEDAD-519D-6759-B271-ACE000A7020B}"/>
              </a:ext>
            </a:extLst>
          </p:cNvPr>
          <p:cNvSpPr txBox="1"/>
          <p:nvPr/>
        </p:nvSpPr>
        <p:spPr>
          <a:xfrm>
            <a:off x="1526491" y="3063875"/>
            <a:ext cx="16911842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É o </a:t>
            </a:r>
            <a:r>
              <a:rPr lang="pt-BR" sz="4000" b="1" dirty="0"/>
              <a:t>principal software do computador</a:t>
            </a:r>
            <a:r>
              <a:rPr lang="pt-BR" sz="4000" dirty="0"/>
              <a:t>.</a:t>
            </a:r>
          </a:p>
          <a:p>
            <a:endParaRPr lang="pt-BR" sz="4000" dirty="0"/>
          </a:p>
          <a:p>
            <a:r>
              <a:rPr lang="pt-BR" sz="4000" dirty="0"/>
              <a:t>Ele funciona como um </a:t>
            </a:r>
            <a:r>
              <a:rPr lang="pt-BR" sz="4000" b="1" dirty="0"/>
              <a:t>intermediário entre o hardware e o usuário</a:t>
            </a:r>
            <a:r>
              <a:rPr lang="pt-BR" sz="4000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b="1" dirty="0"/>
              <a:t>Ele é responsável por: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Gerenciar memória RAM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Controlar o processador (CPU)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Organizar arquivos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Controlar dispositivos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Executar programas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4140224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C0002-E94D-5E82-1F69-99CB6B93E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BA7DAD4-36B2-3164-68F1-92199163041A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65AF6D5-0DC8-8D05-7D87-4736BAEF3D9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15E845A-36CD-B8E9-8F03-2B67B70B84B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C8824D4-6421-331C-AD02-943F89E9374D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A6D8624-3E0A-A951-EED5-3143C7ECAE9E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B79A315-9C53-55A7-4251-14558DBFA3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Sistemas operacionais: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EFE5A07-1014-88FE-EF2C-260417C76C0C}"/>
              </a:ext>
            </a:extLst>
          </p:cNvPr>
          <p:cNvSpPr txBox="1"/>
          <p:nvPr/>
        </p:nvSpPr>
        <p:spPr>
          <a:xfrm>
            <a:off x="1526490" y="2682875"/>
            <a:ext cx="1698376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/>
              <a:t>Como funciona na prática??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b="1" dirty="0"/>
          </a:p>
          <a:p>
            <a:r>
              <a:rPr lang="pt-BR" sz="4000" dirty="0"/>
              <a:t>Quando você clica em um programa:</a:t>
            </a:r>
          </a:p>
          <a:p>
            <a:endParaRPr lang="pt-BR" sz="4000" dirty="0"/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O Sistema Operacional recebe o comando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Aloca memória RAM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Envia instruções ao processador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Mostra o resultado na tela</a:t>
            </a:r>
          </a:p>
          <a:p>
            <a:pPr marL="742950" indent="-742950">
              <a:buFont typeface="+mj-lt"/>
              <a:buAutoNum type="arabicPeriod"/>
            </a:pPr>
            <a:endParaRPr lang="pt-BR" sz="4000" dirty="0"/>
          </a:p>
          <a:p>
            <a:r>
              <a:rPr lang="pt-BR" sz="4000" dirty="0"/>
              <a:t>Tudo passa pelo sistema operacional.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b="1" dirty="0"/>
          </a:p>
        </p:txBody>
      </p:sp>
    </p:spTree>
    <p:extLst>
      <p:ext uri="{BB962C8B-B14F-4D97-AF65-F5344CB8AC3E}">
        <p14:creationId xmlns:p14="http://schemas.microsoft.com/office/powerpoint/2010/main" val="2118745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0AB4C-EF2E-A4DE-D402-27DCECE03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A7DCF29-2D8E-907F-F1E8-8F6A3279F1D3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6528264-E332-8D87-D63D-DC233908F60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B3793B9-3316-078B-CB58-81A8B429609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CB26C5B-BA35-062C-5146-2108678F0DC5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043227F-F82A-D800-644E-CD72D699DFB4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0660E14-4978-E3F0-34C6-3BA6E146E7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Principais sistemas operacionais: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1E4005F-86D1-0F2C-75B4-DD4E72D64930}"/>
              </a:ext>
            </a:extLst>
          </p:cNvPr>
          <p:cNvSpPr txBox="1"/>
          <p:nvPr/>
        </p:nvSpPr>
        <p:spPr>
          <a:xfrm>
            <a:off x="1670050" y="4206875"/>
            <a:ext cx="9372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Para Computadores (Desktop/Notebook)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Windows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Linux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 err="1"/>
              <a:t>macOS</a:t>
            </a:r>
            <a:endParaRPr lang="pt-BR" sz="4000" dirty="0"/>
          </a:p>
          <a:p>
            <a:endParaRPr lang="pt-BR" sz="40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31B6C50-810C-7C8E-5944-57B8A37B82DD}"/>
              </a:ext>
            </a:extLst>
          </p:cNvPr>
          <p:cNvSpPr txBox="1"/>
          <p:nvPr/>
        </p:nvSpPr>
        <p:spPr>
          <a:xfrm>
            <a:off x="11195050" y="6401910"/>
            <a:ext cx="814705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Para Dispositivos Mobile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Android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iOS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445456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E1B4D-C89F-7E26-4C4D-16A9D68F8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47E7C128-F6BF-6D8A-970A-1B5646A64C15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14D3832-F3B4-BCD6-D522-8CFD82D775C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D3676F0-46A5-FC69-4CFC-38186EF77D0D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312A3DD-012B-BB25-7106-9CA3281A852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57FC369-23C2-0E51-779E-C71167B5F2F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AB64169-C6AC-9809-B4DE-9FFD201ED8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3478560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Sistemas operacionais para estação de trabalho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B691F8C-D3F7-B013-A0CB-EF867F72CCE3}"/>
              </a:ext>
            </a:extLst>
          </p:cNvPr>
          <p:cNvSpPr txBox="1"/>
          <p:nvPr/>
        </p:nvSpPr>
        <p:spPr>
          <a:xfrm>
            <a:off x="1047088" y="3902075"/>
            <a:ext cx="1698376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O que é Estação de Trabalho?</a:t>
            </a:r>
          </a:p>
          <a:p>
            <a:endParaRPr lang="pt-BR" sz="4000" b="1" dirty="0"/>
          </a:p>
          <a:p>
            <a:r>
              <a:rPr lang="pt-BR" sz="4000" dirty="0"/>
              <a:t>	É um computador voltado para uso profissional ou pessoal fixo.</a:t>
            </a:r>
          </a:p>
          <a:p>
            <a:endParaRPr lang="pt-BR" sz="4000" dirty="0"/>
          </a:p>
          <a:p>
            <a:r>
              <a:rPr lang="pt-BR" sz="4000" b="1" dirty="0"/>
              <a:t>Exemplos: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Computadores de escritório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Computadores de empresas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Computadores de desenvolvedores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Computadores de design gráfico</a:t>
            </a:r>
          </a:p>
        </p:txBody>
      </p:sp>
    </p:spTree>
    <p:extLst>
      <p:ext uri="{BB962C8B-B14F-4D97-AF65-F5344CB8AC3E}">
        <p14:creationId xmlns:p14="http://schemas.microsoft.com/office/powerpoint/2010/main" val="1024628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9464D-6F06-072C-3771-1F9F8766E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022CB8A6-2105-AACE-36A3-A11297F85A70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ED9934F-E8E8-0327-3280-0BA112E718D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0F1E8F3-403A-7DA1-1B5B-9CD02A9BC846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55FE999-0E1E-B750-E95F-D6F15F37C41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F3E30BC-3C1E-8682-04EB-4E0D37EE504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229CB12-BDA7-9C20-52A1-65D83DAD6A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3478560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Características do S.O para estações de trabalho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6C684C0-3B60-8651-5EF5-C565A6A16D3C}"/>
              </a:ext>
            </a:extLst>
          </p:cNvPr>
          <p:cNvSpPr txBox="1"/>
          <p:nvPr/>
        </p:nvSpPr>
        <p:spPr>
          <a:xfrm>
            <a:off x="1047088" y="4024630"/>
            <a:ext cx="1075756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Interface completa:</a:t>
            </a:r>
          </a:p>
          <a:p>
            <a:br>
              <a:rPr lang="pt-BR" sz="4000" dirty="0"/>
            </a:br>
            <a:r>
              <a:rPr lang="pt-BR" sz="4000" dirty="0"/>
              <a:t>- Suporte a múltiplos programas simultaneamente</a:t>
            </a:r>
          </a:p>
          <a:p>
            <a:r>
              <a:rPr lang="pt-BR" sz="4000" dirty="0"/>
              <a:t>- Maior poder de processamento</a:t>
            </a:r>
            <a:br>
              <a:rPr lang="pt-BR" sz="4000" dirty="0"/>
            </a:br>
            <a:r>
              <a:rPr lang="pt-BR" sz="4000" dirty="0"/>
              <a:t>- Sistema de arquivos mais complexo</a:t>
            </a:r>
            <a:br>
              <a:rPr lang="pt-BR" sz="4000" dirty="0"/>
            </a:br>
            <a:r>
              <a:rPr lang="pt-BR" sz="4000" dirty="0"/>
              <a:t>- Suporte a periféricos variados</a:t>
            </a:r>
            <a:br>
              <a:rPr lang="pt-BR" sz="4000" dirty="0"/>
            </a:br>
            <a:r>
              <a:rPr lang="pt-BR" sz="4000" dirty="0"/>
              <a:t>- Atualizações mais pesadas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4C1E804-3AD3-D2A2-78BB-F8B1F2CBB753}"/>
              </a:ext>
            </a:extLst>
          </p:cNvPr>
          <p:cNvSpPr txBox="1"/>
          <p:nvPr/>
        </p:nvSpPr>
        <p:spPr>
          <a:xfrm>
            <a:off x="13633450" y="4377402"/>
            <a:ext cx="5562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Exemplos</a:t>
            </a:r>
            <a:r>
              <a:rPr lang="pt-BR" sz="4000" dirty="0"/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Windows 11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Ubuntu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 err="1"/>
              <a:t>macOS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201382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6BA09-1E57-BAB7-5C06-16629A92A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16591C3-BD3E-3A4E-8636-73F7827FFFA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458075E-FA6F-8E70-7E19-D2D6331B3DEE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BE14E9F-FFF7-5D92-FBE9-08E55038DEC3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8C074B3-4E40-9F7F-CCEE-1422A477127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FF552CD-7845-616C-1A14-30570A6D02B9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D660452-86D9-FC85-2414-170AAD9751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347856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Sistemas operacionais mobile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69DB0B7-E6AB-3FDD-D228-8AA228D9BC7B}"/>
              </a:ext>
            </a:extLst>
          </p:cNvPr>
          <p:cNvSpPr txBox="1"/>
          <p:nvPr/>
        </p:nvSpPr>
        <p:spPr>
          <a:xfrm>
            <a:off x="1047088" y="3363242"/>
            <a:ext cx="1075756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Sistema operacional desenvolvido para: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Smartphones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Tablets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 err="1"/>
              <a:t>Smartwatches</a:t>
            </a:r>
            <a:endParaRPr lang="pt-BR" sz="4000" dirty="0"/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095699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B70FD-F51F-AB73-E33B-552DB0FF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FF4F1E5-9A94-C0E8-93D1-18233196210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8D6A494-1A6B-A49A-A10F-B821D34773E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BE92133-F737-7568-F166-0B08DA81F22B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8261E31-7BC1-AD7F-FA39-961C0AD7A5F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5A79E1F-EBC0-7B08-46FD-AE7C65A54E9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DC53BDF-6089-B386-D056-FBC7F35C51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347856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Características do S.O Mobile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8A937DF-A5CD-6A28-A10E-7B64C1B9BC9C}"/>
              </a:ext>
            </a:extLst>
          </p:cNvPr>
          <p:cNvSpPr txBox="1"/>
          <p:nvPr/>
        </p:nvSpPr>
        <p:spPr>
          <a:xfrm>
            <a:off x="1526490" y="3063875"/>
            <a:ext cx="822076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Características do SO Mobile: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Interface </a:t>
            </a:r>
            <a:r>
              <a:rPr lang="pt-BR" sz="4000" dirty="0" err="1"/>
              <a:t>touch</a:t>
            </a:r>
            <a:r>
              <a:rPr lang="pt-BR" sz="4000" dirty="0"/>
              <a:t> (toque)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Otimizado para bateria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Aplicativos leves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Sistema mais restrito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Segurança mais controlada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Permissões por aplicativo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0053BE0-00E6-63F4-F15C-D7E65CFC83AA}"/>
              </a:ext>
            </a:extLst>
          </p:cNvPr>
          <p:cNvSpPr txBox="1"/>
          <p:nvPr/>
        </p:nvSpPr>
        <p:spPr>
          <a:xfrm>
            <a:off x="10966450" y="3132270"/>
            <a:ext cx="70104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Exemplos: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Android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iOS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126295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4CB5D-358A-B9DD-BE02-0C3C2DADD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9DD3548-AF7C-B368-D119-7CFB3F4343DC}"/>
              </a:ext>
            </a:extLst>
          </p:cNvPr>
          <p:cNvSpPr/>
          <p:nvPr/>
        </p:nvSpPr>
        <p:spPr>
          <a:xfrm>
            <a:off x="7163" y="-1837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D8BBD0D-FE5B-E96C-0EE1-AD7C2D77AA6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75BD9FB-47F3-64A2-ADF6-E95D0D2DEDD5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109C65C-0795-DCEE-68AD-6538C633C76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3A853DB-B6EB-CD99-0104-B383845FCB59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13AEA7C-9D54-57D4-34F8-11C8E2BF9403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451BFD3-9F0C-5ED8-85DF-9FEE9FDE6193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6BF4167-1CD6-3DD9-1CB0-1480CA1E9318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6EAF5E71-CEE7-A0B3-8E03-E05B0D72AD7E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9C9F8839-64C8-3357-56BA-E50EE42718A7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E47FC0FC-F628-F936-AF80-FB5AD8CD491D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9FE5FC79-D3F1-E49E-9F0F-F2CC3A791707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725FA882-DF6C-A640-9391-0268CC1B408D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5589FD8-A495-DB96-687D-822FD6AF5C68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0764CD0E-A784-CBDD-0F87-827B2FE433F2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762DF0BC-C3C9-0960-2A8A-91B2A763D576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C56A8F0E-8F26-A928-B679-EE5E01D06E4B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7F402AB8-BBAA-4171-1C6F-9E6C523D020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AB22FD1E-6610-5D01-F43D-9CCBE9D5D9C9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45B5FC3A-C0BD-7994-16B8-7A8B985D55A4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48E17F7F-15A1-1502-5D4B-9CEBE74240E8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EAC1FDA1-2FF1-5DC1-D7E5-F58344DC5861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3AD3C6F5-F182-DA06-F65F-576DC9C9BC9E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D1771873-6EFC-B924-0B0F-2C274485CB8E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DF02C9A3-171A-4490-7D12-CC48AE9CA01A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FE0E74E0-C7D4-8FF6-0E30-E28A80B31F55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BCC876DD-D8F4-F6C5-7E21-A093DD7FA35D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BA70044B-2A0B-02DF-B73C-999B176D3CA8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170063C1-ECA5-CB37-9467-B0EE2960A305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2FCF0F12-751F-28CA-E001-2422C1617773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7C754D85-A032-234A-FF15-EFA58FD295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sp>
        <p:nvSpPr>
          <p:cNvPr id="32" name="object 71">
            <a:extLst>
              <a:ext uri="{FF2B5EF4-FFF2-40B4-BE49-F238E27FC236}">
                <a16:creationId xmlns:a16="http://schemas.microsoft.com/office/drawing/2014/main" id="{C64F80E9-5F8C-66D5-340D-846F3D43C460}"/>
              </a:ext>
            </a:extLst>
          </p:cNvPr>
          <p:cNvSpPr txBox="1">
            <a:spLocks/>
          </p:cNvSpPr>
          <p:nvPr/>
        </p:nvSpPr>
        <p:spPr>
          <a:xfrm>
            <a:off x="1485782" y="1047088"/>
            <a:ext cx="13737560" cy="22948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bg1">
                    <a:lumMod val="85000"/>
                  </a:schemeClr>
                </a:solidFill>
                <a:latin typeface="Montserrat ExtraBold"/>
                <a:cs typeface="Montserrat ExtraBold"/>
              </a:rPr>
              <a:t>📌Diferenças entre S.O Mobile e de Estação de trabalho</a:t>
            </a:r>
          </a:p>
          <a:p>
            <a:pPr marL="12700">
              <a:lnSpc>
                <a:spcPts val="5940"/>
              </a:lnSpc>
              <a:spcBef>
                <a:spcPts val="95"/>
              </a:spcBef>
            </a:pPr>
            <a:endParaRPr lang="pt-BR" sz="4950" b="1" kern="0" spc="-15" dirty="0">
              <a:solidFill>
                <a:schemeClr val="bg1">
                  <a:lumMod val="85000"/>
                </a:schemeClr>
              </a:solidFill>
              <a:latin typeface="Montserrat ExtraBold"/>
              <a:cs typeface="Montserrat ExtraBold"/>
            </a:endParaRPr>
          </a:p>
        </p:txBody>
      </p:sp>
      <p:sp>
        <p:nvSpPr>
          <p:cNvPr id="34" name="Rectangle 1">
            <a:extLst>
              <a:ext uri="{FF2B5EF4-FFF2-40B4-BE49-F238E27FC236}">
                <a16:creationId xmlns:a16="http://schemas.microsoft.com/office/drawing/2014/main" id="{E5E23B5D-6FC2-08B4-3962-A6EEEF34E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01041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Definição do Projeto: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Determine um software a ser desenvolvido (exemplo: aplicativo de delivery, plataforma de ensino online, sistema de gestão empresarial,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Descreva brevemente o propósito do software e seus principais objetivos.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7" name="Imagem 36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1409C8FB-F8B5-2CEF-B0ED-EFD36E55A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313" y="3211775"/>
            <a:ext cx="14401800" cy="689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55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00C5D-7989-25D7-CB8E-8EE419871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4A2323A-7CA0-6951-82A8-3BD41F5CCDFF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6873D6B-4BBF-224B-86CC-A5681E54DF9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964D5D9-D7B0-F0FD-ED48-BCC5497D123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F4816A2-8051-0F77-FEAF-8EF8E0A77FE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FE28562-ACEB-426F-4CBA-7E4F6F86687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AC56406-829F-4ED4-35B7-D68F59B0F3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347856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Diferenças Técnicas Importantes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9A8BF08-C581-68C1-8E31-4BA931AC18EF}"/>
              </a:ext>
            </a:extLst>
          </p:cNvPr>
          <p:cNvSpPr txBox="1"/>
          <p:nvPr/>
        </p:nvSpPr>
        <p:spPr>
          <a:xfrm>
            <a:off x="1526490" y="3063875"/>
            <a:ext cx="822076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O de Estação de Trabalho: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Permite maior controle do sistema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Pode instalar programas de qualquer fonte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Mais personalizável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Maior acesso a arquivos do sistema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CB7B50A-D449-2A85-B450-C84AB40D5F70}"/>
              </a:ext>
            </a:extLst>
          </p:cNvPr>
          <p:cNvSpPr txBox="1"/>
          <p:nvPr/>
        </p:nvSpPr>
        <p:spPr>
          <a:xfrm>
            <a:off x="11253623" y="3063875"/>
            <a:ext cx="822076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SO Mobile: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Mais fechado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Aplicativos passam por validação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Segurança mais rígida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Menor liberdade do usuário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887453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B6324-69C0-9538-F3E6-45AB1067E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3EE07431-8977-E617-411D-3462BEE2983A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F57B6CE-445F-1A1F-7DAA-B8DBB7E9FBAB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2D60A6D-11F1-10D4-FFC4-7C8FB31F740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3B4BCB2-4886-EB18-7EE3-6ABCE342079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2940F68-029A-6CED-C95C-747883C86F7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7898EE26-409B-A0F8-04CD-4E38EB4820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401456"/>
            <a:ext cx="1347856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Conclusão Geral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A2CB18A-7B90-C346-4539-898C1CE191A7}"/>
              </a:ext>
            </a:extLst>
          </p:cNvPr>
          <p:cNvSpPr txBox="1"/>
          <p:nvPr/>
        </p:nvSpPr>
        <p:spPr>
          <a:xfrm>
            <a:off x="1526490" y="3063875"/>
            <a:ext cx="1561216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Software = </a:t>
            </a:r>
            <a:r>
              <a:rPr lang="pt-BR" sz="4000" dirty="0"/>
              <a:t>Parte lógica do computador.</a:t>
            </a:r>
          </a:p>
          <a:p>
            <a:br>
              <a:rPr lang="pt-BR" sz="4000" dirty="0"/>
            </a:br>
            <a:r>
              <a:rPr lang="pt-BR" sz="4000" b="1" dirty="0"/>
              <a:t>Sistema Operacional = </a:t>
            </a:r>
            <a:r>
              <a:rPr lang="pt-BR" sz="4000" dirty="0"/>
              <a:t>Principal software de sistema.</a:t>
            </a:r>
          </a:p>
          <a:p>
            <a:br>
              <a:rPr lang="pt-BR" sz="4000" b="1" dirty="0"/>
            </a:br>
            <a:r>
              <a:rPr lang="pt-BR" sz="4000" b="1" dirty="0"/>
              <a:t>SO Estação de Trabalho = </a:t>
            </a:r>
            <a:r>
              <a:rPr lang="pt-BR" sz="4000" dirty="0"/>
              <a:t>Voltado para produtividade e desempenho.</a:t>
            </a:r>
          </a:p>
          <a:p>
            <a:br>
              <a:rPr lang="pt-BR" sz="4000" dirty="0"/>
            </a:br>
            <a:r>
              <a:rPr lang="pt-BR" sz="4000" b="1" dirty="0"/>
              <a:t>SO Mobile = </a:t>
            </a:r>
            <a:r>
              <a:rPr lang="pt-BR" sz="4000" dirty="0"/>
              <a:t>Voltado para mobilidade e eficiência energética.</a:t>
            </a:r>
          </a:p>
        </p:txBody>
      </p:sp>
    </p:spTree>
    <p:extLst>
      <p:ext uri="{BB962C8B-B14F-4D97-AF65-F5344CB8AC3E}">
        <p14:creationId xmlns:p14="http://schemas.microsoft.com/office/powerpoint/2010/main" val="3170732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32C79-876F-8BCA-8D12-D4F2BB551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36EDED2-0AD8-D73E-BC33-370CE9C79306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39B7059-B4B7-9ECD-2145-F7DFA1EA78A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ABEB08A-CD28-43C9-F728-778EA0AABA7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10737E5-88E5-8F78-242C-022CD77A1A1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F994BF1-8081-4507-FD5B-0E9BB55D8CB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9E71D00-A664-C3A1-DA05-4B69D011180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9EFEC6E-DDF2-7E10-1169-9F07853EAE6B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719C9A4-E42E-69F2-D740-79E7D7ADBD8A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A164F6C-03AF-82A0-4C7B-26442C3A01F4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CD9D6A4D-9ED2-966D-3FD1-B1B805747483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69F371D6-36D1-3827-583E-CBD46FEDFB93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52F8A60A-F880-F79B-755A-EB3916E6E3EA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E9F4AF6B-F234-2BEF-E2B2-B5F70D04D28C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9042008-CE9E-E81A-36F6-BDC7772B6152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4688A5F-9ED1-9D6D-21F4-25FFDFC9B303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366C110C-C67B-CFE0-EC27-6CCED0C9DD96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6A8FB3BC-B7E2-5B39-1DA2-C46B7ED68467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B0EEDBD-B5DD-BAA2-8D78-6036AA1F45A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49087C3B-E86B-C77E-2FF5-036BBB0BCF78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FAEF9E9A-09D0-1C78-9449-DFB0E474D1DC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254855F-55DD-DB07-69CC-56914308DBB2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5567B985-9066-3F15-080A-9147D2EE62D6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A399721C-0FD9-EF7D-A065-A2B7003B775A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61DA38DD-6CE2-DE52-ED39-B8F197E5464B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841B397A-B5A8-7F96-A82A-3933C02F6CA2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E6EF9F64-01FD-1D6C-90DA-D0703DEB01C1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78D5B3B6-92A0-14F5-CD14-58213C224CC1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D0C933A4-FBDB-BBEA-952C-F431EC0685BE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1E30F71D-003E-8A31-2CAC-C1B290C3B8BA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110D9E37-6F63-5769-0ADC-03A5570B1F19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FCD99148-6146-CDF9-7BCD-118E4B0681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Dúvidas?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10242" name="Picture 2" descr="Pulp Fiction Travolta GIFs - Find &amp; Share on GIPHY">
            <a:extLst>
              <a:ext uri="{FF2B5EF4-FFF2-40B4-BE49-F238E27FC236}">
                <a16:creationId xmlns:a16="http://schemas.microsoft.com/office/drawing/2014/main" id="{0F93ECCB-FC30-C590-CEF8-40F96FEBA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396" y="3766122"/>
            <a:ext cx="11513308" cy="5756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6668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0D1E2450D2CCF4B94B30D13213EC305" ma:contentTypeVersion="14" ma:contentTypeDescription="Crie um novo documento." ma:contentTypeScope="" ma:versionID="80af2ae99a390bb8f99db6a6f71dbd11">
  <xsd:schema xmlns:xsd="http://www.w3.org/2001/XMLSchema" xmlns:xs="http://www.w3.org/2001/XMLSchema" xmlns:p="http://schemas.microsoft.com/office/2006/metadata/properties" xmlns:ns3="e2750cde-43d6-4eda-a582-fdf0d091b109" xmlns:ns4="b37a9e9f-dabd-4ec4-96f1-5ea18684f50e" targetNamespace="http://schemas.microsoft.com/office/2006/metadata/properties" ma:root="true" ma:fieldsID="2dc6d4c45140fd29241634ff7e109878" ns3:_="" ns4:_="">
    <xsd:import namespace="e2750cde-43d6-4eda-a582-fdf0d091b109"/>
    <xsd:import namespace="b37a9e9f-dabd-4ec4-96f1-5ea18684f50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750cde-43d6-4eda-a582-fdf0d091b1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7a9e9f-dabd-4ec4-96f1-5ea18684f50e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F35E67-04E6-4922-B19E-6681FBF95D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AA42D19-56A1-4D0B-AB84-67451006DC5A}">
  <ds:schemaRefs>
    <ds:schemaRef ds:uri="http://purl.org/dc/elements/1.1/"/>
    <ds:schemaRef ds:uri="http://schemas.microsoft.com/office/2006/metadata/properties"/>
    <ds:schemaRef ds:uri="b37a9e9f-dabd-4ec4-96f1-5ea18684f50e"/>
    <ds:schemaRef ds:uri="http://purl.org/dc/terms/"/>
    <ds:schemaRef ds:uri="http://schemas.openxmlformats.org/package/2006/metadata/core-properties"/>
    <ds:schemaRef ds:uri="e2750cde-43d6-4eda-a582-fdf0d091b109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1169B78-FDA6-4A96-82D9-CDF50108CD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750cde-43d6-4eda-a582-fdf0d091b109"/>
    <ds:schemaRef ds:uri="b37a9e9f-dabd-4ec4-96f1-5ea18684f5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4148a6de-0dd1-4d04-a4c5-78e374e4f6d6}" enabled="0" method="" siteId="{4148a6de-0dd1-4d04-a4c5-78e374e4f6d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4268</TotalTime>
  <Words>3423</Words>
  <Application>Microsoft Office PowerPoint</Application>
  <PresentationFormat>Personalizar</PresentationFormat>
  <Paragraphs>263</Paragraphs>
  <Slides>20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6" baseType="lpstr">
      <vt:lpstr>Montserrat ExtraBold</vt:lpstr>
      <vt:lpstr>Arial</vt:lpstr>
      <vt:lpstr>Calibri</vt:lpstr>
      <vt:lpstr>Montserrat Light</vt:lpstr>
      <vt:lpstr>Montserrat</vt:lpstr>
      <vt:lpstr>Office Theme</vt:lpstr>
      <vt:lpstr>Apresentação do PowerPoint</vt:lpstr>
      <vt:lpstr>Softwares </vt:lpstr>
      <vt:lpstr>Softwares</vt:lpstr>
      <vt:lpstr>Apresentação do PowerPoint</vt:lpstr>
      <vt:lpstr>Softwares de sistema</vt:lpstr>
      <vt:lpstr>Software de Aplicação</vt:lpstr>
      <vt:lpstr>Softwares de Programação</vt:lpstr>
      <vt:lpstr>Compilada X Interpretada</vt:lpstr>
      <vt:lpstr> </vt:lpstr>
      <vt:lpstr>Sistemas Operacionais</vt:lpstr>
      <vt:lpstr>Sistemas operacionais:</vt:lpstr>
      <vt:lpstr>Principais sistemas operacionais:</vt:lpstr>
      <vt:lpstr>Sistemas operacionais para estação de trabalho</vt:lpstr>
      <vt:lpstr>Características do S.O para estações de trabalho</vt:lpstr>
      <vt:lpstr>Sistemas operacionais mobile</vt:lpstr>
      <vt:lpstr>Características do S.O Mobile</vt:lpstr>
      <vt:lpstr> </vt:lpstr>
      <vt:lpstr>Diferenças Técnicas Importantes</vt:lpstr>
      <vt:lpstr>Conclusão Geral</vt:lpstr>
      <vt:lpstr>Dúvidas?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template_ppt_senaisp</dc:title>
  <dc:creator>carlos</dc:creator>
  <cp:lastModifiedBy>Luis Fernando Spoljaric</cp:lastModifiedBy>
  <cp:revision>540</cp:revision>
  <cp:lastPrinted>2025-02-13T13:17:19Z</cp:lastPrinted>
  <dcterms:created xsi:type="dcterms:W3CDTF">2021-08-24T16:20:14Z</dcterms:created>
  <dcterms:modified xsi:type="dcterms:W3CDTF">2026-02-12T19:37:52Z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2021-08-24T00:00:00Z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2021-08-24T00:00:00Z</vt:filetime>
  </property>
  <property fmtid="{D5CDD505-2E9C-101B-9397-08002B2CF9AE}" pid="5" name="ContentTypeId">
    <vt:lpwstr>0x010100A0D1E2450D2CCF4B94B30D13213EC305</vt:lpwstr>
  </property>
</Properties>
</file>